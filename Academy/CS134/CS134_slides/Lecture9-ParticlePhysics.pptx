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1"/>
  </p:notesMasterIdLst>
  <p:sldIdLst>
    <p:sldId id="256" r:id="rId2"/>
    <p:sldId id="274" r:id="rId3"/>
    <p:sldId id="268" r:id="rId4"/>
    <p:sldId id="295" r:id="rId5"/>
    <p:sldId id="291" r:id="rId6"/>
    <p:sldId id="292" r:id="rId7"/>
    <p:sldId id="278" r:id="rId8"/>
    <p:sldId id="293" r:id="rId9"/>
    <p:sldId id="298" r:id="rId10"/>
    <p:sldId id="297" r:id="rId11"/>
    <p:sldId id="296" r:id="rId12"/>
    <p:sldId id="299" r:id="rId13"/>
    <p:sldId id="300" r:id="rId14"/>
    <p:sldId id="301" r:id="rId15"/>
    <p:sldId id="302" r:id="rId16"/>
    <p:sldId id="303" r:id="rId17"/>
    <p:sldId id="304" r:id="rId18"/>
    <p:sldId id="305" r:id="rId19"/>
    <p:sldId id="30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8" autoAdjust="0"/>
    <p:restoredTop sz="94660"/>
  </p:normalViewPr>
  <p:slideViewPr>
    <p:cSldViewPr snapToGrid="0">
      <p:cViewPr varScale="1">
        <p:scale>
          <a:sx n="114" d="100"/>
          <a:sy n="114" d="100"/>
        </p:scale>
        <p:origin x="348"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1E6C2A8-2747-4294-A578-3E60BC72699C}" type="doc">
      <dgm:prSet loTypeId="urn:microsoft.com/office/officeart/2005/8/layout/process1" loCatId="process" qsTypeId="urn:microsoft.com/office/officeart/2005/8/quickstyle/simple1" qsCatId="simple" csTypeId="urn:microsoft.com/office/officeart/2005/8/colors/colorful5" csCatId="colorful" phldr="1"/>
      <dgm:spPr/>
    </dgm:pt>
    <dgm:pt modelId="{7F4B5FFF-9ED3-467E-9F08-56224C0F0A7F}">
      <dgm:prSet phldrT="[Text]" custT="1"/>
      <dgm:spPr/>
      <dgm:t>
        <a:bodyPr/>
        <a:lstStyle/>
        <a:p>
          <a:r>
            <a:rPr lang="en-US" sz="1100" dirty="0"/>
            <a:t>Physics and Simulation</a:t>
          </a:r>
        </a:p>
      </dgm:t>
    </dgm:pt>
    <dgm:pt modelId="{C8A8C85B-5DBC-4826-B79B-1827F17A1C87}" type="parTrans" cxnId="{59951FFD-F138-4D68-9127-248155DB05BC}">
      <dgm:prSet/>
      <dgm:spPr/>
      <dgm:t>
        <a:bodyPr/>
        <a:lstStyle/>
        <a:p>
          <a:endParaRPr lang="en-US"/>
        </a:p>
      </dgm:t>
    </dgm:pt>
    <dgm:pt modelId="{7CE53D13-2F1E-4334-8FCF-7819053F807A}" type="sibTrans" cxnId="{59951FFD-F138-4D68-9127-248155DB05BC}">
      <dgm:prSet/>
      <dgm:spPr/>
      <dgm:t>
        <a:bodyPr/>
        <a:lstStyle/>
        <a:p>
          <a:endParaRPr lang="en-US"/>
        </a:p>
      </dgm:t>
    </dgm:pt>
    <dgm:pt modelId="{D4F4622E-522E-42E2-9325-882BA587A43A}">
      <dgm:prSet phldrT="[Text]" custT="1"/>
      <dgm:spPr/>
      <dgm:t>
        <a:bodyPr/>
        <a:lstStyle/>
        <a:p>
          <a:r>
            <a:rPr lang="en-US" sz="1100" dirty="0"/>
            <a:t>3D Game Design</a:t>
          </a:r>
        </a:p>
      </dgm:t>
    </dgm:pt>
    <dgm:pt modelId="{12D438F1-16F0-4289-9C29-07BB8C8DEA4E}" type="parTrans" cxnId="{9B3C77B5-5FC6-4633-9644-197BB5B7C090}">
      <dgm:prSet/>
      <dgm:spPr/>
      <dgm:t>
        <a:bodyPr/>
        <a:lstStyle/>
        <a:p>
          <a:endParaRPr lang="en-US"/>
        </a:p>
      </dgm:t>
    </dgm:pt>
    <dgm:pt modelId="{F2442B81-00C0-4435-B316-F3582779B651}" type="sibTrans" cxnId="{9B3C77B5-5FC6-4633-9644-197BB5B7C090}">
      <dgm:prSet/>
      <dgm:spPr/>
      <dgm:t>
        <a:bodyPr/>
        <a:lstStyle/>
        <a:p>
          <a:endParaRPr lang="en-US"/>
        </a:p>
      </dgm:t>
    </dgm:pt>
    <dgm:pt modelId="{5018D890-AAFD-472E-9302-54A99927D2F2}">
      <dgm:prSet phldrT="[Text]" custT="1"/>
      <dgm:spPr/>
      <dgm:t>
        <a:bodyPr/>
        <a:lstStyle/>
        <a:p>
          <a:r>
            <a:rPr lang="en-US" sz="1100" dirty="0"/>
            <a:t>Game Engine Development (UE4)</a:t>
          </a:r>
        </a:p>
      </dgm:t>
    </dgm:pt>
    <dgm:pt modelId="{C68B5517-D6E9-4E6C-9F66-1ECAE0112F55}" type="parTrans" cxnId="{E791144E-EF76-402C-9A5E-4A713FB35D0B}">
      <dgm:prSet/>
      <dgm:spPr/>
      <dgm:t>
        <a:bodyPr/>
        <a:lstStyle/>
        <a:p>
          <a:endParaRPr lang="en-US"/>
        </a:p>
      </dgm:t>
    </dgm:pt>
    <dgm:pt modelId="{75B7678E-C7D0-4C36-8814-68FB15AA7C15}" type="sibTrans" cxnId="{E791144E-EF76-402C-9A5E-4A713FB35D0B}">
      <dgm:prSet/>
      <dgm:spPr/>
      <dgm:t>
        <a:bodyPr/>
        <a:lstStyle/>
        <a:p>
          <a:endParaRPr lang="en-US"/>
        </a:p>
      </dgm:t>
    </dgm:pt>
    <dgm:pt modelId="{028A8B19-4191-4E76-9454-D83DBC41B6F4}">
      <dgm:prSet phldrT="[Text]" custT="1"/>
      <dgm:spPr/>
      <dgm:t>
        <a:bodyPr/>
        <a:lstStyle/>
        <a:p>
          <a:r>
            <a:rPr lang="en-US" sz="1100" dirty="0"/>
            <a:t>Team Project</a:t>
          </a:r>
        </a:p>
      </dgm:t>
    </dgm:pt>
    <dgm:pt modelId="{DF0BABC2-F8A9-42CD-A0F1-ADFF9CFA12E7}" type="parTrans" cxnId="{99DC17BD-EA48-409D-8014-D4F4A34E2DB2}">
      <dgm:prSet/>
      <dgm:spPr/>
      <dgm:t>
        <a:bodyPr/>
        <a:lstStyle/>
        <a:p>
          <a:endParaRPr lang="en-US"/>
        </a:p>
      </dgm:t>
    </dgm:pt>
    <dgm:pt modelId="{D8184D79-403A-484F-A3B2-E8AFE6EAB0DE}" type="sibTrans" cxnId="{99DC17BD-EA48-409D-8014-D4F4A34E2DB2}">
      <dgm:prSet/>
      <dgm:spPr/>
      <dgm:t>
        <a:bodyPr/>
        <a:lstStyle/>
        <a:p>
          <a:endParaRPr lang="en-US"/>
        </a:p>
      </dgm:t>
    </dgm:pt>
    <dgm:pt modelId="{629C9996-1516-4DD1-93F0-210EC0081A28}">
      <dgm:prSet phldrT="[Text]" custT="1"/>
      <dgm:spPr/>
      <dgm:t>
        <a:bodyPr/>
        <a:lstStyle/>
        <a:p>
          <a:r>
            <a:rPr lang="en-US" sz="1100" dirty="0"/>
            <a:t>2D Game Design</a:t>
          </a:r>
        </a:p>
      </dgm:t>
    </dgm:pt>
    <dgm:pt modelId="{BC85CDFF-CF68-43B6-9065-A20E84409B67}" type="sibTrans" cxnId="{1C5903B3-06E9-477C-BAAF-FE6A078B705F}">
      <dgm:prSet/>
      <dgm:spPr/>
      <dgm:t>
        <a:bodyPr/>
        <a:lstStyle/>
        <a:p>
          <a:endParaRPr lang="en-US"/>
        </a:p>
      </dgm:t>
    </dgm:pt>
    <dgm:pt modelId="{EDB9C1ED-567D-413B-8E5D-7BBB68CF638E}" type="parTrans" cxnId="{1C5903B3-06E9-477C-BAAF-FE6A078B705F}">
      <dgm:prSet/>
      <dgm:spPr/>
      <dgm:t>
        <a:bodyPr/>
        <a:lstStyle/>
        <a:p>
          <a:endParaRPr lang="en-US"/>
        </a:p>
      </dgm:t>
    </dgm:pt>
    <dgm:pt modelId="{7E787B9E-F68A-4726-AD47-A41529D72F7A}">
      <dgm:prSet phldrT="[Text]" custT="1"/>
      <dgm:spPr/>
      <dgm:t>
        <a:bodyPr/>
        <a:lstStyle/>
        <a:p>
          <a:r>
            <a:rPr lang="en-US" sz="1100" dirty="0"/>
            <a:t>Introduction to Game Engines</a:t>
          </a:r>
        </a:p>
      </dgm:t>
    </dgm:pt>
    <dgm:pt modelId="{20A36317-A207-4A58-B8F2-9C7A040AEAC2}" type="sibTrans" cxnId="{43B89582-B31F-4149-8680-7DF2F5ACBFFF}">
      <dgm:prSet/>
      <dgm:spPr/>
      <dgm:t>
        <a:bodyPr/>
        <a:lstStyle/>
        <a:p>
          <a:endParaRPr lang="en-US"/>
        </a:p>
      </dgm:t>
    </dgm:pt>
    <dgm:pt modelId="{131A7A07-DA4A-469D-B68E-6F212B635694}" type="parTrans" cxnId="{43B89582-B31F-4149-8680-7DF2F5ACBFFF}">
      <dgm:prSet/>
      <dgm:spPr/>
      <dgm:t>
        <a:bodyPr/>
        <a:lstStyle/>
        <a:p>
          <a:endParaRPr lang="en-US"/>
        </a:p>
      </dgm:t>
    </dgm:pt>
    <dgm:pt modelId="{EE241DB9-664A-4755-BD9A-A47EB96DD90E}" type="pres">
      <dgm:prSet presAssocID="{D1E6C2A8-2747-4294-A578-3E60BC72699C}" presName="Name0" presStyleCnt="0">
        <dgm:presLayoutVars>
          <dgm:dir/>
          <dgm:resizeHandles val="exact"/>
        </dgm:presLayoutVars>
      </dgm:prSet>
      <dgm:spPr/>
    </dgm:pt>
    <dgm:pt modelId="{98610125-610F-4440-81CC-D81E7A28C4B6}" type="pres">
      <dgm:prSet presAssocID="{7E787B9E-F68A-4726-AD47-A41529D72F7A}" presName="node" presStyleLbl="node1" presStyleIdx="0" presStyleCnt="6">
        <dgm:presLayoutVars>
          <dgm:bulletEnabled val="1"/>
        </dgm:presLayoutVars>
      </dgm:prSet>
      <dgm:spPr/>
    </dgm:pt>
    <dgm:pt modelId="{10F89025-5263-4F54-A62C-3353C3189BAB}" type="pres">
      <dgm:prSet presAssocID="{20A36317-A207-4A58-B8F2-9C7A040AEAC2}" presName="sibTrans" presStyleLbl="sibTrans2D1" presStyleIdx="0" presStyleCnt="5"/>
      <dgm:spPr/>
    </dgm:pt>
    <dgm:pt modelId="{A0AB54E4-A336-4934-AACD-A2A8D60C157A}" type="pres">
      <dgm:prSet presAssocID="{20A36317-A207-4A58-B8F2-9C7A040AEAC2}" presName="connectorText" presStyleLbl="sibTrans2D1" presStyleIdx="0" presStyleCnt="5"/>
      <dgm:spPr/>
    </dgm:pt>
    <dgm:pt modelId="{77A6D4E2-F93D-46CA-AC6C-C7A1C1E347E3}" type="pres">
      <dgm:prSet presAssocID="{629C9996-1516-4DD1-93F0-210EC0081A28}" presName="node" presStyleLbl="node1" presStyleIdx="1" presStyleCnt="6">
        <dgm:presLayoutVars>
          <dgm:bulletEnabled val="1"/>
        </dgm:presLayoutVars>
      </dgm:prSet>
      <dgm:spPr/>
    </dgm:pt>
    <dgm:pt modelId="{F5F18F9E-6630-4259-9DFB-993D7969FA98}" type="pres">
      <dgm:prSet presAssocID="{BC85CDFF-CF68-43B6-9065-A20E84409B67}" presName="sibTrans" presStyleLbl="sibTrans2D1" presStyleIdx="1" presStyleCnt="5"/>
      <dgm:spPr/>
    </dgm:pt>
    <dgm:pt modelId="{AE995AEC-51BE-4AE1-9901-273464BC5FD7}" type="pres">
      <dgm:prSet presAssocID="{BC85CDFF-CF68-43B6-9065-A20E84409B67}" presName="connectorText" presStyleLbl="sibTrans2D1" presStyleIdx="1" presStyleCnt="5"/>
      <dgm:spPr/>
    </dgm:pt>
    <dgm:pt modelId="{48713530-359F-4B24-AD8E-90F5CA1E5B8A}" type="pres">
      <dgm:prSet presAssocID="{7F4B5FFF-9ED3-467E-9F08-56224C0F0A7F}" presName="node" presStyleLbl="node1" presStyleIdx="2" presStyleCnt="6">
        <dgm:presLayoutVars>
          <dgm:bulletEnabled val="1"/>
        </dgm:presLayoutVars>
      </dgm:prSet>
      <dgm:spPr/>
    </dgm:pt>
    <dgm:pt modelId="{00191EE8-DED7-4FD3-90EA-E6EDEBC6E0E2}" type="pres">
      <dgm:prSet presAssocID="{7CE53D13-2F1E-4334-8FCF-7819053F807A}" presName="sibTrans" presStyleLbl="sibTrans2D1" presStyleIdx="2" presStyleCnt="5"/>
      <dgm:spPr/>
    </dgm:pt>
    <dgm:pt modelId="{C2749609-6B32-41C5-9D20-70B086BA6C75}" type="pres">
      <dgm:prSet presAssocID="{7CE53D13-2F1E-4334-8FCF-7819053F807A}" presName="connectorText" presStyleLbl="sibTrans2D1" presStyleIdx="2" presStyleCnt="5"/>
      <dgm:spPr/>
    </dgm:pt>
    <dgm:pt modelId="{D6E9322D-7193-4E11-99DF-55341D827C99}" type="pres">
      <dgm:prSet presAssocID="{D4F4622E-522E-42E2-9325-882BA587A43A}" presName="node" presStyleLbl="node1" presStyleIdx="3" presStyleCnt="6">
        <dgm:presLayoutVars>
          <dgm:bulletEnabled val="1"/>
        </dgm:presLayoutVars>
      </dgm:prSet>
      <dgm:spPr/>
    </dgm:pt>
    <dgm:pt modelId="{20F28471-F34B-4756-9517-8F3AE9BAB6F8}" type="pres">
      <dgm:prSet presAssocID="{F2442B81-00C0-4435-B316-F3582779B651}" presName="sibTrans" presStyleLbl="sibTrans2D1" presStyleIdx="3" presStyleCnt="5"/>
      <dgm:spPr/>
    </dgm:pt>
    <dgm:pt modelId="{729AA94F-516C-49C1-B401-25B4BBC4C87C}" type="pres">
      <dgm:prSet presAssocID="{F2442B81-00C0-4435-B316-F3582779B651}" presName="connectorText" presStyleLbl="sibTrans2D1" presStyleIdx="3" presStyleCnt="5"/>
      <dgm:spPr/>
    </dgm:pt>
    <dgm:pt modelId="{A9D034FE-9DDE-4F35-892B-9063091DF9E6}" type="pres">
      <dgm:prSet presAssocID="{5018D890-AAFD-472E-9302-54A99927D2F2}" presName="node" presStyleLbl="node1" presStyleIdx="4" presStyleCnt="6">
        <dgm:presLayoutVars>
          <dgm:bulletEnabled val="1"/>
        </dgm:presLayoutVars>
      </dgm:prSet>
      <dgm:spPr/>
    </dgm:pt>
    <dgm:pt modelId="{F709AAD4-A9EB-4186-88EA-9D3D10BAD85F}" type="pres">
      <dgm:prSet presAssocID="{75B7678E-C7D0-4C36-8814-68FB15AA7C15}" presName="sibTrans" presStyleLbl="sibTrans2D1" presStyleIdx="4" presStyleCnt="5"/>
      <dgm:spPr/>
    </dgm:pt>
    <dgm:pt modelId="{10CC3819-6135-4BBA-A380-2EF33B1D6B2E}" type="pres">
      <dgm:prSet presAssocID="{75B7678E-C7D0-4C36-8814-68FB15AA7C15}" presName="connectorText" presStyleLbl="sibTrans2D1" presStyleIdx="4" presStyleCnt="5"/>
      <dgm:spPr/>
    </dgm:pt>
    <dgm:pt modelId="{B00F87D7-9E7F-4BAE-B409-6C0C48291B75}" type="pres">
      <dgm:prSet presAssocID="{028A8B19-4191-4E76-9454-D83DBC41B6F4}" presName="node" presStyleLbl="node1" presStyleIdx="5" presStyleCnt="6">
        <dgm:presLayoutVars>
          <dgm:bulletEnabled val="1"/>
        </dgm:presLayoutVars>
      </dgm:prSet>
      <dgm:spPr/>
    </dgm:pt>
  </dgm:ptLst>
  <dgm:cxnLst>
    <dgm:cxn modelId="{0FAD7C00-9515-42C1-8889-692E99739B1D}" type="presOf" srcId="{7CE53D13-2F1E-4334-8FCF-7819053F807A}" destId="{00191EE8-DED7-4FD3-90EA-E6EDEBC6E0E2}" srcOrd="0" destOrd="0" presId="urn:microsoft.com/office/officeart/2005/8/layout/process1"/>
    <dgm:cxn modelId="{38130F02-ED4C-4534-858A-EEC006413E5D}" type="presOf" srcId="{629C9996-1516-4DD1-93F0-210EC0081A28}" destId="{77A6D4E2-F93D-46CA-AC6C-C7A1C1E347E3}" srcOrd="0" destOrd="0" presId="urn:microsoft.com/office/officeart/2005/8/layout/process1"/>
    <dgm:cxn modelId="{97A4D207-126B-4A30-9CDC-D8A900EDB80B}" type="presOf" srcId="{75B7678E-C7D0-4C36-8814-68FB15AA7C15}" destId="{10CC3819-6135-4BBA-A380-2EF33B1D6B2E}" srcOrd="1" destOrd="0" presId="urn:microsoft.com/office/officeart/2005/8/layout/process1"/>
    <dgm:cxn modelId="{FD6FBE2B-B8C9-4CE7-829A-13E356681BB6}" type="presOf" srcId="{F2442B81-00C0-4435-B316-F3582779B651}" destId="{20F28471-F34B-4756-9517-8F3AE9BAB6F8}" srcOrd="0" destOrd="0" presId="urn:microsoft.com/office/officeart/2005/8/layout/process1"/>
    <dgm:cxn modelId="{E775FF2C-0089-4C18-AAB9-E18412CF5B0B}" type="presOf" srcId="{BC85CDFF-CF68-43B6-9065-A20E84409B67}" destId="{F5F18F9E-6630-4259-9DFB-993D7969FA98}" srcOrd="0" destOrd="0" presId="urn:microsoft.com/office/officeart/2005/8/layout/process1"/>
    <dgm:cxn modelId="{F1864F3F-078C-4EF2-A234-6459774A7495}" type="presOf" srcId="{D4F4622E-522E-42E2-9325-882BA587A43A}" destId="{D6E9322D-7193-4E11-99DF-55341D827C99}" srcOrd="0" destOrd="0" presId="urn:microsoft.com/office/officeart/2005/8/layout/process1"/>
    <dgm:cxn modelId="{F061DE67-415E-480B-BD1A-6FE6FBE9B91D}" type="presOf" srcId="{7F4B5FFF-9ED3-467E-9F08-56224C0F0A7F}" destId="{48713530-359F-4B24-AD8E-90F5CA1E5B8A}" srcOrd="0" destOrd="0" presId="urn:microsoft.com/office/officeart/2005/8/layout/process1"/>
    <dgm:cxn modelId="{E791144E-EF76-402C-9A5E-4A713FB35D0B}" srcId="{D1E6C2A8-2747-4294-A578-3E60BC72699C}" destId="{5018D890-AAFD-472E-9302-54A99927D2F2}" srcOrd="4" destOrd="0" parTransId="{C68B5517-D6E9-4E6C-9F66-1ECAE0112F55}" sibTransId="{75B7678E-C7D0-4C36-8814-68FB15AA7C15}"/>
    <dgm:cxn modelId="{6D144672-D7C8-4E24-B5A9-313829689552}" type="presOf" srcId="{5018D890-AAFD-472E-9302-54A99927D2F2}" destId="{A9D034FE-9DDE-4F35-892B-9063091DF9E6}" srcOrd="0" destOrd="0" presId="urn:microsoft.com/office/officeart/2005/8/layout/process1"/>
    <dgm:cxn modelId="{D1417059-D349-4183-BAB9-137E81344DF4}" type="presOf" srcId="{75B7678E-C7D0-4C36-8814-68FB15AA7C15}" destId="{F709AAD4-A9EB-4186-88EA-9D3D10BAD85F}" srcOrd="0" destOrd="0" presId="urn:microsoft.com/office/officeart/2005/8/layout/process1"/>
    <dgm:cxn modelId="{D26D4A7A-69F6-49B8-80AD-10EE754C7276}" type="presOf" srcId="{BC85CDFF-CF68-43B6-9065-A20E84409B67}" destId="{AE995AEC-51BE-4AE1-9901-273464BC5FD7}" srcOrd="1" destOrd="0" presId="urn:microsoft.com/office/officeart/2005/8/layout/process1"/>
    <dgm:cxn modelId="{43B89582-B31F-4149-8680-7DF2F5ACBFFF}" srcId="{D1E6C2A8-2747-4294-A578-3E60BC72699C}" destId="{7E787B9E-F68A-4726-AD47-A41529D72F7A}" srcOrd="0" destOrd="0" parTransId="{131A7A07-DA4A-469D-B68E-6F212B635694}" sibTransId="{20A36317-A207-4A58-B8F2-9C7A040AEAC2}"/>
    <dgm:cxn modelId="{C3865392-7FEE-4C29-B07C-5179D9E4B558}" type="presOf" srcId="{7CE53D13-2F1E-4334-8FCF-7819053F807A}" destId="{C2749609-6B32-41C5-9D20-70B086BA6C75}" srcOrd="1" destOrd="0" presId="urn:microsoft.com/office/officeart/2005/8/layout/process1"/>
    <dgm:cxn modelId="{6D36BDAF-49F0-49F1-A1F4-5FE8CED45AED}" type="presOf" srcId="{7E787B9E-F68A-4726-AD47-A41529D72F7A}" destId="{98610125-610F-4440-81CC-D81E7A28C4B6}" srcOrd="0" destOrd="0" presId="urn:microsoft.com/office/officeart/2005/8/layout/process1"/>
    <dgm:cxn modelId="{1C5903B3-06E9-477C-BAAF-FE6A078B705F}" srcId="{D1E6C2A8-2747-4294-A578-3E60BC72699C}" destId="{629C9996-1516-4DD1-93F0-210EC0081A28}" srcOrd="1" destOrd="0" parTransId="{EDB9C1ED-567D-413B-8E5D-7BBB68CF638E}" sibTransId="{BC85CDFF-CF68-43B6-9065-A20E84409B67}"/>
    <dgm:cxn modelId="{9B3C77B5-5FC6-4633-9644-197BB5B7C090}" srcId="{D1E6C2A8-2747-4294-A578-3E60BC72699C}" destId="{D4F4622E-522E-42E2-9325-882BA587A43A}" srcOrd="3" destOrd="0" parTransId="{12D438F1-16F0-4289-9C29-07BB8C8DEA4E}" sibTransId="{F2442B81-00C0-4435-B316-F3582779B651}"/>
    <dgm:cxn modelId="{99DC17BD-EA48-409D-8014-D4F4A34E2DB2}" srcId="{D1E6C2A8-2747-4294-A578-3E60BC72699C}" destId="{028A8B19-4191-4E76-9454-D83DBC41B6F4}" srcOrd="5" destOrd="0" parTransId="{DF0BABC2-F8A9-42CD-A0F1-ADFF9CFA12E7}" sibTransId="{D8184D79-403A-484F-A3B2-E8AFE6EAB0DE}"/>
    <dgm:cxn modelId="{66A9E0D2-602B-4FD9-A9FF-6E9B691503B2}" type="presOf" srcId="{028A8B19-4191-4E76-9454-D83DBC41B6F4}" destId="{B00F87D7-9E7F-4BAE-B409-6C0C48291B75}" srcOrd="0" destOrd="0" presId="urn:microsoft.com/office/officeart/2005/8/layout/process1"/>
    <dgm:cxn modelId="{8AF961D8-ED52-4747-93B1-9DDDEC16D787}" type="presOf" srcId="{20A36317-A207-4A58-B8F2-9C7A040AEAC2}" destId="{10F89025-5263-4F54-A62C-3353C3189BAB}" srcOrd="0" destOrd="0" presId="urn:microsoft.com/office/officeart/2005/8/layout/process1"/>
    <dgm:cxn modelId="{924CE9E8-1BC6-4054-944C-F553F103F0C2}" type="presOf" srcId="{D1E6C2A8-2747-4294-A578-3E60BC72699C}" destId="{EE241DB9-664A-4755-BD9A-A47EB96DD90E}" srcOrd="0" destOrd="0" presId="urn:microsoft.com/office/officeart/2005/8/layout/process1"/>
    <dgm:cxn modelId="{AF3EF2EA-CC0B-4909-BF69-F81F38D58DFD}" type="presOf" srcId="{20A36317-A207-4A58-B8F2-9C7A040AEAC2}" destId="{A0AB54E4-A336-4934-AACD-A2A8D60C157A}" srcOrd="1" destOrd="0" presId="urn:microsoft.com/office/officeart/2005/8/layout/process1"/>
    <dgm:cxn modelId="{CB8EA2F1-00F7-41CF-8BA7-00543129BDC0}" type="presOf" srcId="{F2442B81-00C0-4435-B316-F3582779B651}" destId="{729AA94F-516C-49C1-B401-25B4BBC4C87C}" srcOrd="1" destOrd="0" presId="urn:microsoft.com/office/officeart/2005/8/layout/process1"/>
    <dgm:cxn modelId="{59951FFD-F138-4D68-9127-248155DB05BC}" srcId="{D1E6C2A8-2747-4294-A578-3E60BC72699C}" destId="{7F4B5FFF-9ED3-467E-9F08-56224C0F0A7F}" srcOrd="2" destOrd="0" parTransId="{C8A8C85B-5DBC-4826-B79B-1827F17A1C87}" sibTransId="{7CE53D13-2F1E-4334-8FCF-7819053F807A}"/>
    <dgm:cxn modelId="{67687466-2CC7-4219-ACBC-C682EF01AD53}" type="presParOf" srcId="{EE241DB9-664A-4755-BD9A-A47EB96DD90E}" destId="{98610125-610F-4440-81CC-D81E7A28C4B6}" srcOrd="0" destOrd="0" presId="urn:microsoft.com/office/officeart/2005/8/layout/process1"/>
    <dgm:cxn modelId="{067B4648-9F28-4B8E-9BA9-1D0D3D61B3D0}" type="presParOf" srcId="{EE241DB9-664A-4755-BD9A-A47EB96DD90E}" destId="{10F89025-5263-4F54-A62C-3353C3189BAB}" srcOrd="1" destOrd="0" presId="urn:microsoft.com/office/officeart/2005/8/layout/process1"/>
    <dgm:cxn modelId="{E8CC6C95-2DC5-471C-AE26-415E1939504E}" type="presParOf" srcId="{10F89025-5263-4F54-A62C-3353C3189BAB}" destId="{A0AB54E4-A336-4934-AACD-A2A8D60C157A}" srcOrd="0" destOrd="0" presId="urn:microsoft.com/office/officeart/2005/8/layout/process1"/>
    <dgm:cxn modelId="{FA878378-E582-4EB8-B772-DC8DD469F1B1}" type="presParOf" srcId="{EE241DB9-664A-4755-BD9A-A47EB96DD90E}" destId="{77A6D4E2-F93D-46CA-AC6C-C7A1C1E347E3}" srcOrd="2" destOrd="0" presId="urn:microsoft.com/office/officeart/2005/8/layout/process1"/>
    <dgm:cxn modelId="{7559F5CC-05C1-4085-9C57-F1D7ED95701E}" type="presParOf" srcId="{EE241DB9-664A-4755-BD9A-A47EB96DD90E}" destId="{F5F18F9E-6630-4259-9DFB-993D7969FA98}" srcOrd="3" destOrd="0" presId="urn:microsoft.com/office/officeart/2005/8/layout/process1"/>
    <dgm:cxn modelId="{C40299B4-D8CE-452E-B887-416BFB580C54}" type="presParOf" srcId="{F5F18F9E-6630-4259-9DFB-993D7969FA98}" destId="{AE995AEC-51BE-4AE1-9901-273464BC5FD7}" srcOrd="0" destOrd="0" presId="urn:microsoft.com/office/officeart/2005/8/layout/process1"/>
    <dgm:cxn modelId="{EBA963BB-40F9-47DA-82A7-40E6A5445369}" type="presParOf" srcId="{EE241DB9-664A-4755-BD9A-A47EB96DD90E}" destId="{48713530-359F-4B24-AD8E-90F5CA1E5B8A}" srcOrd="4" destOrd="0" presId="urn:microsoft.com/office/officeart/2005/8/layout/process1"/>
    <dgm:cxn modelId="{B9F6EE1C-849D-4D02-B0B8-ACA39867AB20}" type="presParOf" srcId="{EE241DB9-664A-4755-BD9A-A47EB96DD90E}" destId="{00191EE8-DED7-4FD3-90EA-E6EDEBC6E0E2}" srcOrd="5" destOrd="0" presId="urn:microsoft.com/office/officeart/2005/8/layout/process1"/>
    <dgm:cxn modelId="{8B07C9AD-79B2-440C-BD6C-A72583E2D314}" type="presParOf" srcId="{00191EE8-DED7-4FD3-90EA-E6EDEBC6E0E2}" destId="{C2749609-6B32-41C5-9D20-70B086BA6C75}" srcOrd="0" destOrd="0" presId="urn:microsoft.com/office/officeart/2005/8/layout/process1"/>
    <dgm:cxn modelId="{E4D9C973-9995-46DA-ABD7-D518472829EA}" type="presParOf" srcId="{EE241DB9-664A-4755-BD9A-A47EB96DD90E}" destId="{D6E9322D-7193-4E11-99DF-55341D827C99}" srcOrd="6" destOrd="0" presId="urn:microsoft.com/office/officeart/2005/8/layout/process1"/>
    <dgm:cxn modelId="{E16E5F45-6543-4DF4-A9EF-424240AA8897}" type="presParOf" srcId="{EE241DB9-664A-4755-BD9A-A47EB96DD90E}" destId="{20F28471-F34B-4756-9517-8F3AE9BAB6F8}" srcOrd="7" destOrd="0" presId="urn:microsoft.com/office/officeart/2005/8/layout/process1"/>
    <dgm:cxn modelId="{E176BDC8-3F6B-4CFD-BA8C-AC1AA40E3C5F}" type="presParOf" srcId="{20F28471-F34B-4756-9517-8F3AE9BAB6F8}" destId="{729AA94F-516C-49C1-B401-25B4BBC4C87C}" srcOrd="0" destOrd="0" presId="urn:microsoft.com/office/officeart/2005/8/layout/process1"/>
    <dgm:cxn modelId="{5193AEB9-F065-42FB-BBE6-8EFDEC981F9C}" type="presParOf" srcId="{EE241DB9-664A-4755-BD9A-A47EB96DD90E}" destId="{A9D034FE-9DDE-4F35-892B-9063091DF9E6}" srcOrd="8" destOrd="0" presId="urn:microsoft.com/office/officeart/2005/8/layout/process1"/>
    <dgm:cxn modelId="{9AD46F83-4762-4EB4-ADFF-C268AFF97BEB}" type="presParOf" srcId="{EE241DB9-664A-4755-BD9A-A47EB96DD90E}" destId="{F709AAD4-A9EB-4186-88EA-9D3D10BAD85F}" srcOrd="9" destOrd="0" presId="urn:microsoft.com/office/officeart/2005/8/layout/process1"/>
    <dgm:cxn modelId="{A5E85BCC-7085-4DC7-8007-BDC467554287}" type="presParOf" srcId="{F709AAD4-A9EB-4186-88EA-9D3D10BAD85F}" destId="{10CC3819-6135-4BBA-A380-2EF33B1D6B2E}" srcOrd="0" destOrd="0" presId="urn:microsoft.com/office/officeart/2005/8/layout/process1"/>
    <dgm:cxn modelId="{796D8A67-91D2-4146-A37D-03BDF60D13D3}" type="presParOf" srcId="{EE241DB9-664A-4755-BD9A-A47EB96DD90E}" destId="{B00F87D7-9E7F-4BAE-B409-6C0C48291B75}" srcOrd="10"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610125-610F-4440-81CC-D81E7A28C4B6}">
      <dsp:nvSpPr>
        <dsp:cNvPr id="0" name=""/>
        <dsp:cNvSpPr/>
      </dsp:nvSpPr>
      <dsp:spPr>
        <a:xfrm>
          <a:off x="0" y="1244781"/>
          <a:ext cx="1221014" cy="732608"/>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Introduction to Game Engines</a:t>
          </a:r>
        </a:p>
      </dsp:txBody>
      <dsp:txXfrm>
        <a:off x="21457" y="1266238"/>
        <a:ext cx="1178100" cy="689694"/>
      </dsp:txXfrm>
    </dsp:sp>
    <dsp:sp modelId="{10F89025-5263-4F54-A62C-3353C3189BAB}">
      <dsp:nvSpPr>
        <dsp:cNvPr id="0" name=""/>
        <dsp:cNvSpPr/>
      </dsp:nvSpPr>
      <dsp:spPr>
        <a:xfrm>
          <a:off x="1343115" y="1459679"/>
          <a:ext cx="258855" cy="302811"/>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343115" y="1520241"/>
        <a:ext cx="181199" cy="181687"/>
      </dsp:txXfrm>
    </dsp:sp>
    <dsp:sp modelId="{77A6D4E2-F93D-46CA-AC6C-C7A1C1E347E3}">
      <dsp:nvSpPr>
        <dsp:cNvPr id="0" name=""/>
        <dsp:cNvSpPr/>
      </dsp:nvSpPr>
      <dsp:spPr>
        <a:xfrm>
          <a:off x="1709419" y="1244781"/>
          <a:ext cx="1221014" cy="732608"/>
        </a:xfrm>
        <a:prstGeom prst="roundRect">
          <a:avLst>
            <a:gd name="adj" fmla="val 10000"/>
          </a:avLst>
        </a:prstGeom>
        <a:solidFill>
          <a:schemeClr val="accent5">
            <a:hueOff val="-1351709"/>
            <a:satOff val="-3484"/>
            <a:lumOff val="-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2D Game Design</a:t>
          </a:r>
        </a:p>
      </dsp:txBody>
      <dsp:txXfrm>
        <a:off x="1730876" y="1266238"/>
        <a:ext cx="1178100" cy="689694"/>
      </dsp:txXfrm>
    </dsp:sp>
    <dsp:sp modelId="{F5F18F9E-6630-4259-9DFB-993D7969FA98}">
      <dsp:nvSpPr>
        <dsp:cNvPr id="0" name=""/>
        <dsp:cNvSpPr/>
      </dsp:nvSpPr>
      <dsp:spPr>
        <a:xfrm>
          <a:off x="3052535" y="1459679"/>
          <a:ext cx="258855" cy="302811"/>
        </a:xfrm>
        <a:prstGeom prst="rightArrow">
          <a:avLst>
            <a:gd name="adj1" fmla="val 60000"/>
            <a:gd name="adj2" fmla="val 50000"/>
          </a:avLst>
        </a:prstGeom>
        <a:solidFill>
          <a:schemeClr val="accent5">
            <a:hueOff val="-1689636"/>
            <a:satOff val="-4355"/>
            <a:lumOff val="-294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3052535" y="1520241"/>
        <a:ext cx="181199" cy="181687"/>
      </dsp:txXfrm>
    </dsp:sp>
    <dsp:sp modelId="{48713530-359F-4B24-AD8E-90F5CA1E5B8A}">
      <dsp:nvSpPr>
        <dsp:cNvPr id="0" name=""/>
        <dsp:cNvSpPr/>
      </dsp:nvSpPr>
      <dsp:spPr>
        <a:xfrm>
          <a:off x="3418839" y="1244781"/>
          <a:ext cx="1221014" cy="732608"/>
        </a:xfrm>
        <a:prstGeom prst="roundRect">
          <a:avLst>
            <a:gd name="adj" fmla="val 10000"/>
          </a:avLst>
        </a:prstGeom>
        <a:solidFill>
          <a:schemeClr val="accent5">
            <a:hueOff val="-2703417"/>
            <a:satOff val="-6968"/>
            <a:lumOff val="-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Physics and Simulation</a:t>
          </a:r>
        </a:p>
      </dsp:txBody>
      <dsp:txXfrm>
        <a:off x="3440296" y="1266238"/>
        <a:ext cx="1178100" cy="689694"/>
      </dsp:txXfrm>
    </dsp:sp>
    <dsp:sp modelId="{00191EE8-DED7-4FD3-90EA-E6EDEBC6E0E2}">
      <dsp:nvSpPr>
        <dsp:cNvPr id="0" name=""/>
        <dsp:cNvSpPr/>
      </dsp:nvSpPr>
      <dsp:spPr>
        <a:xfrm>
          <a:off x="4761955" y="1459679"/>
          <a:ext cx="258855" cy="302811"/>
        </a:xfrm>
        <a:prstGeom prst="rightArrow">
          <a:avLst>
            <a:gd name="adj1" fmla="val 60000"/>
            <a:gd name="adj2" fmla="val 50000"/>
          </a:avLst>
        </a:prstGeom>
        <a:solidFill>
          <a:schemeClr val="accent5">
            <a:hueOff val="-3379271"/>
            <a:satOff val="-8710"/>
            <a:lumOff val="-588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761955" y="1520241"/>
        <a:ext cx="181199" cy="181687"/>
      </dsp:txXfrm>
    </dsp:sp>
    <dsp:sp modelId="{D6E9322D-7193-4E11-99DF-55341D827C99}">
      <dsp:nvSpPr>
        <dsp:cNvPr id="0" name=""/>
        <dsp:cNvSpPr/>
      </dsp:nvSpPr>
      <dsp:spPr>
        <a:xfrm>
          <a:off x="5128259" y="1244781"/>
          <a:ext cx="1221014" cy="732608"/>
        </a:xfrm>
        <a:prstGeom prst="roundRect">
          <a:avLst>
            <a:gd name="adj" fmla="val 10000"/>
          </a:avLst>
        </a:prstGeom>
        <a:solidFill>
          <a:schemeClr val="accent5">
            <a:hueOff val="-4055126"/>
            <a:satOff val="-10451"/>
            <a:lumOff val="-70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3D Game Design</a:t>
          </a:r>
        </a:p>
      </dsp:txBody>
      <dsp:txXfrm>
        <a:off x="5149716" y="1266238"/>
        <a:ext cx="1178100" cy="689694"/>
      </dsp:txXfrm>
    </dsp:sp>
    <dsp:sp modelId="{20F28471-F34B-4756-9517-8F3AE9BAB6F8}">
      <dsp:nvSpPr>
        <dsp:cNvPr id="0" name=""/>
        <dsp:cNvSpPr/>
      </dsp:nvSpPr>
      <dsp:spPr>
        <a:xfrm>
          <a:off x="6471375" y="1459679"/>
          <a:ext cx="258855" cy="302811"/>
        </a:xfrm>
        <a:prstGeom prst="rightArrow">
          <a:avLst>
            <a:gd name="adj1" fmla="val 60000"/>
            <a:gd name="adj2" fmla="val 50000"/>
          </a:avLst>
        </a:prstGeom>
        <a:solidFill>
          <a:schemeClr val="accent5">
            <a:hueOff val="-5068907"/>
            <a:satOff val="-13064"/>
            <a:lumOff val="-882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471375" y="1520241"/>
        <a:ext cx="181199" cy="181687"/>
      </dsp:txXfrm>
    </dsp:sp>
    <dsp:sp modelId="{A9D034FE-9DDE-4F35-892B-9063091DF9E6}">
      <dsp:nvSpPr>
        <dsp:cNvPr id="0" name=""/>
        <dsp:cNvSpPr/>
      </dsp:nvSpPr>
      <dsp:spPr>
        <a:xfrm>
          <a:off x="6837679" y="1244781"/>
          <a:ext cx="1221014" cy="732608"/>
        </a:xfrm>
        <a:prstGeom prst="roundRect">
          <a:avLst>
            <a:gd name="adj" fmla="val 10000"/>
          </a:avLst>
        </a:prstGeom>
        <a:solidFill>
          <a:schemeClr val="accent5">
            <a:hueOff val="-5406834"/>
            <a:satOff val="-13935"/>
            <a:lumOff val="-94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Game Engine Development (UE4)</a:t>
          </a:r>
        </a:p>
      </dsp:txBody>
      <dsp:txXfrm>
        <a:off x="6859136" y="1266238"/>
        <a:ext cx="1178100" cy="689694"/>
      </dsp:txXfrm>
    </dsp:sp>
    <dsp:sp modelId="{F709AAD4-A9EB-4186-88EA-9D3D10BAD85F}">
      <dsp:nvSpPr>
        <dsp:cNvPr id="0" name=""/>
        <dsp:cNvSpPr/>
      </dsp:nvSpPr>
      <dsp:spPr>
        <a:xfrm>
          <a:off x="8180795" y="1459679"/>
          <a:ext cx="258855" cy="302811"/>
        </a:xfrm>
        <a:prstGeom prst="rightArrow">
          <a:avLst>
            <a:gd name="adj1" fmla="val 60000"/>
            <a:gd name="adj2" fmla="val 50000"/>
          </a:avLst>
        </a:prstGeom>
        <a:solidFill>
          <a:schemeClr val="accent5">
            <a:hueOff val="-6758543"/>
            <a:satOff val="-17419"/>
            <a:lumOff val="-1176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180795" y="1520241"/>
        <a:ext cx="181199" cy="181687"/>
      </dsp:txXfrm>
    </dsp:sp>
    <dsp:sp modelId="{B00F87D7-9E7F-4BAE-B409-6C0C48291B75}">
      <dsp:nvSpPr>
        <dsp:cNvPr id="0" name=""/>
        <dsp:cNvSpPr/>
      </dsp:nvSpPr>
      <dsp:spPr>
        <a:xfrm>
          <a:off x="8547099" y="1244781"/>
          <a:ext cx="1221014" cy="732608"/>
        </a:xfrm>
        <a:prstGeom prst="roundRect">
          <a:avLst>
            <a:gd name="adj" fmla="val 10000"/>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Team Project</a:t>
          </a:r>
        </a:p>
      </dsp:txBody>
      <dsp:txXfrm>
        <a:off x="8568556" y="1266238"/>
        <a:ext cx="1178100" cy="689694"/>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E81D33-D3DC-4EEE-9841-2A93D98735D4}" type="datetimeFigureOut">
              <a:rPr lang="en-US" smtClean="0"/>
              <a:t>3/1/2018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829C27-AAA8-470D-92FE-57BE00B20D4F}" type="slidenum">
              <a:rPr lang="en-US" smtClean="0"/>
              <a:t>‹#›</a:t>
            </a:fld>
            <a:endParaRPr lang="en-US"/>
          </a:p>
        </p:txBody>
      </p:sp>
    </p:spTree>
    <p:extLst>
      <p:ext uri="{BB962C8B-B14F-4D97-AF65-F5344CB8AC3E}">
        <p14:creationId xmlns:p14="http://schemas.microsoft.com/office/powerpoint/2010/main" val="3900118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829C27-AAA8-470D-92FE-57BE00B20D4F}" type="slidenum">
              <a:rPr lang="en-US" smtClean="0"/>
              <a:t>2</a:t>
            </a:fld>
            <a:endParaRPr lang="en-US"/>
          </a:p>
        </p:txBody>
      </p:sp>
    </p:spTree>
    <p:extLst>
      <p:ext uri="{BB962C8B-B14F-4D97-AF65-F5344CB8AC3E}">
        <p14:creationId xmlns:p14="http://schemas.microsoft.com/office/powerpoint/2010/main" val="11023647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FDBFD92-5C28-4DC6-81DB-5A68BA7EBC93}" type="datetime1">
              <a:rPr lang="en-US" smtClean="0"/>
              <a:t>3/1/2018</a:t>
            </a:fld>
            <a:endParaRPr lang="en-US"/>
          </a:p>
        </p:txBody>
      </p:sp>
      <p:sp>
        <p:nvSpPr>
          <p:cNvPr id="5" name="Footer Placeholder 4"/>
          <p:cNvSpPr>
            <a:spLocks noGrp="1"/>
          </p:cNvSpPr>
          <p:nvPr>
            <p:ph type="ftr" sz="quarter" idx="11"/>
          </p:nvPr>
        </p:nvSpPr>
        <p:spPr/>
        <p:txBody>
          <a:bodyPr/>
          <a:lstStyle/>
          <a:p>
            <a:r>
              <a:rPr lang="en-US"/>
              <a:t>copyright © 2017 Kevin M. Smith</a:t>
            </a:r>
          </a:p>
        </p:txBody>
      </p:sp>
      <p:sp>
        <p:nvSpPr>
          <p:cNvPr id="6" name="Slide Number Placeholder 5"/>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3958223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6C1D00-8098-4A9B-B4A5-9A66C7D1317A}" type="datetime1">
              <a:rPr lang="en-US" smtClean="0"/>
              <a:t>3/1/2018</a:t>
            </a:fld>
            <a:endParaRPr lang="en-US"/>
          </a:p>
        </p:txBody>
      </p:sp>
      <p:sp>
        <p:nvSpPr>
          <p:cNvPr id="5" name="Footer Placeholder 4"/>
          <p:cNvSpPr>
            <a:spLocks noGrp="1"/>
          </p:cNvSpPr>
          <p:nvPr>
            <p:ph type="ftr" sz="quarter" idx="11"/>
          </p:nvPr>
        </p:nvSpPr>
        <p:spPr/>
        <p:txBody>
          <a:bodyPr/>
          <a:lstStyle/>
          <a:p>
            <a:r>
              <a:rPr lang="en-US"/>
              <a:t>copyright © 2017 Kevin M. Smith</a:t>
            </a:r>
          </a:p>
        </p:txBody>
      </p:sp>
      <p:sp>
        <p:nvSpPr>
          <p:cNvPr id="6" name="Slide Number Placeholder 5"/>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24145952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72944B9-B08F-4DA1-ACDE-CD01C9904901}" type="datetime1">
              <a:rPr lang="en-US" smtClean="0"/>
              <a:t>3/1/2018</a:t>
            </a:fld>
            <a:endParaRPr lang="en-US"/>
          </a:p>
        </p:txBody>
      </p:sp>
      <p:sp>
        <p:nvSpPr>
          <p:cNvPr id="5" name="Footer Placeholder 4"/>
          <p:cNvSpPr>
            <a:spLocks noGrp="1"/>
          </p:cNvSpPr>
          <p:nvPr>
            <p:ph type="ftr" sz="quarter" idx="11"/>
          </p:nvPr>
        </p:nvSpPr>
        <p:spPr/>
        <p:txBody>
          <a:bodyPr/>
          <a:lstStyle/>
          <a:p>
            <a:r>
              <a:rPr lang="en-US"/>
              <a:t>copyright © 2017 Kevin M. Smith</a:t>
            </a:r>
          </a:p>
        </p:txBody>
      </p:sp>
      <p:sp>
        <p:nvSpPr>
          <p:cNvPr id="6" name="Slide Number Placeholder 5"/>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1357855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B443B77-6302-4483-AF5B-A33F83BA44B0}" type="datetime1">
              <a:rPr lang="en-US" smtClean="0"/>
              <a:t>3/1/2018</a:t>
            </a:fld>
            <a:endParaRPr lang="en-US"/>
          </a:p>
        </p:txBody>
      </p:sp>
      <p:sp>
        <p:nvSpPr>
          <p:cNvPr id="6" name="Footer Placeholder 5"/>
          <p:cNvSpPr>
            <a:spLocks noGrp="1"/>
          </p:cNvSpPr>
          <p:nvPr>
            <p:ph type="ftr" sz="quarter" idx="11"/>
          </p:nvPr>
        </p:nvSpPr>
        <p:spPr/>
        <p:txBody>
          <a:bodyPr/>
          <a:lstStyle/>
          <a:p>
            <a:r>
              <a:rPr lang="en-US"/>
              <a:t>copyright © 2017 Kevin M. Smith</a:t>
            </a:r>
          </a:p>
        </p:txBody>
      </p:sp>
      <p:sp>
        <p:nvSpPr>
          <p:cNvPr id="7" name="Slide Number Placeholder 6"/>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3308222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1936C3-F8E0-4FE0-91E2-288A042D5907}" type="datetime1">
              <a:rPr lang="en-US" smtClean="0"/>
              <a:t>3/1/2018</a:t>
            </a:fld>
            <a:endParaRPr lang="en-US"/>
          </a:p>
        </p:txBody>
      </p:sp>
      <p:sp>
        <p:nvSpPr>
          <p:cNvPr id="8" name="Footer Placeholder 7"/>
          <p:cNvSpPr>
            <a:spLocks noGrp="1"/>
          </p:cNvSpPr>
          <p:nvPr>
            <p:ph type="ftr" sz="quarter" idx="11"/>
          </p:nvPr>
        </p:nvSpPr>
        <p:spPr/>
        <p:txBody>
          <a:bodyPr/>
          <a:lstStyle/>
          <a:p>
            <a:r>
              <a:rPr lang="en-US"/>
              <a:t>copyright © 2017 Kevin M. Smith</a:t>
            </a:r>
          </a:p>
        </p:txBody>
      </p:sp>
      <p:sp>
        <p:nvSpPr>
          <p:cNvPr id="9" name="Slide Number Placeholder 8"/>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12740700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F50540-7B40-4BB4-846E-2968CB26C7FB}" type="datetime1">
              <a:rPr lang="en-US" smtClean="0"/>
              <a:t>3/1/2018</a:t>
            </a:fld>
            <a:endParaRPr lang="en-US"/>
          </a:p>
        </p:txBody>
      </p:sp>
      <p:sp>
        <p:nvSpPr>
          <p:cNvPr id="4" name="Footer Placeholder 3"/>
          <p:cNvSpPr>
            <a:spLocks noGrp="1"/>
          </p:cNvSpPr>
          <p:nvPr>
            <p:ph type="ftr" sz="quarter" idx="11"/>
          </p:nvPr>
        </p:nvSpPr>
        <p:spPr/>
        <p:txBody>
          <a:bodyPr/>
          <a:lstStyle/>
          <a:p>
            <a:r>
              <a:rPr lang="en-US"/>
              <a:t>copyright © 2017 Kevin M. Smith</a:t>
            </a:r>
          </a:p>
        </p:txBody>
      </p:sp>
      <p:sp>
        <p:nvSpPr>
          <p:cNvPr id="5" name="Slide Number Placeholder 4"/>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2477989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944FA3-D183-4229-9125-D4C2C3F2F29C}" type="datetime1">
              <a:rPr lang="en-US" smtClean="0"/>
              <a:t>3/1/2018</a:t>
            </a:fld>
            <a:endParaRPr lang="en-US"/>
          </a:p>
        </p:txBody>
      </p:sp>
      <p:sp>
        <p:nvSpPr>
          <p:cNvPr id="3" name="Footer Placeholder 2"/>
          <p:cNvSpPr>
            <a:spLocks noGrp="1"/>
          </p:cNvSpPr>
          <p:nvPr>
            <p:ph type="ftr" sz="quarter" idx="11"/>
          </p:nvPr>
        </p:nvSpPr>
        <p:spPr/>
        <p:txBody>
          <a:bodyPr/>
          <a:lstStyle/>
          <a:p>
            <a:r>
              <a:rPr lang="en-US"/>
              <a:t>copyright © 2017 Kevin M. Smith</a:t>
            </a:r>
          </a:p>
        </p:txBody>
      </p:sp>
      <p:sp>
        <p:nvSpPr>
          <p:cNvPr id="4" name="Slide Number Placeholder 3"/>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885825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AA636C1-38B2-4531-A2ED-289F8D719C97}" type="datetime1">
              <a:rPr lang="en-US" smtClean="0"/>
              <a:t>3/1/2018</a:t>
            </a:fld>
            <a:endParaRPr lang="en-US"/>
          </a:p>
        </p:txBody>
      </p:sp>
      <p:sp>
        <p:nvSpPr>
          <p:cNvPr id="6" name="Footer Placeholder 5"/>
          <p:cNvSpPr>
            <a:spLocks noGrp="1"/>
          </p:cNvSpPr>
          <p:nvPr>
            <p:ph type="ftr" sz="quarter" idx="11"/>
          </p:nvPr>
        </p:nvSpPr>
        <p:spPr/>
        <p:txBody>
          <a:bodyPr/>
          <a:lstStyle/>
          <a:p>
            <a:r>
              <a:rPr lang="en-US"/>
              <a:t>copyright © 2017 Kevin M. Smith</a:t>
            </a:r>
          </a:p>
        </p:txBody>
      </p:sp>
      <p:sp>
        <p:nvSpPr>
          <p:cNvPr id="7" name="Slide Number Placeholder 6"/>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592474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B2830A5-A361-4861-A529-30991D4B67EB}" type="datetime1">
              <a:rPr lang="en-US" smtClean="0"/>
              <a:t>3/1/2018</a:t>
            </a:fld>
            <a:endParaRPr lang="en-US"/>
          </a:p>
        </p:txBody>
      </p:sp>
      <p:sp>
        <p:nvSpPr>
          <p:cNvPr id="6" name="Footer Placeholder 5"/>
          <p:cNvSpPr>
            <a:spLocks noGrp="1"/>
          </p:cNvSpPr>
          <p:nvPr>
            <p:ph type="ftr" sz="quarter" idx="11"/>
          </p:nvPr>
        </p:nvSpPr>
        <p:spPr/>
        <p:txBody>
          <a:bodyPr/>
          <a:lstStyle/>
          <a:p>
            <a:r>
              <a:rPr lang="en-US"/>
              <a:t>copyright © 2017 Kevin M. Smith</a:t>
            </a:r>
          </a:p>
        </p:txBody>
      </p:sp>
      <p:sp>
        <p:nvSpPr>
          <p:cNvPr id="7" name="Slide Number Placeholder 6"/>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221989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ED95A6-FBBB-457F-BC2F-84487D193BC5}" type="datetime1">
              <a:rPr lang="en-US" smtClean="0"/>
              <a:t>3/1/2018</a:t>
            </a:fld>
            <a:endParaRPr lang="en-US"/>
          </a:p>
        </p:txBody>
      </p:sp>
      <p:sp>
        <p:nvSpPr>
          <p:cNvPr id="5" name="Footer Placeholder 4"/>
          <p:cNvSpPr>
            <a:spLocks noGrp="1"/>
          </p:cNvSpPr>
          <p:nvPr>
            <p:ph type="ftr" sz="quarter" idx="11"/>
          </p:nvPr>
        </p:nvSpPr>
        <p:spPr/>
        <p:txBody>
          <a:bodyPr/>
          <a:lstStyle/>
          <a:p>
            <a:r>
              <a:rPr lang="en-US"/>
              <a:t>copyright © 2017 Kevin M. Smith</a:t>
            </a:r>
          </a:p>
        </p:txBody>
      </p:sp>
      <p:sp>
        <p:nvSpPr>
          <p:cNvPr id="6" name="Slide Number Placeholder 5"/>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34080912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2A1209-11D7-4112-B3B0-B5FF3960E31D}" type="datetime1">
              <a:rPr lang="en-US" smtClean="0"/>
              <a:t>3/1/2018</a:t>
            </a:fld>
            <a:endParaRPr lang="en-US"/>
          </a:p>
        </p:txBody>
      </p:sp>
      <p:sp>
        <p:nvSpPr>
          <p:cNvPr id="5" name="Footer Placeholder 4"/>
          <p:cNvSpPr>
            <a:spLocks noGrp="1"/>
          </p:cNvSpPr>
          <p:nvPr>
            <p:ph type="ftr" sz="quarter" idx="11"/>
          </p:nvPr>
        </p:nvSpPr>
        <p:spPr/>
        <p:txBody>
          <a:bodyPr/>
          <a:lstStyle/>
          <a:p>
            <a:r>
              <a:rPr lang="en-US"/>
              <a:t>copyright © 2017 Kevin M. Smith</a:t>
            </a:r>
          </a:p>
        </p:txBody>
      </p:sp>
      <p:sp>
        <p:nvSpPr>
          <p:cNvPr id="6" name="Slide Number Placeholder 5"/>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2572215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8A5CB5-5376-4B05-B033-DAE5282DD0BC}" type="datetime1">
              <a:rPr lang="en-US" smtClean="0"/>
              <a:t>3/1/2018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copyright © 2017 Kevin M. Smith</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47792B-7BF8-4B18-9E81-3A6946432DE1}" type="slidenum">
              <a:rPr lang="en-US" smtClean="0"/>
              <a:t>‹#›</a:t>
            </a:fld>
            <a:endParaRPr lang="en-US"/>
          </a:p>
        </p:txBody>
      </p:sp>
    </p:spTree>
    <p:extLst>
      <p:ext uri="{BB962C8B-B14F-4D97-AF65-F5344CB8AC3E}">
        <p14:creationId xmlns:p14="http://schemas.microsoft.com/office/powerpoint/2010/main" val="3997887326"/>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lumMod val="75000"/>
          </a:schemeClr>
        </a:solidFill>
        <a:effectLst/>
      </p:bgPr>
    </p:bg>
    <p:spTree>
      <p:nvGrpSpPr>
        <p:cNvPr id="1" name=""/>
        <p:cNvGrpSpPr/>
        <p:nvPr/>
      </p:nvGrpSpPr>
      <p:grpSpPr>
        <a:xfrm>
          <a:off x="0" y="0"/>
          <a:ext cx="0" cy="0"/>
          <a:chOff x="0" y="0"/>
          <a:chExt cx="0" cy="0"/>
        </a:xfrm>
      </p:grpSpPr>
      <p:sp>
        <p:nvSpPr>
          <p:cNvPr id="25" name="Rectangle 11">
            <a:extLst>
              <a:ext uri="{FF2B5EF4-FFF2-40B4-BE49-F238E27FC236}">
                <a16:creationId xmlns:a16="http://schemas.microsoft.com/office/drawing/2014/main" id="{343ADA3E-BE07-4F26-9361-F12F5F5F316F}"/>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3">
            <a:extLst>
              <a:ext uri="{FF2B5EF4-FFF2-40B4-BE49-F238E27FC236}">
                <a16:creationId xmlns:a16="http://schemas.microsoft.com/office/drawing/2014/main" id="{4EAB7026-E0C0-4521-B56A-B6CC4A6325A4}"/>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6925" y="-479"/>
            <a:ext cx="9468701" cy="6858478"/>
          </a:xfrm>
          <a:custGeom>
            <a:avLst/>
            <a:gdLst>
              <a:gd name="connsiteX0" fmla="*/ 0 w 8078051"/>
              <a:gd name="connsiteY0" fmla="*/ 0 h 5829300"/>
              <a:gd name="connsiteX1" fmla="*/ 4453793 w 8078051"/>
              <a:gd name="connsiteY1" fmla="*/ 0 h 5829300"/>
              <a:gd name="connsiteX2" fmla="*/ 5363426 w 8078051"/>
              <a:gd name="connsiteY2" fmla="*/ 0 h 5829300"/>
              <a:gd name="connsiteX3" fmla="*/ 5368184 w 8078051"/>
              <a:gd name="connsiteY3" fmla="*/ 0 h 5829300"/>
              <a:gd name="connsiteX4" fmla="*/ 8078051 w 8078051"/>
              <a:gd name="connsiteY4" fmla="*/ 5829300 h 5829300"/>
              <a:gd name="connsiteX5" fmla="*/ 1743926 w 8078051"/>
              <a:gd name="connsiteY5" fmla="*/ 5829300 h 5829300"/>
              <a:gd name="connsiteX6" fmla="*/ 1744148 w 8078051"/>
              <a:gd name="connsiteY6" fmla="*/ 5828822 h 5829300"/>
              <a:gd name="connsiteX7" fmla="*/ 0 w 8078051"/>
              <a:gd name="connsiteY7" fmla="*/ 5828822 h 582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78051" h="5829300">
                <a:moveTo>
                  <a:pt x="0" y="0"/>
                </a:moveTo>
                <a:lnTo>
                  <a:pt x="4453793" y="0"/>
                </a:lnTo>
                <a:lnTo>
                  <a:pt x="5363426" y="0"/>
                </a:lnTo>
                <a:lnTo>
                  <a:pt x="5368184" y="0"/>
                </a:lnTo>
                <a:lnTo>
                  <a:pt x="8078051" y="5829300"/>
                </a:lnTo>
                <a:lnTo>
                  <a:pt x="1743926" y="5829300"/>
                </a:lnTo>
                <a:lnTo>
                  <a:pt x="1744148" y="5828822"/>
                </a:lnTo>
                <a:lnTo>
                  <a:pt x="0" y="5828822"/>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16">
            <a:extLst>
              <a:ext uri="{FF2B5EF4-FFF2-40B4-BE49-F238E27FC236}">
                <a16:creationId xmlns:a16="http://schemas.microsoft.com/office/drawing/2014/main" id="{10F3B50B-55C6-4818-B05E-24E5EED1905E}"/>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79"/>
            <a:ext cx="9324977" cy="6858479"/>
          </a:xfrm>
          <a:custGeom>
            <a:avLst/>
            <a:gdLst>
              <a:gd name="connsiteX0" fmla="*/ 1246925 w 9324977"/>
              <a:gd name="connsiteY0" fmla="*/ 0 h 6858479"/>
              <a:gd name="connsiteX1" fmla="*/ 5076797 w 9324977"/>
              <a:gd name="connsiteY1" fmla="*/ 0 h 6858479"/>
              <a:gd name="connsiteX2" fmla="*/ 6143025 w 9324977"/>
              <a:gd name="connsiteY2" fmla="*/ 0 h 6858479"/>
              <a:gd name="connsiteX3" fmla="*/ 6148602 w 9324977"/>
              <a:gd name="connsiteY3" fmla="*/ 0 h 6858479"/>
              <a:gd name="connsiteX4" fmla="*/ 9324977 w 9324977"/>
              <a:gd name="connsiteY4" fmla="*/ 6858478 h 6858479"/>
              <a:gd name="connsiteX5" fmla="*/ 3359025 w 9324977"/>
              <a:gd name="connsiteY5" fmla="*/ 6858478 h 6858479"/>
              <a:gd name="connsiteX6" fmla="*/ 3359025 w 9324977"/>
              <a:gd name="connsiteY6" fmla="*/ 6858479 h 6858479"/>
              <a:gd name="connsiteX7" fmla="*/ 0 w 9324977"/>
              <a:gd name="connsiteY7" fmla="*/ 6858479 h 6858479"/>
              <a:gd name="connsiteX8" fmla="*/ 0 w 9324977"/>
              <a:gd name="connsiteY8" fmla="*/ 479 h 6858479"/>
              <a:gd name="connsiteX9" fmla="*/ 1246925 w 9324977"/>
              <a:gd name="connsiteY9" fmla="*/ 479 h 685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24977" h="6858479">
                <a:moveTo>
                  <a:pt x="1246925" y="0"/>
                </a:moveTo>
                <a:lnTo>
                  <a:pt x="5076797" y="0"/>
                </a:lnTo>
                <a:lnTo>
                  <a:pt x="6143025" y="0"/>
                </a:lnTo>
                <a:lnTo>
                  <a:pt x="6148602" y="0"/>
                </a:lnTo>
                <a:lnTo>
                  <a:pt x="9324977" y="6858478"/>
                </a:lnTo>
                <a:lnTo>
                  <a:pt x="3359025" y="6858478"/>
                </a:lnTo>
                <a:lnTo>
                  <a:pt x="3359025" y="6858479"/>
                </a:lnTo>
                <a:lnTo>
                  <a:pt x="0" y="6858479"/>
                </a:lnTo>
                <a:lnTo>
                  <a:pt x="0" y="479"/>
                </a:lnTo>
                <a:lnTo>
                  <a:pt x="1246925" y="479"/>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close up of a logo&#10;&#10;Description generated with very high confidence">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2" name="Title 1">
            <a:extLst>
              <a:ext uri="{FF2B5EF4-FFF2-40B4-BE49-F238E27FC236}">
                <a16:creationId xmlns:a16="http://schemas.microsoft.com/office/drawing/2014/main" id="{BED09DB5-5978-4E0A-9D84-6428949B93E5}"/>
              </a:ext>
            </a:extLst>
          </p:cNvPr>
          <p:cNvSpPr>
            <a:spLocks noGrp="1"/>
          </p:cNvSpPr>
          <p:nvPr>
            <p:ph type="ctrTitle"/>
          </p:nvPr>
        </p:nvSpPr>
        <p:spPr>
          <a:xfrm>
            <a:off x="804671" y="2600324"/>
            <a:ext cx="6405753" cy="3277961"/>
          </a:xfrm>
        </p:spPr>
        <p:txBody>
          <a:bodyPr anchor="t">
            <a:normAutofit/>
          </a:bodyPr>
          <a:lstStyle/>
          <a:p>
            <a:pPr algn="l"/>
            <a:r>
              <a:rPr lang="en-US" sz="5400" dirty="0"/>
              <a:t>CS 134 Computer Game Design</a:t>
            </a:r>
          </a:p>
        </p:txBody>
      </p:sp>
      <p:sp>
        <p:nvSpPr>
          <p:cNvPr id="3" name="Subtitle 2">
            <a:extLst>
              <a:ext uri="{FF2B5EF4-FFF2-40B4-BE49-F238E27FC236}">
                <a16:creationId xmlns:a16="http://schemas.microsoft.com/office/drawing/2014/main" id="{36C6AE9A-2BEB-4C56-B297-BC12579D1D8C}"/>
              </a:ext>
            </a:extLst>
          </p:cNvPr>
          <p:cNvSpPr>
            <a:spLocks noGrp="1"/>
          </p:cNvSpPr>
          <p:nvPr>
            <p:ph type="subTitle" idx="1"/>
          </p:nvPr>
        </p:nvSpPr>
        <p:spPr>
          <a:xfrm>
            <a:off x="804672" y="1300450"/>
            <a:ext cx="4167376" cy="1155525"/>
          </a:xfrm>
        </p:spPr>
        <p:txBody>
          <a:bodyPr anchor="b">
            <a:normAutofit/>
          </a:bodyPr>
          <a:lstStyle/>
          <a:p>
            <a:pPr algn="l"/>
            <a:r>
              <a:rPr lang="en-US" sz="2000"/>
              <a:t>Instructor: Kevin M. Smith</a:t>
            </a:r>
          </a:p>
        </p:txBody>
      </p:sp>
      <p:sp>
        <p:nvSpPr>
          <p:cNvPr id="4" name="Footer Placeholder 3">
            <a:extLst>
              <a:ext uri="{FF2B5EF4-FFF2-40B4-BE49-F238E27FC236}">
                <a16:creationId xmlns:a16="http://schemas.microsoft.com/office/drawing/2014/main" id="{93832073-FAC5-49BC-895C-B564209CD2A3}"/>
              </a:ext>
            </a:extLst>
          </p:cNvPr>
          <p:cNvSpPr>
            <a:spLocks noGrp="1"/>
          </p:cNvSpPr>
          <p:nvPr>
            <p:ph type="ftr" sz="quarter" idx="11"/>
          </p:nvPr>
        </p:nvSpPr>
        <p:spPr>
          <a:xfrm>
            <a:off x="804672" y="6356350"/>
            <a:ext cx="4114800" cy="365125"/>
          </a:xfrm>
        </p:spPr>
        <p:txBody>
          <a:bodyPr>
            <a:normAutofit/>
          </a:bodyPr>
          <a:lstStyle/>
          <a:p>
            <a:pPr algn="l">
              <a:lnSpc>
                <a:spcPct val="90000"/>
              </a:lnSpc>
              <a:spcAft>
                <a:spcPts val="600"/>
              </a:spcAft>
            </a:pPr>
            <a:r>
              <a:rPr lang="en-US" sz="900">
                <a:solidFill>
                  <a:schemeClr val="tx1">
                    <a:lumMod val="85000"/>
                  </a:schemeClr>
                </a:solidFill>
              </a:rPr>
              <a:t>copyright © 2017 Kevin M. Smith, content Adapted from Jared Finder’s Slides from CS134 section 1</a:t>
            </a:r>
          </a:p>
        </p:txBody>
      </p:sp>
    </p:spTree>
    <p:extLst>
      <p:ext uri="{BB962C8B-B14F-4D97-AF65-F5344CB8AC3E}">
        <p14:creationId xmlns:p14="http://schemas.microsoft.com/office/powerpoint/2010/main" val="17310303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3565030" y="572590"/>
            <a:ext cx="4798942" cy="707886"/>
          </a:xfrm>
          <a:prstGeom prst="rect">
            <a:avLst/>
          </a:prstGeom>
          <a:noFill/>
        </p:spPr>
        <p:txBody>
          <a:bodyPr wrap="none" rtlCol="0">
            <a:spAutoFit/>
          </a:bodyPr>
          <a:lstStyle/>
          <a:p>
            <a:r>
              <a:rPr lang="en-US" sz="4000" dirty="0"/>
              <a:t>CS 134 Course Outline</a:t>
            </a:r>
          </a:p>
        </p:txBody>
      </p:sp>
      <p:graphicFrame>
        <p:nvGraphicFramePr>
          <p:cNvPr id="11" name="Diagram 10">
            <a:extLst>
              <a:ext uri="{FF2B5EF4-FFF2-40B4-BE49-F238E27FC236}">
                <a16:creationId xmlns:a16="http://schemas.microsoft.com/office/drawing/2014/main" id="{287CBAA9-3AE7-4EB5-B258-099D2A155FB5}"/>
              </a:ext>
            </a:extLst>
          </p:cNvPr>
          <p:cNvGraphicFramePr/>
          <p:nvPr>
            <p:extLst>
              <p:ext uri="{D42A27DB-BD31-4B8C-83A1-F6EECF244321}">
                <p14:modId xmlns:p14="http://schemas.microsoft.com/office/powerpoint/2010/main" val="1044031633"/>
              </p:ext>
            </p:extLst>
          </p:nvPr>
        </p:nvGraphicFramePr>
        <p:xfrm>
          <a:off x="1374710" y="1946988"/>
          <a:ext cx="9768114" cy="322217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Rectangle 1">
            <a:extLst>
              <a:ext uri="{FF2B5EF4-FFF2-40B4-BE49-F238E27FC236}">
                <a16:creationId xmlns:a16="http://schemas.microsoft.com/office/drawing/2014/main" id="{3BBFEFC1-FA58-438E-9082-B0FAB6FDEA50}"/>
              </a:ext>
            </a:extLst>
          </p:cNvPr>
          <p:cNvSpPr/>
          <p:nvPr/>
        </p:nvSpPr>
        <p:spPr>
          <a:xfrm>
            <a:off x="4690550" y="2830608"/>
            <a:ext cx="1405450" cy="1589154"/>
          </a:xfrm>
          <a:prstGeom prst="rect">
            <a:avLst/>
          </a:prstGeom>
          <a:solidFill>
            <a:schemeClr val="accent1">
              <a:alpha val="16000"/>
            </a:schemeClr>
          </a:solidFill>
          <a:effectLst>
            <a:outerShdw blurRad="50800" dist="50800" dir="5400000" sx="37000" sy="37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A0C1CB47-B354-4FB8-816A-A7C46FA75E7E}"/>
              </a:ext>
            </a:extLst>
          </p:cNvPr>
          <p:cNvSpPr>
            <a:spLocks noGrp="1"/>
          </p:cNvSpPr>
          <p:nvPr>
            <p:ph type="ftr" sz="quarter" idx="11"/>
          </p:nvPr>
        </p:nvSpPr>
        <p:spPr/>
        <p:txBody>
          <a:bodyPr/>
          <a:lstStyle/>
          <a:p>
            <a:r>
              <a:rPr lang="en-US"/>
              <a:t>copyright © 2017 Kevin M. Smith</a:t>
            </a:r>
          </a:p>
        </p:txBody>
      </p:sp>
    </p:spTree>
    <p:extLst>
      <p:ext uri="{BB962C8B-B14F-4D97-AF65-F5344CB8AC3E}">
        <p14:creationId xmlns:p14="http://schemas.microsoft.com/office/powerpoint/2010/main" val="1671551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405364" y="706740"/>
            <a:ext cx="11309250" cy="646331"/>
          </a:xfrm>
          <a:prstGeom prst="rect">
            <a:avLst/>
          </a:prstGeom>
          <a:noFill/>
        </p:spPr>
        <p:txBody>
          <a:bodyPr wrap="none" rtlCol="0">
            <a:spAutoFit/>
          </a:bodyPr>
          <a:lstStyle/>
          <a:p>
            <a:r>
              <a:rPr lang="en-US" sz="3600" dirty="0"/>
              <a:t>For Homework Assignment Part 2 – Vintage Arcade Shooter</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778479" y="1143999"/>
            <a:ext cx="8635041" cy="6678751"/>
          </a:xfrm>
          <a:prstGeom prst="rect">
            <a:avLst/>
          </a:prstGeom>
          <a:noFill/>
        </p:spPr>
        <p:txBody>
          <a:bodyPr wrap="square" rtlCol="0">
            <a:spAutoFit/>
          </a:bodyPr>
          <a:lstStyle/>
          <a:p>
            <a:endParaRPr lang="en-US" sz="2000" b="1" dirty="0"/>
          </a:p>
          <a:p>
            <a:endParaRPr lang="en-US" sz="2400" dirty="0"/>
          </a:p>
          <a:p>
            <a:pPr marL="285750" indent="-285750">
              <a:buFont typeface="Arial" panose="020B0604020202020204" pitchFamily="34" charset="0"/>
              <a:buChar char="•"/>
            </a:pPr>
            <a:r>
              <a:rPr lang="en-US" sz="2400" dirty="0"/>
              <a:t>Please review directions</a:t>
            </a:r>
          </a:p>
          <a:p>
            <a:pPr marL="285750" indent="-285750">
              <a:buFont typeface="Arial" panose="020B0604020202020204" pitchFamily="34" charset="0"/>
              <a:buChar char="•"/>
            </a:pPr>
            <a:r>
              <a:rPr lang="en-US" sz="2400" dirty="0"/>
              <a:t>You do not need to complete the game for Part 2 !!!</a:t>
            </a:r>
          </a:p>
          <a:p>
            <a:pPr marL="285750" indent="-285750">
              <a:buFont typeface="Arial" panose="020B0604020202020204" pitchFamily="34" charset="0"/>
              <a:buChar char="•"/>
            </a:pPr>
            <a:r>
              <a:rPr lang="en-US" sz="2400" dirty="0"/>
              <a:t> What you do need:</a:t>
            </a:r>
          </a:p>
          <a:p>
            <a:pPr marL="742950" lvl="1" indent="-285750">
              <a:buFont typeface="Arial" panose="020B0604020202020204" pitchFamily="34" charset="0"/>
              <a:buChar char="•"/>
            </a:pPr>
            <a:r>
              <a:rPr lang="en-US" sz="2400" dirty="0"/>
              <a:t>An emitter mechanism or equivalent to launch invaders from various locations.</a:t>
            </a:r>
          </a:p>
          <a:p>
            <a:pPr marL="742950" lvl="1" indent="-285750">
              <a:buFont typeface="Arial" panose="020B0604020202020204" pitchFamily="34" charset="0"/>
              <a:buChar char="•"/>
            </a:pPr>
            <a:r>
              <a:rPr lang="en-US" sz="2400" dirty="0"/>
              <a:t>A way control initial position and velocity so that they can move in different directions (you can experiment)</a:t>
            </a:r>
          </a:p>
          <a:p>
            <a:pPr marL="742950" lvl="1" indent="-285750">
              <a:buFont typeface="Arial" panose="020B0604020202020204" pitchFamily="34" charset="0"/>
              <a:buChar char="•"/>
            </a:pPr>
            <a:r>
              <a:rPr lang="en-US" sz="2400" dirty="0"/>
              <a:t>You movable missile launcher with from Part 1</a:t>
            </a:r>
          </a:p>
          <a:p>
            <a:pPr marL="742950" lvl="1" indent="-285750">
              <a:buFont typeface="Arial" panose="020B0604020202020204" pitchFamily="34" charset="0"/>
              <a:buChar char="•"/>
            </a:pPr>
            <a:r>
              <a:rPr lang="en-US" sz="2400" dirty="0"/>
              <a:t>A way to detect collision and destroy invaders</a:t>
            </a:r>
          </a:p>
          <a:p>
            <a:pPr marL="742950" lvl="1" indent="-285750">
              <a:buFont typeface="Arial" panose="020B0604020202020204" pitchFamily="34" charset="0"/>
              <a:buChar char="•"/>
            </a:pPr>
            <a:r>
              <a:rPr lang="en-US" sz="2400" dirty="0"/>
              <a:t>Your own Sprite images that you have created.</a:t>
            </a:r>
          </a:p>
          <a:p>
            <a:pPr marL="742950" lvl="1" indent="-285750">
              <a:buFont typeface="Arial" panose="020B0604020202020204" pitchFamily="34" charset="0"/>
              <a:buChar char="•"/>
            </a:pPr>
            <a:r>
              <a:rPr lang="en-US" sz="2400" dirty="0"/>
              <a:t>NO PHYSICS for Part 2</a:t>
            </a:r>
          </a:p>
          <a:p>
            <a:pPr marL="742950" lvl="1" indent="-285750">
              <a:buFont typeface="Arial" panose="020B0604020202020204" pitchFamily="34" charset="0"/>
              <a:buChar char="•"/>
            </a:pPr>
            <a:endParaRPr lang="en-US" sz="2400" dirty="0"/>
          </a:p>
          <a:p>
            <a:pPr lvl="1"/>
            <a:endParaRPr lang="en-US" sz="2400" dirty="0"/>
          </a:p>
          <a:p>
            <a:pPr lvl="1"/>
            <a:br>
              <a:rPr lang="en-US" dirty="0"/>
            </a:br>
            <a:endParaRPr lang="en-US"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447125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500"/>
                                        <p:tgtEl>
                                          <p:spTgt spid="8">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500"/>
                                        <p:tgtEl>
                                          <p:spTgt spid="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5" end="5"/>
                                            </p:txEl>
                                          </p:spTgt>
                                        </p:tgtEl>
                                        <p:attrNameLst>
                                          <p:attrName>style.visibility</p:attrName>
                                        </p:attrNameLst>
                                      </p:cBhvr>
                                      <p:to>
                                        <p:strVal val="visible"/>
                                      </p:to>
                                    </p:set>
                                    <p:animEffect transition="in" filter="fade">
                                      <p:cBhvr>
                                        <p:cTn id="22" dur="500"/>
                                        <p:tgtEl>
                                          <p:spTgt spid="8">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animEffect transition="in" filter="fade">
                                      <p:cBhvr>
                                        <p:cTn id="27" dur="500"/>
                                        <p:tgtEl>
                                          <p:spTgt spid="8">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7" end="7"/>
                                            </p:txEl>
                                          </p:spTgt>
                                        </p:tgtEl>
                                        <p:attrNameLst>
                                          <p:attrName>style.visibility</p:attrName>
                                        </p:attrNameLst>
                                      </p:cBhvr>
                                      <p:to>
                                        <p:strVal val="visible"/>
                                      </p:to>
                                    </p:set>
                                    <p:animEffect transition="in" filter="fade">
                                      <p:cBhvr>
                                        <p:cTn id="32" dur="500"/>
                                        <p:tgtEl>
                                          <p:spTgt spid="8">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pRg st="8" end="8"/>
                                            </p:txEl>
                                          </p:spTgt>
                                        </p:tgtEl>
                                        <p:attrNameLst>
                                          <p:attrName>style.visibility</p:attrName>
                                        </p:attrNameLst>
                                      </p:cBhvr>
                                      <p:to>
                                        <p:strVal val="visible"/>
                                      </p:to>
                                    </p:set>
                                    <p:animEffect transition="in" filter="fade">
                                      <p:cBhvr>
                                        <p:cTn id="37" dur="500"/>
                                        <p:tgtEl>
                                          <p:spTgt spid="8">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
                                            <p:txEl>
                                              <p:pRg st="9" end="9"/>
                                            </p:txEl>
                                          </p:spTgt>
                                        </p:tgtEl>
                                        <p:attrNameLst>
                                          <p:attrName>style.visibility</p:attrName>
                                        </p:attrNameLst>
                                      </p:cBhvr>
                                      <p:to>
                                        <p:strVal val="visible"/>
                                      </p:to>
                                    </p:set>
                                    <p:animEffect transition="in" filter="fade">
                                      <p:cBhvr>
                                        <p:cTn id="42" dur="500"/>
                                        <p:tgtEl>
                                          <p:spTgt spid="8">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
                                            <p:txEl>
                                              <p:pRg st="10" end="10"/>
                                            </p:txEl>
                                          </p:spTgt>
                                        </p:tgtEl>
                                        <p:attrNameLst>
                                          <p:attrName>style.visibility</p:attrName>
                                        </p:attrNameLst>
                                      </p:cBhvr>
                                      <p:to>
                                        <p:strVal val="visible"/>
                                      </p:to>
                                    </p:set>
                                    <p:animEffect transition="in" filter="fade">
                                      <p:cBhvr>
                                        <p:cTn id="47" dur="500"/>
                                        <p:tgtEl>
                                          <p:spTgt spid="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3526068" y="2452049"/>
            <a:ext cx="5656100" cy="646331"/>
          </a:xfrm>
          <a:prstGeom prst="rect">
            <a:avLst/>
          </a:prstGeom>
          <a:noFill/>
        </p:spPr>
        <p:txBody>
          <a:bodyPr wrap="none" rtlCol="0">
            <a:spAutoFit/>
          </a:bodyPr>
          <a:lstStyle/>
          <a:p>
            <a:r>
              <a:rPr lang="en-US" sz="3600" dirty="0"/>
              <a:t>Quick Review From Last Time</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778479" y="1143999"/>
            <a:ext cx="8635041" cy="2616101"/>
          </a:xfrm>
          <a:prstGeom prst="rect">
            <a:avLst/>
          </a:prstGeom>
          <a:noFill/>
        </p:spPr>
        <p:txBody>
          <a:bodyPr wrap="square" rtlCol="0">
            <a:spAutoFit/>
          </a:bodyPr>
          <a:lstStyle/>
          <a:p>
            <a:endParaRPr lang="en-US" sz="2000" b="1" dirty="0"/>
          </a:p>
          <a:p>
            <a:endParaRPr lang="en-US" sz="2400" dirty="0"/>
          </a:p>
          <a:p>
            <a:pPr lvl="1"/>
            <a:endParaRPr lang="en-US" sz="2400" dirty="0"/>
          </a:p>
          <a:p>
            <a:pPr lvl="1"/>
            <a:endParaRPr lang="en-US" sz="2400" dirty="0"/>
          </a:p>
          <a:p>
            <a:pPr lvl="1"/>
            <a:br>
              <a:rPr lang="en-US" dirty="0"/>
            </a:br>
            <a:endParaRPr lang="en-US"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614951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405364" y="706740"/>
            <a:ext cx="8593122" cy="646331"/>
          </a:xfrm>
          <a:prstGeom prst="rect">
            <a:avLst/>
          </a:prstGeom>
          <a:noFill/>
        </p:spPr>
        <p:txBody>
          <a:bodyPr wrap="none" rtlCol="0">
            <a:spAutoFit/>
          </a:bodyPr>
          <a:lstStyle/>
          <a:p>
            <a:r>
              <a:rPr lang="en-US" sz="3600" dirty="0"/>
              <a:t>Simple Collision – Basic Particle Mathematics</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7FCBBA6-3D6E-4193-A526-C1CC6FA761FF}"/>
                  </a:ext>
                </a:extLst>
              </p:cNvPr>
              <p:cNvSpPr txBox="1"/>
              <p:nvPr/>
            </p:nvSpPr>
            <p:spPr>
              <a:xfrm>
                <a:off x="1951913" y="982937"/>
                <a:ext cx="9440337" cy="7786747"/>
              </a:xfrm>
              <a:prstGeom prst="rect">
                <a:avLst/>
              </a:prstGeom>
              <a:noFill/>
            </p:spPr>
            <p:txBody>
              <a:bodyPr wrap="square" rtlCol="0">
                <a:spAutoFit/>
              </a:bodyPr>
              <a:lstStyle/>
              <a:p>
                <a:endParaRPr lang="en-US" sz="2000" b="1" dirty="0"/>
              </a:p>
              <a:p>
                <a:endParaRPr lang="en-US" sz="2400" dirty="0"/>
              </a:p>
              <a:p>
                <a:pPr marL="285750" indent="-285750">
                  <a:buFont typeface="Arial" panose="020B0604020202020204" pitchFamily="34" charset="0"/>
                  <a:buChar char="•"/>
                </a:pPr>
                <a:r>
                  <a:rPr lang="en-US" sz="2400" dirty="0">
                    <a:solidFill>
                      <a:schemeClr val="accent4"/>
                    </a:solidFill>
                  </a:rPr>
                  <a:t>Velocity</a:t>
                </a:r>
                <a:r>
                  <a:rPr lang="en-US" sz="2400" dirty="0"/>
                  <a:t> can be expressed as a derivative of the position over time:</a:t>
                </a:r>
                <a:br>
                  <a:rPr lang="en-US" sz="2400" dirty="0"/>
                </a:br>
                <a:endParaRPr lang="en-US" sz="2400" dirty="0"/>
              </a:p>
              <a:p>
                <a:pPr marL="742950" lvl="1" indent="-285750">
                  <a:buFont typeface="Arial" panose="020B0604020202020204" pitchFamily="34" charset="0"/>
                  <a:buChar char="•"/>
                </a:pPr>
                <a14:m>
                  <m:oMath xmlns:m="http://schemas.openxmlformats.org/officeDocument/2006/math">
                    <m:func>
                      <m:funcPr>
                        <m:ctrlPr>
                          <a:rPr lang="pt-BR" sz="2400" b="0" i="1" smtClean="0">
                            <a:latin typeface="Cambria Math" panose="02040503050406030204" pitchFamily="18" charset="0"/>
                          </a:rPr>
                        </m:ctrlPr>
                      </m:funcPr>
                      <m:fName>
                        <m:limLow>
                          <m:limLowPr>
                            <m:ctrlPr>
                              <a:rPr lang="pt-BR" sz="2400" b="0" i="1" smtClean="0">
                                <a:latin typeface="Cambria Math" panose="02040503050406030204" pitchFamily="18" charset="0"/>
                              </a:rPr>
                            </m:ctrlPr>
                          </m:limLowPr>
                          <m:e>
                            <m:r>
                              <m:rPr>
                                <m:sty m:val="p"/>
                              </m:rPr>
                              <a:rPr lang="pt-BR" sz="2400" b="0" i="0" smtClean="0">
                                <a:latin typeface="Cambria Math" panose="02040503050406030204" pitchFamily="18" charset="0"/>
                              </a:rPr>
                              <m:t>lim</m:t>
                            </m:r>
                          </m:e>
                          <m:lim>
                            <m:r>
                              <a:rPr lang="pt-BR"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𝑡</m:t>
                            </m:r>
                            <m:r>
                              <a:rPr lang="pt-BR" sz="2400" b="0" i="1" smtClean="0">
                                <a:latin typeface="Cambria Math" panose="02040503050406030204" pitchFamily="18" charset="0"/>
                              </a:rPr>
                              <m:t>→</m:t>
                            </m:r>
                            <m:r>
                              <a:rPr lang="en-US" sz="2400" b="0" i="1" smtClean="0">
                                <a:latin typeface="Cambria Math" panose="02040503050406030204" pitchFamily="18" charset="0"/>
                              </a:rPr>
                              <m:t>0</m:t>
                            </m:r>
                          </m:lim>
                        </m:limLow>
                      </m:fName>
                      <m:e>
                        <m:r>
                          <a:rPr lang="pt-BR"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𝑃</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𝑇</m:t>
                        </m:r>
                      </m:e>
                    </m:func>
                  </m:oMath>
                </a14:m>
                <a:r>
                  <a:rPr lang="en-US" sz="2400" b="0" dirty="0"/>
                  <a:t>   -or- </a:t>
                </a:r>
              </a:p>
              <a:p>
                <a:pPr marL="742950" lvl="1" indent="-285750">
                  <a:buFont typeface="Arial" panose="020B0604020202020204" pitchFamily="34" charset="0"/>
                  <a:buChar char="•"/>
                </a:pPr>
                <a:r>
                  <a:rPr lang="en-US" sz="2400" dirty="0" err="1"/>
                  <a:t>dp</a:t>
                </a:r>
                <a:r>
                  <a:rPr lang="en-US" sz="2400" dirty="0"/>
                  <a:t>/</a:t>
                </a:r>
                <a:r>
                  <a:rPr lang="en-US" sz="2400" dirty="0" err="1"/>
                  <a:t>dt</a:t>
                </a:r>
                <a:br>
                  <a:rPr lang="en-US" sz="2400" dirty="0"/>
                </a:br>
                <a:endParaRPr lang="en-US" sz="2400" dirty="0"/>
              </a:p>
              <a:p>
                <a:pPr marL="285750" indent="-285750">
                  <a:buFont typeface="Arial" panose="020B0604020202020204" pitchFamily="34" charset="0"/>
                  <a:buChar char="•"/>
                </a:pPr>
                <a:r>
                  <a:rPr lang="en-US" sz="2400" dirty="0"/>
                  <a:t>Integration is the inverse of the derivative, If we integrate velocity we can get back position (at each time interval)</a:t>
                </a:r>
                <a:br>
                  <a:rPr lang="en-US" sz="2400" dirty="0"/>
                </a:br>
                <a:endParaRPr lang="en-US" sz="2400" dirty="0"/>
              </a:p>
              <a:p>
                <a:pPr marL="742950" lvl="1" indent="-285750">
                  <a:buFont typeface="Arial" panose="020B0604020202020204" pitchFamily="34" charset="0"/>
                  <a:buChar char="•"/>
                </a:pPr>
                <a:r>
                  <a:rPr lang="en-US" sz="2400" dirty="0">
                    <a:solidFill>
                      <a:schemeClr val="accent4"/>
                    </a:solidFill>
                  </a:rPr>
                  <a:t>p’ = p + </a:t>
                </a:r>
                <a:r>
                  <a:rPr lang="en-US" sz="2400" dirty="0" err="1">
                    <a:solidFill>
                      <a:schemeClr val="accent4"/>
                    </a:solidFill>
                  </a:rPr>
                  <a:t>vt</a:t>
                </a:r>
                <a:r>
                  <a:rPr lang="en-US" sz="2400" dirty="0"/>
                  <a:t>       (p and v are vectors)</a:t>
                </a:r>
              </a:p>
              <a:p>
                <a:pPr marL="742950" lvl="1" indent="-285750">
                  <a:buFont typeface="Arial" panose="020B0604020202020204" pitchFamily="34" charset="0"/>
                  <a:buChar char="•"/>
                </a:pPr>
                <a:endParaRPr lang="en-US" sz="2400" dirty="0"/>
              </a:p>
              <a:p>
                <a:r>
                  <a:rPr lang="en-US" sz="2000" dirty="0"/>
                  <a:t>*Where p is the particles position (x, y, z) and p’ is it’s updated position over the time interval t, given velocity v.</a:t>
                </a:r>
              </a:p>
              <a:p>
                <a:pPr marL="285750" indent="-285750">
                  <a:buFont typeface="Arial" panose="020B0604020202020204" pitchFamily="34" charset="0"/>
                  <a:buChar char="•"/>
                </a:pPr>
                <a:endParaRPr lang="en-US" sz="2400" dirty="0"/>
              </a:p>
              <a:p>
                <a:pPr marL="742950" lvl="1" indent="-285750">
                  <a:buFont typeface="Arial" panose="020B0604020202020204" pitchFamily="34" charset="0"/>
                  <a:buChar char="•"/>
                </a:pPr>
                <a:endParaRPr lang="en-US" sz="2400" dirty="0"/>
              </a:p>
              <a:p>
                <a:pPr lvl="1"/>
                <a:endParaRPr lang="en-US" sz="2400" dirty="0"/>
              </a:p>
              <a:p>
                <a:pPr lvl="1"/>
                <a:endParaRPr lang="en-US" sz="2400" dirty="0"/>
              </a:p>
              <a:p>
                <a:pPr lvl="1"/>
                <a:br>
                  <a:rPr lang="en-US" dirty="0"/>
                </a:br>
                <a:endParaRPr lang="en-US" dirty="0"/>
              </a:p>
              <a:p>
                <a:endParaRPr lang="en-US" dirty="0"/>
              </a:p>
              <a:p>
                <a:pPr marL="285750" indent="-285750">
                  <a:buFont typeface="Arial" panose="020B0604020202020204" pitchFamily="34" charset="0"/>
                  <a:buChar char="•"/>
                </a:pPr>
                <a:endParaRPr lang="en-US" dirty="0"/>
              </a:p>
            </p:txBody>
          </p:sp>
        </mc:Choice>
        <mc:Fallback xmlns="">
          <p:sp>
            <p:nvSpPr>
              <p:cNvPr id="8" name="TextBox 7">
                <a:extLst>
                  <a:ext uri="{FF2B5EF4-FFF2-40B4-BE49-F238E27FC236}">
                    <a16:creationId xmlns:a16="http://schemas.microsoft.com/office/drawing/2014/main" id="{57FCBBA6-3D6E-4193-A526-C1CC6FA761FF}"/>
                  </a:ext>
                </a:extLst>
              </p:cNvPr>
              <p:cNvSpPr txBox="1">
                <a:spLocks noRot="1" noChangeAspect="1" noMove="1" noResize="1" noEditPoints="1" noAdjustHandles="1" noChangeArrowheads="1" noChangeShapeType="1" noTextEdit="1"/>
              </p:cNvSpPr>
              <p:nvPr/>
            </p:nvSpPr>
            <p:spPr>
              <a:xfrm>
                <a:off x="1951913" y="982937"/>
                <a:ext cx="9440337" cy="7786747"/>
              </a:xfrm>
              <a:prstGeom prst="rect">
                <a:avLst/>
              </a:prstGeom>
              <a:blipFill>
                <a:blip r:embed="rId3"/>
                <a:stretch>
                  <a:fillRect l="-839"/>
                </a:stretch>
              </a:blipFill>
            </p:spPr>
            <p:txBody>
              <a:bodyPr/>
              <a:lstStyle/>
              <a:p>
                <a:r>
                  <a:rPr lang="en-US">
                    <a:noFill/>
                  </a:rPr>
                  <a:t> </a:t>
                </a:r>
              </a:p>
            </p:txBody>
          </p:sp>
        </mc:Fallback>
      </mc:AlternateContent>
    </p:spTree>
    <p:extLst>
      <p:ext uri="{BB962C8B-B14F-4D97-AF65-F5344CB8AC3E}">
        <p14:creationId xmlns:p14="http://schemas.microsoft.com/office/powerpoint/2010/main" val="171200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405364" y="706740"/>
            <a:ext cx="8593122" cy="646331"/>
          </a:xfrm>
          <a:prstGeom prst="rect">
            <a:avLst/>
          </a:prstGeom>
          <a:noFill/>
        </p:spPr>
        <p:txBody>
          <a:bodyPr wrap="none" rtlCol="0">
            <a:spAutoFit/>
          </a:bodyPr>
          <a:lstStyle/>
          <a:p>
            <a:r>
              <a:rPr lang="en-US" sz="3600" dirty="0"/>
              <a:t>Simple Collision – Basic Particle Mathematics</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7FCBBA6-3D6E-4193-A526-C1CC6FA761FF}"/>
                  </a:ext>
                </a:extLst>
              </p:cNvPr>
              <p:cNvSpPr txBox="1"/>
              <p:nvPr/>
            </p:nvSpPr>
            <p:spPr>
              <a:xfrm>
                <a:off x="1951913" y="982937"/>
                <a:ext cx="9440337" cy="7663636"/>
              </a:xfrm>
              <a:prstGeom prst="rect">
                <a:avLst/>
              </a:prstGeom>
              <a:noFill/>
            </p:spPr>
            <p:txBody>
              <a:bodyPr wrap="square" rtlCol="0">
                <a:spAutoFit/>
              </a:bodyPr>
              <a:lstStyle/>
              <a:p>
                <a:endParaRPr lang="en-US" sz="2000" b="1" dirty="0"/>
              </a:p>
              <a:p>
                <a:endParaRPr lang="en-US" sz="2400" dirty="0"/>
              </a:p>
              <a:p>
                <a:pPr marL="285750" indent="-285750">
                  <a:buFont typeface="Arial" panose="020B0604020202020204" pitchFamily="34" charset="0"/>
                  <a:buChar char="•"/>
                </a:pPr>
                <a:r>
                  <a:rPr lang="en-US" sz="2400" dirty="0">
                    <a:solidFill>
                      <a:schemeClr val="accent4"/>
                    </a:solidFill>
                  </a:rPr>
                  <a:t>Acceleration</a:t>
                </a:r>
                <a:r>
                  <a:rPr lang="en-US" sz="2400" dirty="0"/>
                  <a:t> can be expressed as a derivative of the velocity over time:</a:t>
                </a:r>
                <a:br>
                  <a:rPr lang="en-US" sz="2400" dirty="0"/>
                </a:br>
                <a:endParaRPr lang="en-US" sz="2400" dirty="0"/>
              </a:p>
              <a:p>
                <a:pPr marL="742950" lvl="1" indent="-285750">
                  <a:buFont typeface="Arial" panose="020B0604020202020204" pitchFamily="34" charset="0"/>
                  <a:buChar char="•"/>
                </a:pPr>
                <a14:m>
                  <m:oMath xmlns:m="http://schemas.openxmlformats.org/officeDocument/2006/math">
                    <m:func>
                      <m:funcPr>
                        <m:ctrlPr>
                          <a:rPr lang="pt-BR" sz="2400" b="0" i="1" smtClean="0">
                            <a:latin typeface="Cambria Math" panose="02040503050406030204" pitchFamily="18" charset="0"/>
                          </a:rPr>
                        </m:ctrlPr>
                      </m:funcPr>
                      <m:fName>
                        <m:limLow>
                          <m:limLowPr>
                            <m:ctrlPr>
                              <a:rPr lang="pt-BR" sz="2400" b="0" i="1" smtClean="0">
                                <a:latin typeface="Cambria Math" panose="02040503050406030204" pitchFamily="18" charset="0"/>
                              </a:rPr>
                            </m:ctrlPr>
                          </m:limLowPr>
                          <m:e>
                            <m:r>
                              <m:rPr>
                                <m:sty m:val="p"/>
                              </m:rPr>
                              <a:rPr lang="pt-BR" sz="2400" b="0" i="0" smtClean="0">
                                <a:latin typeface="Cambria Math" panose="02040503050406030204" pitchFamily="18" charset="0"/>
                              </a:rPr>
                              <m:t>lim</m:t>
                            </m:r>
                          </m:e>
                          <m:lim>
                            <m:r>
                              <a:rPr lang="pt-BR"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𝑡</m:t>
                            </m:r>
                            <m:r>
                              <a:rPr lang="pt-BR" sz="2400" b="0" i="1" smtClean="0">
                                <a:latin typeface="Cambria Math" panose="02040503050406030204" pitchFamily="18" charset="0"/>
                              </a:rPr>
                              <m:t>→</m:t>
                            </m:r>
                            <m:r>
                              <a:rPr lang="en-US" sz="2400" b="0" i="1" smtClean="0">
                                <a:latin typeface="Cambria Math" panose="02040503050406030204" pitchFamily="18" charset="0"/>
                              </a:rPr>
                              <m:t>0</m:t>
                            </m:r>
                          </m:lim>
                        </m:limLow>
                      </m:fName>
                      <m:e>
                        <m:r>
                          <a:rPr lang="pt-BR"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𝑣</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𝑇</m:t>
                        </m:r>
                      </m:e>
                    </m:func>
                  </m:oMath>
                </a14:m>
                <a:r>
                  <a:rPr lang="en-US" sz="2400" b="0" dirty="0"/>
                  <a:t>   -or-</a:t>
                </a:r>
              </a:p>
              <a:p>
                <a:pPr marL="742950" lvl="1" indent="-285750">
                  <a:buFont typeface="Arial" panose="020B0604020202020204" pitchFamily="34" charset="0"/>
                  <a:buChar char="•"/>
                </a:pPr>
                <a:r>
                  <a:rPr lang="en-US" sz="2400" dirty="0"/>
                  <a:t>dv/</a:t>
                </a:r>
                <a:r>
                  <a:rPr lang="en-US" sz="2400" dirty="0" err="1"/>
                  <a:t>dt</a:t>
                </a:r>
                <a:br>
                  <a:rPr lang="en-US" sz="2400" dirty="0"/>
                </a:br>
                <a:endParaRPr lang="en-US" sz="2400" dirty="0"/>
              </a:p>
              <a:p>
                <a:pPr marL="285750" indent="-285750">
                  <a:buFont typeface="Arial" panose="020B0604020202020204" pitchFamily="34" charset="0"/>
                  <a:buChar char="•"/>
                </a:pPr>
                <a:r>
                  <a:rPr lang="en-US" sz="2400" dirty="0"/>
                  <a:t>Integration is the inverse of the derivative, If we integrate acceleration we can get back velocity.</a:t>
                </a:r>
                <a:br>
                  <a:rPr lang="en-US" sz="2400" dirty="0"/>
                </a:br>
                <a:endParaRPr lang="en-US" sz="2400" dirty="0"/>
              </a:p>
              <a:p>
                <a:pPr marL="742950" lvl="1" indent="-285750">
                  <a:buFont typeface="Arial" panose="020B0604020202020204" pitchFamily="34" charset="0"/>
                  <a:buChar char="•"/>
                </a:pPr>
                <a:r>
                  <a:rPr lang="en-US" sz="2400" dirty="0">
                    <a:solidFill>
                      <a:schemeClr val="accent4"/>
                    </a:solidFill>
                  </a:rPr>
                  <a:t>v’ = v + at</a:t>
                </a:r>
                <a:r>
                  <a:rPr lang="en-US" sz="2400" dirty="0"/>
                  <a:t>       (v and a are vectors)</a:t>
                </a:r>
              </a:p>
              <a:p>
                <a:pPr marL="742950" lvl="1" indent="-285750">
                  <a:buFont typeface="Arial" panose="020B0604020202020204" pitchFamily="34" charset="0"/>
                  <a:buChar char="•"/>
                </a:pPr>
                <a:endParaRPr lang="en-US" sz="2400" dirty="0"/>
              </a:p>
              <a:p>
                <a:r>
                  <a:rPr lang="en-US" sz="2000" dirty="0"/>
                  <a:t>*Where v is the particles velocity (</a:t>
                </a:r>
                <a:r>
                  <a:rPr lang="en-US" sz="2000" dirty="0" err="1"/>
                  <a:t>v.x</a:t>
                </a:r>
                <a:r>
                  <a:rPr lang="en-US" sz="2000" dirty="0"/>
                  <a:t>, </a:t>
                </a:r>
                <a:r>
                  <a:rPr lang="en-US" sz="2000" dirty="0" err="1"/>
                  <a:t>v.y</a:t>
                </a:r>
                <a:r>
                  <a:rPr lang="en-US" sz="2000" dirty="0"/>
                  <a:t>, </a:t>
                </a:r>
                <a:r>
                  <a:rPr lang="en-US" sz="2000" dirty="0" err="1"/>
                  <a:t>v.zz</a:t>
                </a:r>
                <a:r>
                  <a:rPr lang="en-US" sz="2000" dirty="0"/>
                  <a:t>) and v’ is it’s updated velocity over the time interval t, given acceleration a.</a:t>
                </a:r>
              </a:p>
              <a:p>
                <a:pPr marL="285750" indent="-285750">
                  <a:buFont typeface="Arial" panose="020B0604020202020204" pitchFamily="34" charset="0"/>
                  <a:buChar char="•"/>
                </a:pPr>
                <a:endParaRPr lang="en-US" sz="2400" dirty="0"/>
              </a:p>
              <a:p>
                <a:pPr marL="742950" lvl="1" indent="-285750">
                  <a:buFont typeface="Arial" panose="020B0604020202020204" pitchFamily="34" charset="0"/>
                  <a:buChar char="•"/>
                </a:pPr>
                <a:endParaRPr lang="en-US" sz="2400" dirty="0"/>
              </a:p>
              <a:p>
                <a:pPr lvl="1"/>
                <a:endParaRPr lang="en-US" sz="2400" dirty="0"/>
              </a:p>
              <a:p>
                <a:pPr lvl="1"/>
                <a:endParaRPr lang="en-US" sz="2400" dirty="0"/>
              </a:p>
              <a:p>
                <a:pPr lvl="1"/>
                <a:br>
                  <a:rPr lang="en-US" dirty="0"/>
                </a:br>
                <a:endParaRPr lang="en-US" dirty="0"/>
              </a:p>
              <a:p>
                <a:endParaRPr lang="en-US" dirty="0"/>
              </a:p>
              <a:p>
                <a:pPr marL="285750" indent="-285750">
                  <a:buFont typeface="Arial" panose="020B0604020202020204" pitchFamily="34" charset="0"/>
                  <a:buChar char="•"/>
                </a:pPr>
                <a:endParaRPr lang="en-US" dirty="0"/>
              </a:p>
            </p:txBody>
          </p:sp>
        </mc:Choice>
        <mc:Fallback xmlns="">
          <p:sp>
            <p:nvSpPr>
              <p:cNvPr id="8" name="TextBox 7">
                <a:extLst>
                  <a:ext uri="{FF2B5EF4-FFF2-40B4-BE49-F238E27FC236}">
                    <a16:creationId xmlns:a16="http://schemas.microsoft.com/office/drawing/2014/main" id="{57FCBBA6-3D6E-4193-A526-C1CC6FA761FF}"/>
                  </a:ext>
                </a:extLst>
              </p:cNvPr>
              <p:cNvSpPr txBox="1">
                <a:spLocks noRot="1" noChangeAspect="1" noMove="1" noResize="1" noEditPoints="1" noAdjustHandles="1" noChangeArrowheads="1" noChangeShapeType="1" noTextEdit="1"/>
              </p:cNvSpPr>
              <p:nvPr/>
            </p:nvSpPr>
            <p:spPr>
              <a:xfrm>
                <a:off x="1951913" y="982937"/>
                <a:ext cx="9440337" cy="7663636"/>
              </a:xfrm>
              <a:prstGeom prst="rect">
                <a:avLst/>
              </a:prstGeom>
              <a:blipFill>
                <a:blip r:embed="rId3"/>
                <a:stretch>
                  <a:fillRect l="-839" r="-904"/>
                </a:stretch>
              </a:blipFill>
            </p:spPr>
            <p:txBody>
              <a:bodyPr/>
              <a:lstStyle/>
              <a:p>
                <a:r>
                  <a:rPr lang="en-US">
                    <a:noFill/>
                  </a:rPr>
                  <a:t> </a:t>
                </a:r>
              </a:p>
            </p:txBody>
          </p:sp>
        </mc:Fallback>
      </mc:AlternateContent>
    </p:spTree>
    <p:extLst>
      <p:ext uri="{BB962C8B-B14F-4D97-AF65-F5344CB8AC3E}">
        <p14:creationId xmlns:p14="http://schemas.microsoft.com/office/powerpoint/2010/main" val="3054697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4491935" cy="646331"/>
          </a:xfrm>
          <a:prstGeom prst="rect">
            <a:avLst/>
          </a:prstGeom>
          <a:noFill/>
        </p:spPr>
        <p:txBody>
          <a:bodyPr wrap="none" rtlCol="0">
            <a:spAutoFit/>
          </a:bodyPr>
          <a:lstStyle/>
          <a:p>
            <a:r>
              <a:rPr lang="en-US" sz="3600" dirty="0"/>
              <a:t>Basic Particle Structure</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658250" y="1102578"/>
            <a:ext cx="8635041" cy="5755422"/>
          </a:xfrm>
          <a:prstGeom prst="rect">
            <a:avLst/>
          </a:prstGeom>
          <a:noFill/>
        </p:spPr>
        <p:txBody>
          <a:bodyPr wrap="square" rtlCol="0">
            <a:spAutoFit/>
          </a:bodyPr>
          <a:lstStyle/>
          <a:p>
            <a:r>
              <a:rPr lang="en-US" sz="2000" dirty="0"/>
              <a:t>Class Particle   {</a:t>
            </a:r>
          </a:p>
          <a:p>
            <a:r>
              <a:rPr lang="en-US" sz="2000" dirty="0"/>
              <a:t>   </a:t>
            </a:r>
          </a:p>
          <a:p>
            <a:r>
              <a:rPr lang="en-US" sz="2000" dirty="0"/>
              <a:t>      ofVec3f   position;           // position of the particle in world space</a:t>
            </a:r>
          </a:p>
          <a:p>
            <a:endParaRPr lang="en-US" sz="2000" dirty="0"/>
          </a:p>
          <a:p>
            <a:r>
              <a:rPr lang="en-US" sz="2000" dirty="0"/>
              <a:t>      ofVec3f    velocity;          // current velocity of particle</a:t>
            </a:r>
          </a:p>
          <a:p>
            <a:endParaRPr lang="en-US" sz="2000" dirty="0"/>
          </a:p>
          <a:p>
            <a:r>
              <a:rPr lang="en-US" sz="2000" dirty="0"/>
              <a:t>      ofVec3f     accel;              //  current acceleration of particle</a:t>
            </a:r>
          </a:p>
          <a:p>
            <a:endParaRPr lang="en-US" sz="2000" dirty="0"/>
          </a:p>
          <a:p>
            <a:r>
              <a:rPr lang="en-US" sz="2000" dirty="0"/>
              <a:t>      float          damping;        // damping</a:t>
            </a:r>
          </a:p>
          <a:p>
            <a:r>
              <a:rPr lang="en-US" sz="2000" dirty="0"/>
              <a:t>      float           mass;              // mass</a:t>
            </a:r>
          </a:p>
          <a:p>
            <a:r>
              <a:rPr lang="en-US" sz="2000" dirty="0"/>
              <a:t>}</a:t>
            </a:r>
          </a:p>
          <a:p>
            <a:endParaRPr lang="en-US" sz="2000" b="1" dirty="0"/>
          </a:p>
          <a:p>
            <a:pPr marL="342900" indent="-342900">
              <a:buFont typeface="Arial" panose="020B0604020202020204" pitchFamily="34" charset="0"/>
              <a:buChar char="•"/>
            </a:pPr>
            <a:r>
              <a:rPr lang="en-US" sz="2000" dirty="0"/>
              <a:t>Speed is the magnitude of velocity, so we won’t keep an extra element</a:t>
            </a:r>
          </a:p>
          <a:p>
            <a:pPr marL="342900" indent="-342900">
              <a:buFont typeface="Arial" panose="020B0604020202020204" pitchFamily="34" charset="0"/>
              <a:buChar char="•"/>
            </a:pPr>
            <a:r>
              <a:rPr lang="en-US" dirty="0"/>
              <a:t>Even though we may use particles in 2D or 3D, we will do all of our calculations in 3D world space.  It is not that expensive to carry the extra component and our code will work in both 2D and 3D games.</a:t>
            </a:r>
          </a:p>
          <a:p>
            <a:pPr marL="342900" indent="-342900">
              <a:buFont typeface="Arial" panose="020B0604020202020204" pitchFamily="34" charset="0"/>
              <a:buChar char="•"/>
            </a:pPr>
            <a:r>
              <a:rPr lang="en-US" dirty="0"/>
              <a:t>We try to keep our particle object very lightweight as we may have many of them.</a:t>
            </a:r>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610757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4491935" cy="646331"/>
          </a:xfrm>
          <a:prstGeom prst="rect">
            <a:avLst/>
          </a:prstGeom>
          <a:noFill/>
        </p:spPr>
        <p:txBody>
          <a:bodyPr wrap="none" rtlCol="0">
            <a:spAutoFit/>
          </a:bodyPr>
          <a:lstStyle/>
          <a:p>
            <a:r>
              <a:rPr lang="en-US" sz="3600" dirty="0"/>
              <a:t>Basic Particle Structure</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658250" y="1102578"/>
            <a:ext cx="8635041" cy="3077766"/>
          </a:xfrm>
          <a:prstGeom prst="rect">
            <a:avLst/>
          </a:prstGeom>
          <a:noFill/>
        </p:spPr>
        <p:txBody>
          <a:bodyPr wrap="square" rtlCol="0">
            <a:spAutoFit/>
          </a:bodyPr>
          <a:lstStyle/>
          <a:p>
            <a:endParaRPr lang="en-US" sz="2000" b="1"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sz="2000" dirty="0">
                <a:solidFill>
                  <a:schemeClr val="accent4"/>
                </a:solidFill>
              </a:rPr>
              <a:t>Damping</a:t>
            </a:r>
          </a:p>
          <a:p>
            <a:pPr marL="800100" lvl="1" indent="-342900">
              <a:buFont typeface="Arial" panose="020B0604020202020204" pitchFamily="34" charset="0"/>
              <a:buChar char="•"/>
            </a:pPr>
            <a:r>
              <a:rPr lang="en-US" sz="2000" dirty="0"/>
              <a:t>Provides “drag” in the system so particles don’t move forever.</a:t>
            </a:r>
          </a:p>
          <a:p>
            <a:pPr marL="800100" lvl="1" indent="-342900">
              <a:buFont typeface="Arial" panose="020B0604020202020204" pitchFamily="34" charset="0"/>
              <a:buChar char="•"/>
            </a:pPr>
            <a:r>
              <a:rPr lang="en-US" sz="2000" dirty="0"/>
              <a:t>At each time step, removes a small amount of velocity.</a:t>
            </a:r>
          </a:p>
          <a:p>
            <a:pPr marL="800100" lvl="1" indent="-342900">
              <a:buFont typeface="Arial" panose="020B0604020202020204" pitchFamily="34" charset="0"/>
              <a:buChar char="•"/>
            </a:pPr>
            <a:r>
              <a:rPr lang="en-US" sz="2000" dirty="0"/>
              <a:t>We could implement drag as an external force, but for now, let’s add it to the particle to add some stability to the calculations. We will see how this is done.</a:t>
            </a:r>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228821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fade">
                                      <p:cBhvr>
                                        <p:cTn id="7" dur="500"/>
                                        <p:tgtEl>
                                          <p:spTgt spid="8">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4" end="4"/>
                                            </p:txEl>
                                          </p:spTgt>
                                        </p:tgtEl>
                                        <p:attrNameLst>
                                          <p:attrName>style.visibility</p:attrName>
                                        </p:attrNameLst>
                                      </p:cBhvr>
                                      <p:to>
                                        <p:strVal val="visible"/>
                                      </p:to>
                                    </p:set>
                                    <p:animEffect transition="in" filter="fade">
                                      <p:cBhvr>
                                        <p:cTn id="12" dur="500"/>
                                        <p:tgtEl>
                                          <p:spTgt spid="8">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5" end="5"/>
                                            </p:txEl>
                                          </p:spTgt>
                                        </p:tgtEl>
                                        <p:attrNameLst>
                                          <p:attrName>style.visibility</p:attrName>
                                        </p:attrNameLst>
                                      </p:cBhvr>
                                      <p:to>
                                        <p:strVal val="visible"/>
                                      </p:to>
                                    </p:set>
                                    <p:animEffect transition="in" filter="fade">
                                      <p:cBhvr>
                                        <p:cTn id="17"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4813241" cy="646331"/>
          </a:xfrm>
          <a:prstGeom prst="rect">
            <a:avLst/>
          </a:prstGeom>
          <a:noFill/>
        </p:spPr>
        <p:txBody>
          <a:bodyPr wrap="none" rtlCol="0">
            <a:spAutoFit/>
          </a:bodyPr>
          <a:lstStyle/>
          <a:p>
            <a:r>
              <a:rPr lang="en-US" sz="3600" dirty="0"/>
              <a:t>Basic Particle Integration</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658250" y="1102578"/>
            <a:ext cx="8635041" cy="4678204"/>
          </a:xfrm>
          <a:prstGeom prst="rect">
            <a:avLst/>
          </a:prstGeom>
          <a:noFill/>
        </p:spPr>
        <p:txBody>
          <a:bodyPr wrap="square" rtlCol="0">
            <a:spAutoFit/>
          </a:bodyPr>
          <a:lstStyle/>
          <a:p>
            <a:endParaRPr lang="en-US" sz="2000" b="1"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sz="2400" dirty="0">
                <a:solidFill>
                  <a:schemeClr val="accent4"/>
                </a:solidFill>
              </a:rPr>
              <a:t>Integrator</a:t>
            </a:r>
          </a:p>
          <a:p>
            <a:pPr marL="800100" lvl="1" indent="-342900">
              <a:buFont typeface="Arial" panose="020B0604020202020204" pitchFamily="34" charset="0"/>
              <a:buChar char="•"/>
            </a:pPr>
            <a:r>
              <a:rPr lang="en-US" sz="2000" dirty="0"/>
              <a:t>We need a very mechanism calculating a particles position and velocity at each time step (each frame)</a:t>
            </a:r>
          </a:p>
          <a:p>
            <a:pPr marL="800100" lvl="1" indent="-342900">
              <a:buFont typeface="Arial" panose="020B0604020202020204" pitchFamily="34" charset="0"/>
              <a:buChar char="•"/>
            </a:pPr>
            <a:r>
              <a:rPr lang="en-US" sz="2000" dirty="0"/>
              <a:t>It need to be simple/fast</a:t>
            </a:r>
          </a:p>
          <a:p>
            <a:pPr marL="800100" lvl="1" indent="-342900">
              <a:buFont typeface="Arial" panose="020B0604020202020204" pitchFamily="34" charset="0"/>
              <a:buChar char="•"/>
            </a:pPr>
            <a:r>
              <a:rPr lang="en-US" sz="2000" dirty="0"/>
              <a:t>We can use the mathematics we have learned</a:t>
            </a:r>
          </a:p>
          <a:p>
            <a:pPr marL="1257300" lvl="2" indent="-342900">
              <a:buFont typeface="Arial" panose="020B0604020202020204" pitchFamily="34" charset="0"/>
              <a:buChar char="•"/>
            </a:pPr>
            <a:r>
              <a:rPr lang="en-US" sz="2000" dirty="0">
                <a:solidFill>
                  <a:schemeClr val="accent5"/>
                </a:solidFill>
              </a:rPr>
              <a:t>Position, Velocity and Acceleration  </a:t>
            </a:r>
          </a:p>
          <a:p>
            <a:pPr marL="1257300" lvl="2" indent="-342900">
              <a:buFont typeface="Arial" panose="020B0604020202020204" pitchFamily="34" charset="0"/>
              <a:buChar char="•"/>
            </a:pPr>
            <a:r>
              <a:rPr lang="en-US" sz="2000" dirty="0"/>
              <a:t>Gravity and Mass (we will get to this shortly but for right now we will  consider gravity a constant acceleration and we will not worry about mass yet until we talk about forces.)</a:t>
            </a:r>
          </a:p>
          <a:p>
            <a:pPr marL="800100" lvl="1" indent="-342900">
              <a:buFont typeface="Arial" panose="020B0604020202020204" pitchFamily="34" charset="0"/>
              <a:buChar char="•"/>
            </a:pPr>
            <a:r>
              <a:rPr lang="en-US" sz="2000" dirty="0"/>
              <a:t>An integrator can work amazing well with ballistic particles in just a few lines of code – AMAZING..</a:t>
            </a:r>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520589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500"/>
                                        <p:tgtEl>
                                          <p:spTgt spid="8">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500"/>
                                        <p:tgtEl>
                                          <p:spTgt spid="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5" end="5"/>
                                            </p:txEl>
                                          </p:spTgt>
                                        </p:tgtEl>
                                        <p:attrNameLst>
                                          <p:attrName>style.visibility</p:attrName>
                                        </p:attrNameLst>
                                      </p:cBhvr>
                                      <p:to>
                                        <p:strVal val="visible"/>
                                      </p:to>
                                    </p:set>
                                    <p:animEffect transition="in" filter="fade">
                                      <p:cBhvr>
                                        <p:cTn id="22" dur="500"/>
                                        <p:tgtEl>
                                          <p:spTgt spid="8">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animEffect transition="in" filter="fade">
                                      <p:cBhvr>
                                        <p:cTn id="27" dur="500"/>
                                        <p:tgtEl>
                                          <p:spTgt spid="8">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7" end="7"/>
                                            </p:txEl>
                                          </p:spTgt>
                                        </p:tgtEl>
                                        <p:attrNameLst>
                                          <p:attrName>style.visibility</p:attrName>
                                        </p:attrNameLst>
                                      </p:cBhvr>
                                      <p:to>
                                        <p:strVal val="visible"/>
                                      </p:to>
                                    </p:set>
                                    <p:animEffect transition="in" filter="fade">
                                      <p:cBhvr>
                                        <p:cTn id="32" dur="500"/>
                                        <p:tgtEl>
                                          <p:spTgt spid="8">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pRg st="8" end="8"/>
                                            </p:txEl>
                                          </p:spTgt>
                                        </p:tgtEl>
                                        <p:attrNameLst>
                                          <p:attrName>style.visibility</p:attrName>
                                        </p:attrNameLst>
                                      </p:cBhvr>
                                      <p:to>
                                        <p:strVal val="visible"/>
                                      </p:to>
                                    </p:set>
                                    <p:animEffect transition="in" filter="fade">
                                      <p:cBhvr>
                                        <p:cTn id="37" dur="5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3727880" cy="646331"/>
          </a:xfrm>
          <a:prstGeom prst="rect">
            <a:avLst/>
          </a:prstGeom>
          <a:noFill/>
        </p:spPr>
        <p:txBody>
          <a:bodyPr wrap="none" rtlCol="0">
            <a:spAutoFit/>
          </a:bodyPr>
          <a:lstStyle/>
          <a:p>
            <a:r>
              <a:rPr lang="en-US" sz="3600" dirty="0"/>
              <a:t> Integrator Steps   </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658250" y="1102578"/>
            <a:ext cx="8635041" cy="4462760"/>
          </a:xfrm>
          <a:prstGeom prst="rect">
            <a:avLst/>
          </a:prstGeom>
          <a:noFill/>
        </p:spPr>
        <p:txBody>
          <a:bodyPr wrap="square" rtlCol="0">
            <a:spAutoFit/>
          </a:bodyPr>
          <a:lstStyle/>
          <a:p>
            <a:endParaRPr lang="en-US" sz="2000" b="1" dirty="0"/>
          </a:p>
          <a:p>
            <a:pPr marL="342900" indent="-342900">
              <a:buFont typeface="Arial" panose="020B0604020202020204" pitchFamily="34" charset="0"/>
              <a:buChar char="•"/>
            </a:pPr>
            <a:r>
              <a:rPr lang="en-US" dirty="0"/>
              <a:t>Position, Velocity and Acceleration are </a:t>
            </a:r>
            <a:r>
              <a:rPr lang="en-US" dirty="0">
                <a:solidFill>
                  <a:schemeClr val="accent5"/>
                </a:solidFill>
              </a:rPr>
              <a:t>vectors</a:t>
            </a:r>
            <a:endParaRPr lang="en-US" dirty="0"/>
          </a:p>
          <a:p>
            <a:pPr marL="342900" indent="-342900">
              <a:buFont typeface="Arial" panose="020B0604020202020204" pitchFamily="34" charset="0"/>
              <a:buChar char="•"/>
            </a:pPr>
            <a:r>
              <a:rPr lang="en-US" i="1" dirty="0" err="1"/>
              <a:t>dt</a:t>
            </a:r>
            <a:r>
              <a:rPr lang="en-US" dirty="0"/>
              <a:t> is a </a:t>
            </a:r>
            <a:r>
              <a:rPr lang="en-US" dirty="0">
                <a:solidFill>
                  <a:schemeClr val="accent5"/>
                </a:solidFill>
              </a:rPr>
              <a:t>scalar .  </a:t>
            </a:r>
            <a:r>
              <a:rPr lang="en-US" dirty="0"/>
              <a:t>We can use the time interval between each frame</a:t>
            </a:r>
          </a:p>
          <a:p>
            <a:pPr marL="342900" indent="-342900">
              <a:buFont typeface="Arial" panose="020B0604020202020204" pitchFamily="34" charset="0"/>
              <a:buChar char="•"/>
            </a:pPr>
            <a:r>
              <a:rPr lang="en-US" dirty="0"/>
              <a:t>Damping is a </a:t>
            </a:r>
            <a:r>
              <a:rPr lang="en-US" dirty="0">
                <a:solidFill>
                  <a:schemeClr val="accent5"/>
                </a:solidFill>
              </a:rPr>
              <a:t>scalar.</a:t>
            </a:r>
          </a:p>
          <a:p>
            <a:pPr marL="342900" indent="-342900">
              <a:buFont typeface="Arial" panose="020B0604020202020204" pitchFamily="34" charset="0"/>
              <a:buChar char="•"/>
            </a:pPr>
            <a:endParaRPr lang="en-US" sz="2400" dirty="0">
              <a:solidFill>
                <a:schemeClr val="accent4"/>
              </a:solidFill>
            </a:endParaRPr>
          </a:p>
          <a:p>
            <a:pPr lvl="1"/>
            <a:r>
              <a:rPr lang="en-US" sz="2000" dirty="0"/>
              <a:t>// Basic Algorithm for Simple Particle Integrator</a:t>
            </a:r>
          </a:p>
          <a:p>
            <a:pPr lvl="1"/>
            <a:r>
              <a:rPr lang="en-US" sz="2000" dirty="0"/>
              <a:t>//</a:t>
            </a:r>
          </a:p>
          <a:p>
            <a:pPr marL="800100" lvl="1" indent="-342900">
              <a:buFont typeface="Arial" panose="020B0604020202020204" pitchFamily="34" charset="0"/>
              <a:buChar char="•"/>
            </a:pPr>
            <a:r>
              <a:rPr lang="en-US" sz="2000" dirty="0"/>
              <a:t>At each </a:t>
            </a:r>
            <a:r>
              <a:rPr lang="en-US" sz="2000" dirty="0">
                <a:solidFill>
                  <a:schemeClr val="accent5"/>
                </a:solidFill>
              </a:rPr>
              <a:t>frame</a:t>
            </a:r>
            <a:r>
              <a:rPr lang="en-US" sz="2000" dirty="0"/>
              <a:t> , update each </a:t>
            </a:r>
            <a:r>
              <a:rPr lang="en-US" sz="2000" dirty="0">
                <a:solidFill>
                  <a:schemeClr val="accent5"/>
                </a:solidFill>
              </a:rPr>
              <a:t>Particle</a:t>
            </a:r>
            <a:r>
              <a:rPr lang="en-US" sz="2000" dirty="0"/>
              <a:t>:</a:t>
            </a:r>
          </a:p>
          <a:p>
            <a:pPr marL="1257300" lvl="2" indent="-342900">
              <a:buFont typeface="Arial" panose="020B0604020202020204" pitchFamily="34" charset="0"/>
              <a:buChar char="•"/>
            </a:pPr>
            <a:r>
              <a:rPr lang="en-US" dirty="0"/>
              <a:t>Compute new position of particle based on velocity and time step</a:t>
            </a:r>
          </a:p>
          <a:p>
            <a:pPr marL="1714500" lvl="3" indent="-342900">
              <a:buFont typeface="Arial" panose="020B0604020202020204" pitchFamily="34" charset="0"/>
              <a:buChar char="•"/>
            </a:pPr>
            <a:r>
              <a:rPr lang="en-US" dirty="0"/>
              <a:t>position = position + velocity * </a:t>
            </a:r>
            <a:r>
              <a:rPr lang="en-US" i="1" dirty="0" err="1"/>
              <a:t>dt</a:t>
            </a:r>
            <a:r>
              <a:rPr lang="en-US" dirty="0"/>
              <a:t>;</a:t>
            </a:r>
          </a:p>
          <a:p>
            <a:pPr marL="1257300" lvl="2" indent="-342900">
              <a:buFont typeface="Arial" panose="020B0604020202020204" pitchFamily="34" charset="0"/>
              <a:buChar char="•"/>
            </a:pPr>
            <a:r>
              <a:rPr lang="en-US" dirty="0"/>
              <a:t>Compute new velocity of particle based on acceleration and time step</a:t>
            </a:r>
          </a:p>
          <a:p>
            <a:pPr marL="1714500" lvl="3" indent="-342900">
              <a:buFont typeface="Arial" panose="020B0604020202020204" pitchFamily="34" charset="0"/>
              <a:buChar char="•"/>
            </a:pPr>
            <a:r>
              <a:rPr lang="en-US" dirty="0"/>
              <a:t>Velocity = velocity + acceleration * </a:t>
            </a:r>
            <a:r>
              <a:rPr lang="en-US" i="1" dirty="0" err="1"/>
              <a:t>dt</a:t>
            </a:r>
            <a:r>
              <a:rPr lang="en-US" dirty="0"/>
              <a:t>;</a:t>
            </a:r>
          </a:p>
          <a:p>
            <a:pPr marL="1257300" lvl="2" indent="-342900">
              <a:buFont typeface="Arial" panose="020B0604020202020204" pitchFamily="34" charset="0"/>
              <a:buChar char="•"/>
            </a:pPr>
            <a:r>
              <a:rPr lang="en-US" dirty="0"/>
              <a:t>Damp Velocity</a:t>
            </a:r>
          </a:p>
          <a:p>
            <a:pPr marL="1714500" lvl="3" indent="-342900">
              <a:buFont typeface="Arial" panose="020B0604020202020204" pitchFamily="34" charset="0"/>
              <a:buChar char="•"/>
            </a:pPr>
            <a:r>
              <a:rPr lang="en-US" dirty="0"/>
              <a:t>Velocity = velocity * </a:t>
            </a:r>
            <a:r>
              <a:rPr lang="en-US" i="1" dirty="0"/>
              <a:t>damping</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619020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7" end="7"/>
                                            </p:txEl>
                                          </p:spTgt>
                                        </p:tgtEl>
                                        <p:attrNameLst>
                                          <p:attrName>style.visibility</p:attrName>
                                        </p:attrNameLst>
                                      </p:cBhvr>
                                      <p:to>
                                        <p:strVal val="visible"/>
                                      </p:to>
                                    </p:set>
                                    <p:animEffect transition="in" filter="fade">
                                      <p:cBhvr>
                                        <p:cTn id="7" dur="500"/>
                                        <p:tgtEl>
                                          <p:spTgt spid="8">
                                            <p:txEl>
                                              <p:pRg st="7"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animEffect transition="in" filter="fade">
                                      <p:cBhvr>
                                        <p:cTn id="27" dur="500"/>
                                        <p:tgtEl>
                                          <p:spTgt spid="8">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6" end="6"/>
                                            </p:txEl>
                                          </p:spTgt>
                                        </p:tgtEl>
                                        <p:attrNameLst>
                                          <p:attrName>style.visibility</p:attrName>
                                        </p:attrNameLst>
                                      </p:cBhvr>
                                      <p:to>
                                        <p:strVal val="visible"/>
                                      </p:to>
                                    </p:set>
                                    <p:animEffect transition="in" filter="fade">
                                      <p:cBhvr>
                                        <p:cTn id="32" dur="500"/>
                                        <p:tgtEl>
                                          <p:spTgt spid="8">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pRg st="8" end="8"/>
                                            </p:txEl>
                                          </p:spTgt>
                                        </p:tgtEl>
                                        <p:attrNameLst>
                                          <p:attrName>style.visibility</p:attrName>
                                        </p:attrNameLst>
                                      </p:cBhvr>
                                      <p:to>
                                        <p:strVal val="visible"/>
                                      </p:to>
                                    </p:set>
                                    <p:animEffect transition="in" filter="fade">
                                      <p:cBhvr>
                                        <p:cTn id="37" dur="500"/>
                                        <p:tgtEl>
                                          <p:spTgt spid="8">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
                                            <p:txEl>
                                              <p:pRg st="9" end="9"/>
                                            </p:txEl>
                                          </p:spTgt>
                                        </p:tgtEl>
                                        <p:attrNameLst>
                                          <p:attrName>style.visibility</p:attrName>
                                        </p:attrNameLst>
                                      </p:cBhvr>
                                      <p:to>
                                        <p:strVal val="visible"/>
                                      </p:to>
                                    </p:set>
                                    <p:animEffect transition="in" filter="fade">
                                      <p:cBhvr>
                                        <p:cTn id="42" dur="500"/>
                                        <p:tgtEl>
                                          <p:spTgt spid="8">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
                                            <p:txEl>
                                              <p:pRg st="10" end="10"/>
                                            </p:txEl>
                                          </p:spTgt>
                                        </p:tgtEl>
                                        <p:attrNameLst>
                                          <p:attrName>style.visibility</p:attrName>
                                        </p:attrNameLst>
                                      </p:cBhvr>
                                      <p:to>
                                        <p:strVal val="visible"/>
                                      </p:to>
                                    </p:set>
                                    <p:animEffect transition="in" filter="fade">
                                      <p:cBhvr>
                                        <p:cTn id="47" dur="500"/>
                                        <p:tgtEl>
                                          <p:spTgt spid="8">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
                                            <p:txEl>
                                              <p:pRg st="11" end="11"/>
                                            </p:txEl>
                                          </p:spTgt>
                                        </p:tgtEl>
                                        <p:attrNameLst>
                                          <p:attrName>style.visibility</p:attrName>
                                        </p:attrNameLst>
                                      </p:cBhvr>
                                      <p:to>
                                        <p:strVal val="visible"/>
                                      </p:to>
                                    </p:set>
                                    <p:animEffect transition="in" filter="fade">
                                      <p:cBhvr>
                                        <p:cTn id="52" dur="500"/>
                                        <p:tgtEl>
                                          <p:spTgt spid="8">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8">
                                            <p:txEl>
                                              <p:pRg st="12" end="12"/>
                                            </p:txEl>
                                          </p:spTgt>
                                        </p:tgtEl>
                                        <p:attrNameLst>
                                          <p:attrName>style.visibility</p:attrName>
                                        </p:attrNameLst>
                                      </p:cBhvr>
                                      <p:to>
                                        <p:strVal val="visible"/>
                                      </p:to>
                                    </p:set>
                                    <p:animEffect transition="in" filter="fade">
                                      <p:cBhvr>
                                        <p:cTn id="57" dur="500"/>
                                        <p:tgtEl>
                                          <p:spTgt spid="8">
                                            <p:txEl>
                                              <p:pRg st="12" end="1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8">
                                            <p:txEl>
                                              <p:pRg st="13" end="13"/>
                                            </p:txEl>
                                          </p:spTgt>
                                        </p:tgtEl>
                                        <p:attrNameLst>
                                          <p:attrName>style.visibility</p:attrName>
                                        </p:attrNameLst>
                                      </p:cBhvr>
                                      <p:to>
                                        <p:strVal val="visible"/>
                                      </p:to>
                                    </p:set>
                                    <p:animEffect transition="in" filter="fade">
                                      <p:cBhvr>
                                        <p:cTn id="62" dur="500"/>
                                        <p:tgtEl>
                                          <p:spTgt spid="8">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5202706" cy="646331"/>
          </a:xfrm>
          <a:prstGeom prst="rect">
            <a:avLst/>
          </a:prstGeom>
          <a:noFill/>
        </p:spPr>
        <p:txBody>
          <a:bodyPr wrap="none" rtlCol="0">
            <a:spAutoFit/>
          </a:bodyPr>
          <a:lstStyle/>
          <a:p>
            <a:r>
              <a:rPr lang="en-US" sz="3600" dirty="0"/>
              <a:t>Forces and Laws of Motion</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658250" y="1102578"/>
            <a:ext cx="8635041" cy="3754874"/>
          </a:xfrm>
          <a:prstGeom prst="rect">
            <a:avLst/>
          </a:prstGeom>
          <a:noFill/>
        </p:spPr>
        <p:txBody>
          <a:bodyPr wrap="square" rtlCol="0">
            <a:spAutoFit/>
          </a:bodyPr>
          <a:lstStyle/>
          <a:p>
            <a:endParaRPr lang="en-US" sz="2000" b="1"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sz="2400" dirty="0"/>
              <a:t>Newton’s 1</a:t>
            </a:r>
            <a:r>
              <a:rPr lang="en-US" sz="2400" baseline="30000" dirty="0"/>
              <a:t>st</a:t>
            </a:r>
            <a:r>
              <a:rPr lang="en-US" sz="2400" dirty="0"/>
              <a:t> Law – An object stays in constant velocity until a force added to it causes it to accelerate or de-accelerate </a:t>
            </a:r>
          </a:p>
          <a:p>
            <a:pPr marL="342900" indent="-342900">
              <a:buFont typeface="Arial" panose="020B0604020202020204" pitchFamily="34" charset="0"/>
              <a:buChar char="•"/>
            </a:pPr>
            <a:r>
              <a:rPr lang="en-US" sz="2400" dirty="0"/>
              <a:t>Newton’s 2</a:t>
            </a:r>
            <a:r>
              <a:rPr lang="en-US" sz="2400" baseline="30000" dirty="0"/>
              <a:t>nd</a:t>
            </a:r>
            <a:r>
              <a:rPr lang="en-US" sz="2400" dirty="0"/>
              <a:t> Law – A force acting on an object produces acceleration proportional to it’s mass.</a:t>
            </a:r>
          </a:p>
          <a:p>
            <a:pPr marL="342900" indent="-342900">
              <a:buFont typeface="Arial" panose="020B0604020202020204" pitchFamily="34" charset="0"/>
              <a:buChar char="•"/>
            </a:pPr>
            <a:r>
              <a:rPr lang="en-US" sz="2400" dirty="0"/>
              <a:t>Newton’s 3</a:t>
            </a:r>
            <a:r>
              <a:rPr lang="en-US" sz="2400" baseline="30000" dirty="0"/>
              <a:t>rd</a:t>
            </a:r>
            <a:r>
              <a:rPr lang="en-US" sz="2400" dirty="0"/>
              <a:t> Law – For every action is an equal and opposite reaction.</a:t>
            </a:r>
          </a:p>
          <a:p>
            <a:pPr marL="800100" lvl="1" indent="-342900">
              <a:buFont typeface="Arial" panose="020B0604020202020204" pitchFamily="34" charset="0"/>
              <a:buChar char="•"/>
            </a:pPr>
            <a:endParaRPr lang="en-US" sz="2000"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487427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7974362" cy="646331"/>
          </a:xfrm>
          <a:prstGeom prst="rect">
            <a:avLst/>
          </a:prstGeom>
          <a:noFill/>
        </p:spPr>
        <p:txBody>
          <a:bodyPr wrap="none" rtlCol="0">
            <a:spAutoFit/>
          </a:bodyPr>
          <a:lstStyle/>
          <a:p>
            <a:r>
              <a:rPr lang="en-US" sz="3600" dirty="0"/>
              <a:t>Application of Laws of Motion to Particles</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658250" y="1102578"/>
            <a:ext cx="8635041" cy="5601533"/>
          </a:xfrm>
          <a:prstGeom prst="rect">
            <a:avLst/>
          </a:prstGeom>
          <a:noFill/>
        </p:spPr>
        <p:txBody>
          <a:bodyPr wrap="square" rtlCol="0">
            <a:spAutoFit/>
          </a:bodyPr>
          <a:lstStyle/>
          <a:p>
            <a:endParaRPr lang="en-US" sz="2000" b="1"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sz="2400" dirty="0"/>
              <a:t>Newton’s 1</a:t>
            </a:r>
            <a:r>
              <a:rPr lang="en-US" sz="2400" baseline="30000" dirty="0"/>
              <a:t>st</a:t>
            </a:r>
            <a:r>
              <a:rPr lang="en-US" sz="2400" dirty="0"/>
              <a:t> Law  - An object stays in constant velocity until a force added to it causes it to accelerate or de-accelerate </a:t>
            </a:r>
          </a:p>
          <a:p>
            <a:endParaRPr lang="en-US" sz="2400" dirty="0"/>
          </a:p>
          <a:p>
            <a:pPr marL="800100" lvl="1" indent="-342900">
              <a:buFont typeface="Arial" panose="020B0604020202020204" pitchFamily="34" charset="0"/>
              <a:buChar char="•"/>
            </a:pPr>
            <a:r>
              <a:rPr lang="en-US" sz="2400" dirty="0"/>
              <a:t>Damping – we can think of damping as a force that will cause a particle to de-accelerate.  </a:t>
            </a:r>
          </a:p>
          <a:p>
            <a:pPr marL="800100" lvl="1" indent="-342900">
              <a:buFont typeface="Arial" panose="020B0604020202020204" pitchFamily="34" charset="0"/>
              <a:buChar char="•"/>
            </a:pPr>
            <a:r>
              <a:rPr lang="en-US" sz="2400" dirty="0"/>
              <a:t>Adding external forces</a:t>
            </a:r>
          </a:p>
          <a:p>
            <a:pPr marL="1257300" lvl="2" indent="-342900">
              <a:buFont typeface="Arial" panose="020B0604020202020204" pitchFamily="34" charset="0"/>
              <a:buChar char="•"/>
            </a:pPr>
            <a:r>
              <a:rPr lang="en-US" sz="2400" dirty="0"/>
              <a:t>Adding individual forces to particles to affect their behavior (to add interesting motion)</a:t>
            </a:r>
          </a:p>
          <a:p>
            <a:pPr marL="1714500" lvl="3" indent="-342900">
              <a:buFont typeface="Arial" panose="020B0604020202020204" pitchFamily="34" charset="0"/>
              <a:buChar char="•"/>
            </a:pPr>
            <a:r>
              <a:rPr lang="en-US" sz="2400" dirty="0"/>
              <a:t>Example adding the force of “wind”</a:t>
            </a:r>
          </a:p>
          <a:p>
            <a:pPr marL="1257300" lvl="2" indent="-342900">
              <a:buFont typeface="Arial" panose="020B0604020202020204" pitchFamily="34" charset="0"/>
              <a:buChar char="•"/>
            </a:pPr>
            <a:r>
              <a:rPr lang="en-US" sz="2400" dirty="0"/>
              <a:t>Force Fields – a “volume” or 3-dimenstional array of force vectors  (advanced topic)</a:t>
            </a:r>
          </a:p>
          <a:p>
            <a:pPr lvl="1"/>
            <a:endParaRPr lang="en-US" sz="2000"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294571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7974362" cy="646331"/>
          </a:xfrm>
          <a:prstGeom prst="rect">
            <a:avLst/>
          </a:prstGeom>
          <a:noFill/>
        </p:spPr>
        <p:txBody>
          <a:bodyPr wrap="none" rtlCol="0">
            <a:spAutoFit/>
          </a:bodyPr>
          <a:lstStyle/>
          <a:p>
            <a:r>
              <a:rPr lang="en-US" sz="3600" dirty="0"/>
              <a:t>Application of Laws of Motion to Particles</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658250" y="1102578"/>
            <a:ext cx="8635041" cy="4493538"/>
          </a:xfrm>
          <a:prstGeom prst="rect">
            <a:avLst/>
          </a:prstGeom>
          <a:noFill/>
        </p:spPr>
        <p:txBody>
          <a:bodyPr wrap="square" rtlCol="0">
            <a:spAutoFit/>
          </a:bodyPr>
          <a:lstStyle/>
          <a:p>
            <a:endParaRPr lang="en-US" sz="2000" b="1"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sz="2400" dirty="0"/>
              <a:t>Newton’s 2</a:t>
            </a:r>
            <a:r>
              <a:rPr lang="en-US" sz="2400" baseline="30000" dirty="0"/>
              <a:t>nd</a:t>
            </a:r>
            <a:r>
              <a:rPr lang="en-US" sz="2400" dirty="0"/>
              <a:t> Law – A force acting on an object produces acceleration proportional to it’s mass.</a:t>
            </a:r>
          </a:p>
          <a:p>
            <a:pPr marL="342900" indent="-342900">
              <a:buFont typeface="Arial" panose="020B0604020202020204" pitchFamily="34" charset="0"/>
              <a:buChar char="•"/>
            </a:pPr>
            <a:endParaRPr lang="en-US" sz="2400" dirty="0"/>
          </a:p>
          <a:p>
            <a:pPr marL="800100" lvl="1" indent="-342900">
              <a:buFont typeface="Arial" panose="020B0604020202020204" pitchFamily="34" charset="0"/>
              <a:buChar char="•"/>
            </a:pPr>
            <a:r>
              <a:rPr lang="en-US" sz="2400" dirty="0"/>
              <a:t> f = ma    (acceleration and force are vectors, m is a scalar)</a:t>
            </a:r>
          </a:p>
          <a:p>
            <a:pPr marL="800100" lvl="1" indent="-342900">
              <a:buFont typeface="Arial" panose="020B0604020202020204" pitchFamily="34" charset="0"/>
              <a:buChar char="•"/>
            </a:pPr>
            <a:r>
              <a:rPr lang="en-US" sz="2400" dirty="0"/>
              <a:t>a = 1/m * f</a:t>
            </a:r>
          </a:p>
          <a:p>
            <a:pPr marL="800100" lvl="1" indent="-342900">
              <a:buFont typeface="Arial" panose="020B0604020202020204" pitchFamily="34" charset="0"/>
              <a:buChar char="•"/>
            </a:pPr>
            <a:r>
              <a:rPr lang="en-US" sz="2400" dirty="0"/>
              <a:t>Higher mass means less acceleration for a given force</a:t>
            </a:r>
          </a:p>
          <a:p>
            <a:pPr marL="800100" lvl="1" indent="-342900">
              <a:buFont typeface="Arial" panose="020B0604020202020204" pitchFamily="34" charset="0"/>
              <a:buChar char="•"/>
            </a:pPr>
            <a:r>
              <a:rPr lang="en-US" sz="2400" dirty="0"/>
              <a:t>Lower mass means  higher acceleration for a given force</a:t>
            </a:r>
          </a:p>
          <a:p>
            <a:pPr lvl="2"/>
            <a:endParaRPr lang="en-US" sz="2400" dirty="0"/>
          </a:p>
          <a:p>
            <a:pPr lvl="1"/>
            <a:endParaRPr lang="en-US" sz="2000"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97535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7974362" cy="646331"/>
          </a:xfrm>
          <a:prstGeom prst="rect">
            <a:avLst/>
          </a:prstGeom>
          <a:noFill/>
        </p:spPr>
        <p:txBody>
          <a:bodyPr wrap="none" rtlCol="0">
            <a:spAutoFit/>
          </a:bodyPr>
          <a:lstStyle/>
          <a:p>
            <a:r>
              <a:rPr lang="en-US" sz="3600" dirty="0"/>
              <a:t>Application of Laws of Motion to Particles</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658250" y="1102578"/>
            <a:ext cx="8635041" cy="4862870"/>
          </a:xfrm>
          <a:prstGeom prst="rect">
            <a:avLst/>
          </a:prstGeom>
          <a:noFill/>
        </p:spPr>
        <p:txBody>
          <a:bodyPr wrap="square" rtlCol="0">
            <a:spAutoFit/>
          </a:bodyPr>
          <a:lstStyle/>
          <a:p>
            <a:endParaRPr lang="en-US" sz="2000" b="1"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sz="2400" dirty="0"/>
              <a:t>Newton’s 2</a:t>
            </a:r>
            <a:r>
              <a:rPr lang="en-US" sz="2400" baseline="30000" dirty="0"/>
              <a:t>nd</a:t>
            </a:r>
            <a:r>
              <a:rPr lang="en-US" sz="2400" dirty="0"/>
              <a:t> Law – A force acting on an object produces acceleration proportional to it’s mass.</a:t>
            </a:r>
          </a:p>
          <a:p>
            <a:pPr marL="342900" indent="-342900">
              <a:buFont typeface="Arial" panose="020B0604020202020204" pitchFamily="34" charset="0"/>
              <a:buChar char="•"/>
            </a:pPr>
            <a:endParaRPr lang="en-US" sz="2400" dirty="0"/>
          </a:p>
          <a:p>
            <a:pPr marL="800100" lvl="1" indent="-342900">
              <a:buFont typeface="Arial" panose="020B0604020202020204" pitchFamily="34" charset="0"/>
              <a:buChar char="•"/>
            </a:pPr>
            <a:r>
              <a:rPr lang="en-US" sz="2400" dirty="0"/>
              <a:t> f = ma    (acceleration and force are vectors, m is a scalar)</a:t>
            </a:r>
          </a:p>
          <a:p>
            <a:pPr marL="800100" lvl="1" indent="-342900">
              <a:buFont typeface="Arial" panose="020B0604020202020204" pitchFamily="34" charset="0"/>
              <a:buChar char="•"/>
            </a:pPr>
            <a:r>
              <a:rPr lang="en-US" sz="2400" dirty="0"/>
              <a:t>We treat gravity as an acceleration vector</a:t>
            </a:r>
          </a:p>
          <a:p>
            <a:pPr marL="800100" lvl="1" indent="-342900">
              <a:buFont typeface="Arial" panose="020B0604020202020204" pitchFamily="34" charset="0"/>
              <a:buChar char="•"/>
            </a:pPr>
            <a:r>
              <a:rPr lang="en-US" sz="2400" dirty="0"/>
              <a:t>f = mg     (g on earth has a value of around 10 m/s-2)</a:t>
            </a:r>
          </a:p>
          <a:p>
            <a:pPr marL="800100" lvl="1" indent="-342900">
              <a:buFont typeface="Arial" panose="020B0604020202020204" pitchFamily="34" charset="0"/>
              <a:buChar char="•"/>
            </a:pPr>
            <a:r>
              <a:rPr lang="en-US" sz="2400" dirty="0"/>
              <a:t>Express g  as a vector  =  (0, -10, 0);    // in a y-up coordinate system</a:t>
            </a:r>
          </a:p>
          <a:p>
            <a:pPr lvl="2"/>
            <a:endParaRPr lang="en-US" sz="2400" dirty="0"/>
          </a:p>
          <a:p>
            <a:pPr lvl="1"/>
            <a:endParaRPr lang="en-US" sz="2000"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800771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7974362" cy="646331"/>
          </a:xfrm>
          <a:prstGeom prst="rect">
            <a:avLst/>
          </a:prstGeom>
          <a:noFill/>
        </p:spPr>
        <p:txBody>
          <a:bodyPr wrap="none" rtlCol="0">
            <a:spAutoFit/>
          </a:bodyPr>
          <a:lstStyle/>
          <a:p>
            <a:r>
              <a:rPr lang="en-US" sz="3600" dirty="0"/>
              <a:t>Application of Laws of Motion to Particles</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778479" y="652401"/>
            <a:ext cx="8635041" cy="6709529"/>
          </a:xfrm>
          <a:prstGeom prst="rect">
            <a:avLst/>
          </a:prstGeom>
          <a:noFill/>
        </p:spPr>
        <p:txBody>
          <a:bodyPr wrap="square" rtlCol="0">
            <a:spAutoFit/>
          </a:bodyPr>
          <a:lstStyle/>
          <a:p>
            <a:endParaRPr lang="en-US" sz="2000" b="1"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sz="2400" dirty="0"/>
              <a:t>Newton’s 2</a:t>
            </a:r>
            <a:r>
              <a:rPr lang="en-US" sz="2400" baseline="30000" dirty="0"/>
              <a:t>nd</a:t>
            </a:r>
            <a:r>
              <a:rPr lang="en-US" sz="2400" dirty="0"/>
              <a:t> Law – A force acting on an object produces acceleration proportional to it’s mass.</a:t>
            </a:r>
          </a:p>
          <a:p>
            <a:pPr lvl="1"/>
            <a:endParaRPr lang="en-US" sz="2400" dirty="0"/>
          </a:p>
          <a:p>
            <a:pPr marL="800100" lvl="1" indent="-342900">
              <a:buFont typeface="Arial" panose="020B0604020202020204" pitchFamily="34" charset="0"/>
              <a:buChar char="•"/>
            </a:pPr>
            <a:r>
              <a:rPr lang="en-US" sz="2400" dirty="0"/>
              <a:t>General form</a:t>
            </a:r>
          </a:p>
          <a:p>
            <a:pPr marL="1257300" lvl="2" indent="-342900">
              <a:buFont typeface="Arial" panose="020B0604020202020204" pitchFamily="34" charset="0"/>
              <a:buChar char="•"/>
            </a:pPr>
            <a:r>
              <a:rPr lang="en-US" sz="2400" dirty="0"/>
              <a:t>F = ma   </a:t>
            </a:r>
            <a:r>
              <a:rPr lang="en-US" sz="2400" dirty="0">
                <a:sym typeface="Wingdings" panose="05000000000000000000" pitchFamily="2" charset="2"/>
              </a:rPr>
              <a:t>   </a:t>
            </a:r>
            <a:r>
              <a:rPr lang="en-US" sz="2400" dirty="0"/>
              <a:t> a  = (1/m) * f;                            (1)</a:t>
            </a:r>
          </a:p>
          <a:p>
            <a:pPr marL="800100" lvl="1" indent="-342900">
              <a:buFont typeface="Arial" panose="020B0604020202020204" pitchFamily="34" charset="0"/>
              <a:buChar char="•"/>
            </a:pPr>
            <a:r>
              <a:rPr lang="en-US" sz="2400" dirty="0"/>
              <a:t>Force acting on a mass from gravity</a:t>
            </a:r>
          </a:p>
          <a:p>
            <a:pPr marL="1257300" lvl="2" indent="-342900">
              <a:buFont typeface="Arial" panose="020B0604020202020204" pitchFamily="34" charset="0"/>
              <a:buChar char="•"/>
            </a:pPr>
            <a:r>
              <a:rPr lang="en-US" sz="2400" dirty="0"/>
              <a:t>F = mg;    (gravity is an acceleration)            (2) </a:t>
            </a:r>
          </a:p>
          <a:p>
            <a:pPr marL="800100" lvl="1" indent="-342900">
              <a:buFont typeface="Arial" panose="020B0604020202020204" pitchFamily="34" charset="0"/>
              <a:buChar char="•"/>
            </a:pPr>
            <a:r>
              <a:rPr lang="en-US" sz="2400" dirty="0"/>
              <a:t>Substitute</a:t>
            </a:r>
          </a:p>
          <a:p>
            <a:pPr marL="1257300" lvl="2" indent="-342900">
              <a:buFont typeface="Arial" panose="020B0604020202020204" pitchFamily="34" charset="0"/>
              <a:buChar char="•"/>
            </a:pPr>
            <a:r>
              <a:rPr lang="en-US" sz="2400" dirty="0"/>
              <a:t>(2) into (1)</a:t>
            </a:r>
          </a:p>
          <a:p>
            <a:pPr marL="1714500" lvl="3" indent="-342900">
              <a:buFont typeface="Arial" panose="020B0604020202020204" pitchFamily="34" charset="0"/>
              <a:buChar char="•"/>
            </a:pPr>
            <a:r>
              <a:rPr lang="en-US" sz="2400" dirty="0"/>
              <a:t>a =   (1/m) * mg   = g;</a:t>
            </a:r>
          </a:p>
          <a:p>
            <a:pPr marL="800100" lvl="1" indent="-342900">
              <a:buFont typeface="Arial" panose="020B0604020202020204" pitchFamily="34" charset="0"/>
              <a:buChar char="•"/>
            </a:pPr>
            <a:r>
              <a:rPr lang="en-US" sz="2400" dirty="0"/>
              <a:t>=&gt; acceleration due to gravity is independent of mass.</a:t>
            </a:r>
          </a:p>
          <a:p>
            <a:pPr marL="800100" lvl="1" indent="-342900">
              <a:buFont typeface="Arial" panose="020B0604020202020204" pitchFamily="34" charset="0"/>
              <a:buChar char="•"/>
            </a:pPr>
            <a:r>
              <a:rPr lang="en-US" sz="2400" dirty="0"/>
              <a:t>Why all objects (with same drag) fall at the same speed</a:t>
            </a:r>
          </a:p>
          <a:p>
            <a:pPr marL="800100" lvl="1" indent="-342900">
              <a:buFont typeface="Arial" panose="020B0604020202020204" pitchFamily="34" charset="0"/>
              <a:buChar char="•"/>
            </a:pPr>
            <a:endParaRPr lang="en-US" sz="2400" dirty="0"/>
          </a:p>
          <a:p>
            <a:pPr marL="800100" lvl="1" indent="-342900">
              <a:buFont typeface="Arial" panose="020B0604020202020204" pitchFamily="34" charset="0"/>
              <a:buChar char="•"/>
            </a:pPr>
            <a:endParaRPr lang="en-US" sz="2400" dirty="0"/>
          </a:p>
          <a:p>
            <a:pPr lvl="1"/>
            <a:endParaRPr lang="en-US" sz="2000"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9759237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7974362" cy="646331"/>
          </a:xfrm>
          <a:prstGeom prst="rect">
            <a:avLst/>
          </a:prstGeom>
          <a:noFill/>
        </p:spPr>
        <p:txBody>
          <a:bodyPr wrap="none" rtlCol="0">
            <a:spAutoFit/>
          </a:bodyPr>
          <a:lstStyle/>
          <a:p>
            <a:r>
              <a:rPr lang="en-US" sz="3600" dirty="0"/>
              <a:t>Application of Laws of Motion to Particles</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082193" y="1407410"/>
            <a:ext cx="8635041" cy="3385542"/>
          </a:xfrm>
          <a:prstGeom prst="rect">
            <a:avLst/>
          </a:prstGeom>
          <a:noFill/>
        </p:spPr>
        <p:txBody>
          <a:bodyPr wrap="square" rtlCol="0">
            <a:spAutoFit/>
          </a:bodyPr>
          <a:lstStyle/>
          <a:p>
            <a:endParaRPr lang="en-US" sz="2000" b="1" dirty="0"/>
          </a:p>
          <a:p>
            <a:pPr marL="342900" indent="-342900">
              <a:buFont typeface="Arial" panose="020B0604020202020204" pitchFamily="34" charset="0"/>
              <a:buChar char="•"/>
            </a:pPr>
            <a:endParaRPr lang="en-US" dirty="0"/>
          </a:p>
          <a:p>
            <a:pPr marL="1257300" lvl="2" indent="-342900">
              <a:buFont typeface="Arial" panose="020B0604020202020204" pitchFamily="34" charset="0"/>
              <a:buChar char="•"/>
            </a:pPr>
            <a:r>
              <a:rPr lang="en-US" sz="2400" dirty="0"/>
              <a:t>Terminal Velocity – the maximum velocity a falling object  can reach due to interaction with the environment. (aerodynamic drag)</a:t>
            </a:r>
          </a:p>
          <a:p>
            <a:pPr marL="1714500" lvl="3" indent="-342900">
              <a:buFont typeface="Arial" panose="020B0604020202020204" pitchFamily="34" charset="0"/>
              <a:buChar char="•"/>
            </a:pPr>
            <a:r>
              <a:rPr lang="en-US" sz="2400" dirty="0"/>
              <a:t>Skydivers can reach a terminal velocity of 200 mph.</a:t>
            </a:r>
          </a:p>
          <a:p>
            <a:pPr marL="800100" lvl="1" indent="-342900">
              <a:buFont typeface="Arial" panose="020B0604020202020204" pitchFamily="34" charset="0"/>
              <a:buChar char="•"/>
            </a:pPr>
            <a:endParaRPr lang="en-US" sz="2400" dirty="0"/>
          </a:p>
          <a:p>
            <a:pPr lvl="1"/>
            <a:endParaRPr lang="en-US" sz="2000"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4174992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5497211" cy="646331"/>
          </a:xfrm>
          <a:prstGeom prst="rect">
            <a:avLst/>
          </a:prstGeom>
          <a:noFill/>
        </p:spPr>
        <p:txBody>
          <a:bodyPr wrap="none" rtlCol="0">
            <a:spAutoFit/>
          </a:bodyPr>
          <a:lstStyle/>
          <a:p>
            <a:r>
              <a:rPr lang="en-US" sz="3600" dirty="0"/>
              <a:t>The Additive Effect of Forces</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057026" y="887135"/>
            <a:ext cx="8635041" cy="5970865"/>
          </a:xfrm>
          <a:prstGeom prst="rect">
            <a:avLst/>
          </a:prstGeom>
          <a:noFill/>
        </p:spPr>
        <p:txBody>
          <a:bodyPr wrap="square" rtlCol="0">
            <a:spAutoFit/>
          </a:bodyPr>
          <a:lstStyle/>
          <a:p>
            <a:endParaRPr lang="en-US" sz="2000" b="1" dirty="0"/>
          </a:p>
          <a:p>
            <a:pPr marL="342900" indent="-342900">
              <a:buFont typeface="Arial" panose="020B0604020202020204" pitchFamily="34" charset="0"/>
              <a:buChar char="•"/>
            </a:pPr>
            <a:endParaRPr lang="en-US" dirty="0"/>
          </a:p>
          <a:p>
            <a:pPr marL="1257300" lvl="2" indent="-342900">
              <a:buFont typeface="Arial" panose="020B0604020202020204" pitchFamily="34" charset="0"/>
              <a:buChar char="•"/>
            </a:pPr>
            <a:r>
              <a:rPr lang="en-US" sz="2400" dirty="0"/>
              <a:t>If we have a set of forces (expressed as vectors) acting on an object, we can replace the set of forces with a single force which is the vector sum of all the forces acting on it.</a:t>
            </a:r>
          </a:p>
          <a:p>
            <a:pPr marL="1257300" lvl="2" indent="-342900">
              <a:buFont typeface="Arial" panose="020B0604020202020204" pitchFamily="34" charset="0"/>
              <a:buChar char="•"/>
            </a:pPr>
            <a:r>
              <a:rPr lang="en-US" sz="2400" dirty="0"/>
              <a:t>Beautiful !!  - Why ?</a:t>
            </a:r>
          </a:p>
          <a:p>
            <a:pPr marL="1714500" lvl="3" indent="-342900">
              <a:buFont typeface="Arial" panose="020B0604020202020204" pitchFamily="34" charset="0"/>
              <a:buChar char="•"/>
            </a:pPr>
            <a:r>
              <a:rPr lang="en-US" sz="2400" dirty="0"/>
              <a:t>Because forces are then accumulative.</a:t>
            </a:r>
          </a:p>
          <a:p>
            <a:pPr marL="1714500" lvl="3" indent="-342900">
              <a:buFont typeface="Arial" panose="020B0604020202020204" pitchFamily="34" charset="0"/>
              <a:buChar char="•"/>
            </a:pPr>
            <a:r>
              <a:rPr lang="en-US" sz="2400" dirty="0"/>
              <a:t>We can create a number of individual forces for a particle (ex: wind, cyclic, drag, attraction )</a:t>
            </a:r>
          </a:p>
          <a:p>
            <a:pPr marL="1714500" lvl="3" indent="-342900">
              <a:buFont typeface="Arial" panose="020B0604020202020204" pitchFamily="34" charset="0"/>
              <a:buChar char="•"/>
            </a:pPr>
            <a:r>
              <a:rPr lang="en-US" sz="2400" dirty="0"/>
              <a:t>At the integration step, these forces can be simplified by just adding their vectors together to create a resultant force.</a:t>
            </a:r>
          </a:p>
          <a:p>
            <a:pPr marL="2171700" lvl="4" indent="-342900">
              <a:buFont typeface="Arial" panose="020B0604020202020204" pitchFamily="34" charset="0"/>
              <a:buChar char="•"/>
            </a:pPr>
            <a:r>
              <a:rPr lang="en-US" sz="2400" dirty="0"/>
              <a:t>We will see this in more detail on Monday.</a:t>
            </a:r>
          </a:p>
          <a:p>
            <a:pPr marL="800100" lvl="1" indent="-342900">
              <a:buFont typeface="Arial" panose="020B0604020202020204" pitchFamily="34" charset="0"/>
              <a:buChar char="•"/>
            </a:pPr>
            <a:endParaRPr lang="en-US" sz="2400" dirty="0"/>
          </a:p>
          <a:p>
            <a:pPr lvl="1"/>
            <a:endParaRPr lang="en-US" sz="2000"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890196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500"/>
                                        <p:tgtEl>
                                          <p:spTgt spid="8">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500"/>
                                        <p:tgtEl>
                                          <p:spTgt spid="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5" end="5"/>
                                            </p:txEl>
                                          </p:spTgt>
                                        </p:tgtEl>
                                        <p:attrNameLst>
                                          <p:attrName>style.visibility</p:attrName>
                                        </p:attrNameLst>
                                      </p:cBhvr>
                                      <p:to>
                                        <p:strVal val="visible"/>
                                      </p:to>
                                    </p:set>
                                    <p:animEffect transition="in" filter="fade">
                                      <p:cBhvr>
                                        <p:cTn id="22" dur="500"/>
                                        <p:tgtEl>
                                          <p:spTgt spid="8">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animEffect transition="in" filter="fade">
                                      <p:cBhvr>
                                        <p:cTn id="27" dur="500"/>
                                        <p:tgtEl>
                                          <p:spTgt spid="8">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7" end="7"/>
                                            </p:txEl>
                                          </p:spTgt>
                                        </p:tgtEl>
                                        <p:attrNameLst>
                                          <p:attrName>style.visibility</p:attrName>
                                        </p:attrNameLst>
                                      </p:cBhvr>
                                      <p:to>
                                        <p:strVal val="visible"/>
                                      </p:to>
                                    </p:set>
                                    <p:animEffect transition="in" filter="fade">
                                      <p:cBhvr>
                                        <p:cTn id="32" dur="500"/>
                                        <p:tgtEl>
                                          <p:spTgt spid="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3405419" cy="646331"/>
          </a:xfrm>
          <a:prstGeom prst="rect">
            <a:avLst/>
          </a:prstGeom>
          <a:noFill/>
        </p:spPr>
        <p:txBody>
          <a:bodyPr wrap="none" rtlCol="0">
            <a:spAutoFit/>
          </a:bodyPr>
          <a:lstStyle/>
          <a:p>
            <a:r>
              <a:rPr lang="en-US" sz="3600" dirty="0"/>
              <a:t>In Class Exercise  </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057026" y="887135"/>
            <a:ext cx="8635041" cy="4124206"/>
          </a:xfrm>
          <a:prstGeom prst="rect">
            <a:avLst/>
          </a:prstGeom>
          <a:noFill/>
        </p:spPr>
        <p:txBody>
          <a:bodyPr wrap="square" rtlCol="0">
            <a:spAutoFit/>
          </a:bodyPr>
          <a:lstStyle/>
          <a:p>
            <a:endParaRPr lang="en-US" sz="2000" b="1" dirty="0"/>
          </a:p>
          <a:p>
            <a:pPr marL="342900" indent="-342900">
              <a:buFont typeface="Arial" panose="020B0604020202020204" pitchFamily="34" charset="0"/>
              <a:buChar char="•"/>
            </a:pPr>
            <a:r>
              <a:rPr lang="en-US"/>
              <a:t>Preparation</a:t>
            </a:r>
            <a:endParaRPr lang="en-US" dirty="0"/>
          </a:p>
          <a:p>
            <a:pPr marL="1257300" lvl="2" indent="-342900">
              <a:buFont typeface="Arial" panose="020B0604020202020204" pitchFamily="34" charset="0"/>
              <a:buChar char="•"/>
            </a:pPr>
            <a:r>
              <a:rPr lang="en-US" sz="2400" dirty="0"/>
              <a:t>Create a new project with the </a:t>
            </a:r>
            <a:r>
              <a:rPr lang="en-US" sz="2400" dirty="0" err="1"/>
              <a:t>ofxGui</a:t>
            </a:r>
            <a:r>
              <a:rPr lang="en-US" sz="2400" dirty="0"/>
              <a:t> add-in</a:t>
            </a:r>
          </a:p>
          <a:p>
            <a:pPr marL="1257300" lvl="2" indent="-342900">
              <a:buFont typeface="Arial" panose="020B0604020202020204" pitchFamily="34" charset="0"/>
              <a:buChar char="•"/>
            </a:pPr>
            <a:r>
              <a:rPr lang="en-US" sz="2400" dirty="0"/>
              <a:t>Replace the source files with the files in this project:</a:t>
            </a:r>
          </a:p>
          <a:p>
            <a:pPr marL="1714500" lvl="3" indent="-342900">
              <a:buFont typeface="Arial" panose="020B0604020202020204" pitchFamily="34" charset="0"/>
              <a:buChar char="•"/>
            </a:pPr>
            <a:r>
              <a:rPr lang="en-US" sz="2400" dirty="0"/>
              <a:t>trajectoryTemplate.zip   (in FILES/examples)</a:t>
            </a:r>
          </a:p>
          <a:p>
            <a:pPr marL="1257300" lvl="2" indent="-342900">
              <a:buFont typeface="Arial" panose="020B0604020202020204" pitchFamily="34" charset="0"/>
              <a:buChar char="•"/>
            </a:pPr>
            <a:r>
              <a:rPr lang="en-US" sz="2400" dirty="0"/>
              <a:t>Compile/Run</a:t>
            </a:r>
          </a:p>
          <a:p>
            <a:pPr marL="1257300" lvl="2" indent="-342900">
              <a:buFont typeface="Arial" panose="020B0604020202020204" pitchFamily="34" charset="0"/>
              <a:buChar char="•"/>
            </a:pPr>
            <a:r>
              <a:rPr lang="en-US" sz="2400" dirty="0"/>
              <a:t>This should show an empty 3D scene with a grid. Become familiar with moving the camera with the mouse.</a:t>
            </a:r>
          </a:p>
          <a:p>
            <a:pPr lvl="1"/>
            <a:endParaRPr lang="en-US" sz="2400" dirty="0"/>
          </a:p>
          <a:p>
            <a:pPr lvl="1"/>
            <a:endParaRPr lang="en-US" sz="2000"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681036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fade">
                                      <p:cBhvr>
                                        <p:cTn id="17" dur="500"/>
                                        <p:tgtEl>
                                          <p:spTgt spid="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4" end="4"/>
                                            </p:txEl>
                                          </p:spTgt>
                                        </p:tgtEl>
                                        <p:attrNameLst>
                                          <p:attrName>style.visibility</p:attrName>
                                        </p:attrNameLst>
                                      </p:cBhvr>
                                      <p:to>
                                        <p:strVal val="visible"/>
                                      </p:to>
                                    </p:set>
                                    <p:animEffect transition="in" filter="fade">
                                      <p:cBhvr>
                                        <p:cTn id="22" dur="500"/>
                                        <p:tgtEl>
                                          <p:spTgt spid="8">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animEffect transition="in" filter="fade">
                                      <p:cBhvr>
                                        <p:cTn id="27" dur="500"/>
                                        <p:tgtEl>
                                          <p:spTgt spid="8">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6" end="6"/>
                                            </p:txEl>
                                          </p:spTgt>
                                        </p:tgtEl>
                                        <p:attrNameLst>
                                          <p:attrName>style.visibility</p:attrName>
                                        </p:attrNameLst>
                                      </p:cBhvr>
                                      <p:to>
                                        <p:strVal val="visible"/>
                                      </p:to>
                                    </p:set>
                                    <p:animEffect transition="in" filter="fade">
                                      <p:cBhvr>
                                        <p:cTn id="32"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3405419" cy="646331"/>
          </a:xfrm>
          <a:prstGeom prst="rect">
            <a:avLst/>
          </a:prstGeom>
          <a:noFill/>
        </p:spPr>
        <p:txBody>
          <a:bodyPr wrap="none" rtlCol="0">
            <a:spAutoFit/>
          </a:bodyPr>
          <a:lstStyle/>
          <a:p>
            <a:r>
              <a:rPr lang="en-US" sz="3600" dirty="0"/>
              <a:t>In Class Exercise  </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057026" y="887135"/>
            <a:ext cx="8635041" cy="6494085"/>
          </a:xfrm>
          <a:prstGeom prst="rect">
            <a:avLst/>
          </a:prstGeom>
          <a:noFill/>
        </p:spPr>
        <p:txBody>
          <a:bodyPr wrap="square" rtlCol="0">
            <a:spAutoFit/>
          </a:bodyPr>
          <a:lstStyle/>
          <a:p>
            <a:pPr lvl="2"/>
            <a:endParaRPr lang="en-US" sz="2400" dirty="0"/>
          </a:p>
          <a:p>
            <a:pPr marL="1257300" lvl="2" indent="-342900">
              <a:buFont typeface="Arial" panose="020B0604020202020204" pitchFamily="34" charset="0"/>
              <a:buChar char="•"/>
            </a:pPr>
            <a:r>
              <a:rPr lang="en-US" sz="2400" dirty="0"/>
              <a:t>Coding:</a:t>
            </a:r>
          </a:p>
          <a:p>
            <a:pPr marL="1828800" lvl="3" indent="-457200">
              <a:buFont typeface="+mj-lt"/>
              <a:buAutoNum type="arabicPeriod"/>
            </a:pPr>
            <a:r>
              <a:rPr lang="en-US" sz="2400" dirty="0"/>
              <a:t>Modify App::</a:t>
            </a:r>
            <a:r>
              <a:rPr lang="en-US" sz="2400" dirty="0" err="1"/>
              <a:t>launchParticle</a:t>
            </a:r>
            <a:r>
              <a:rPr lang="en-US" sz="2400" dirty="0"/>
              <a:t>() to create a new particle and store in an array.  Use values from GUI parameters to create your particle.</a:t>
            </a:r>
          </a:p>
          <a:p>
            <a:pPr marL="1828800" lvl="3" indent="-457200">
              <a:buFont typeface="+mj-lt"/>
              <a:buAutoNum type="arabicPeriod"/>
            </a:pPr>
            <a:r>
              <a:rPr lang="en-US" sz="2400" dirty="0"/>
              <a:t>Modify App::draw() to draw particles in array (call each particle’s draw method in a loop.</a:t>
            </a:r>
          </a:p>
          <a:p>
            <a:pPr marL="1828800" lvl="3" indent="-457200">
              <a:buFont typeface="+mj-lt"/>
              <a:buAutoNum type="arabicPeriod"/>
            </a:pPr>
            <a:r>
              <a:rPr lang="en-US" sz="2400" dirty="0"/>
              <a:t>You should just have just one particle in middle, but you should at least be able to modify it’s radius with the slider before launching it with spacebar.</a:t>
            </a:r>
          </a:p>
          <a:p>
            <a:pPr marL="1828800" lvl="3" indent="-457200">
              <a:buFont typeface="+mj-lt"/>
              <a:buAutoNum type="arabicPeriod"/>
            </a:pPr>
            <a:r>
              <a:rPr lang="en-US" sz="2400" dirty="0"/>
              <a:t>Complete integrator function (3-4 lines of code) based on algorithm we learned today.</a:t>
            </a:r>
          </a:p>
          <a:p>
            <a:pPr marL="1828800" lvl="3" indent="-457200">
              <a:buFont typeface="+mj-lt"/>
              <a:buAutoNum type="arabicPeriod"/>
            </a:pPr>
            <a:r>
              <a:rPr lang="en-US" sz="2400" dirty="0"/>
              <a:t>Launch a new particle, play with it’s trajectory.</a:t>
            </a:r>
          </a:p>
          <a:p>
            <a:pPr marL="1828800" lvl="3" indent="-457200">
              <a:buFont typeface="+mj-lt"/>
              <a:buAutoNum type="arabicPeriod"/>
            </a:pPr>
            <a:r>
              <a:rPr lang="en-US" sz="2400" dirty="0"/>
              <a:t>If you have time, implement lifespan.</a:t>
            </a:r>
          </a:p>
          <a:p>
            <a:pPr marL="800100" lvl="1" indent="-342900">
              <a:buFont typeface="Arial" panose="020B0604020202020204" pitchFamily="34" charset="0"/>
              <a:buChar char="•"/>
            </a:pPr>
            <a:endParaRPr lang="en-US" sz="2400" dirty="0"/>
          </a:p>
          <a:p>
            <a:pPr lvl="1"/>
            <a:endParaRPr lang="en-US" sz="2000"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288843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50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5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fade">
                                      <p:cBhvr>
                                        <p:cTn id="17" dur="500"/>
                                        <p:tgtEl>
                                          <p:spTgt spid="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4" end="4"/>
                                            </p:txEl>
                                          </p:spTgt>
                                        </p:tgtEl>
                                        <p:attrNameLst>
                                          <p:attrName>style.visibility</p:attrName>
                                        </p:attrNameLst>
                                      </p:cBhvr>
                                      <p:to>
                                        <p:strVal val="visible"/>
                                      </p:to>
                                    </p:set>
                                    <p:animEffect transition="in" filter="fade">
                                      <p:cBhvr>
                                        <p:cTn id="22" dur="500"/>
                                        <p:tgtEl>
                                          <p:spTgt spid="8">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animEffect transition="in" filter="fade">
                                      <p:cBhvr>
                                        <p:cTn id="27" dur="500"/>
                                        <p:tgtEl>
                                          <p:spTgt spid="8">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6" end="6"/>
                                            </p:txEl>
                                          </p:spTgt>
                                        </p:tgtEl>
                                        <p:attrNameLst>
                                          <p:attrName>style.visibility</p:attrName>
                                        </p:attrNameLst>
                                      </p:cBhvr>
                                      <p:to>
                                        <p:strVal val="visible"/>
                                      </p:to>
                                    </p:set>
                                    <p:animEffect transition="in" filter="fade">
                                      <p:cBhvr>
                                        <p:cTn id="32" dur="500"/>
                                        <p:tgtEl>
                                          <p:spTgt spid="8">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pRg st="7" end="7"/>
                                            </p:txEl>
                                          </p:spTgt>
                                        </p:tgtEl>
                                        <p:attrNameLst>
                                          <p:attrName>style.visibility</p:attrName>
                                        </p:attrNameLst>
                                      </p:cBhvr>
                                      <p:to>
                                        <p:strVal val="visible"/>
                                      </p:to>
                                    </p:set>
                                    <p:animEffect transition="in" filter="fade">
                                      <p:cBhvr>
                                        <p:cTn id="37" dur="500"/>
                                        <p:tgtEl>
                                          <p:spTgt spid="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1026</TotalTime>
  <Words>1417</Words>
  <Application>Microsoft Office PowerPoint</Application>
  <PresentationFormat>Widescreen</PresentationFormat>
  <Paragraphs>224</Paragraphs>
  <Slides>19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Cambria Math</vt:lpstr>
      <vt:lpstr>Wingdings</vt:lpstr>
      <vt:lpstr>Office Theme</vt:lpstr>
      <vt:lpstr>CS 134 Computer Game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235 User Interface Design</dc:title>
  <dc:creator>Kevin Smith</dc:creator>
  <cp:lastModifiedBy>Kevin Smith</cp:lastModifiedBy>
  <cp:revision>121</cp:revision>
  <dcterms:created xsi:type="dcterms:W3CDTF">2017-08-23T16:49:40Z</dcterms:created>
  <dcterms:modified xsi:type="dcterms:W3CDTF">2018-03-01T20:37:55Z</dcterms:modified>
</cp:coreProperties>
</file>