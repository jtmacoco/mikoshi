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9"/>
  </p:notesMasterIdLst>
  <p:sldIdLst>
    <p:sldId id="256" r:id="rId2"/>
    <p:sldId id="274" r:id="rId3"/>
    <p:sldId id="295" r:id="rId4"/>
    <p:sldId id="309" r:id="rId5"/>
    <p:sldId id="312" r:id="rId6"/>
    <p:sldId id="320" r:id="rId7"/>
    <p:sldId id="326" r:id="rId8"/>
    <p:sldId id="328" r:id="rId9"/>
    <p:sldId id="329" r:id="rId10"/>
    <p:sldId id="331" r:id="rId11"/>
    <p:sldId id="332" r:id="rId12"/>
    <p:sldId id="341" r:id="rId13"/>
    <p:sldId id="342" r:id="rId14"/>
    <p:sldId id="333" r:id="rId15"/>
    <p:sldId id="336" r:id="rId16"/>
    <p:sldId id="338" r:id="rId17"/>
    <p:sldId id="33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8" autoAdjust="0"/>
    <p:restoredTop sz="94660"/>
  </p:normalViewPr>
  <p:slideViewPr>
    <p:cSldViewPr snapToGrid="0">
      <p:cViewPr varScale="1">
        <p:scale>
          <a:sx n="161" d="100"/>
          <a:sy n="161" d="100"/>
        </p:scale>
        <p:origin x="150"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E6C2A8-2747-4294-A578-3E60BC72699C}" type="doc">
      <dgm:prSet loTypeId="urn:microsoft.com/office/officeart/2005/8/layout/process1" loCatId="process" qsTypeId="urn:microsoft.com/office/officeart/2005/8/quickstyle/simple1" qsCatId="simple" csTypeId="urn:microsoft.com/office/officeart/2005/8/colors/colorful5" csCatId="colorful" phldr="1"/>
      <dgm:spPr/>
    </dgm:pt>
    <dgm:pt modelId="{7F4B5FFF-9ED3-467E-9F08-56224C0F0A7F}">
      <dgm:prSet phldrT="[Text]" custT="1"/>
      <dgm:spPr/>
      <dgm:t>
        <a:bodyPr/>
        <a:lstStyle/>
        <a:p>
          <a:r>
            <a:rPr lang="en-US" sz="1100" dirty="0"/>
            <a:t>Physics and Simulation</a:t>
          </a:r>
        </a:p>
      </dgm:t>
    </dgm:pt>
    <dgm:pt modelId="{C8A8C85B-5DBC-4826-B79B-1827F17A1C87}" type="parTrans" cxnId="{59951FFD-F138-4D68-9127-248155DB05BC}">
      <dgm:prSet/>
      <dgm:spPr/>
      <dgm:t>
        <a:bodyPr/>
        <a:lstStyle/>
        <a:p>
          <a:endParaRPr lang="en-US"/>
        </a:p>
      </dgm:t>
    </dgm:pt>
    <dgm:pt modelId="{7CE53D13-2F1E-4334-8FCF-7819053F807A}" type="sibTrans" cxnId="{59951FFD-F138-4D68-9127-248155DB05BC}">
      <dgm:prSet/>
      <dgm:spPr/>
      <dgm:t>
        <a:bodyPr/>
        <a:lstStyle/>
        <a:p>
          <a:endParaRPr lang="en-US"/>
        </a:p>
      </dgm:t>
    </dgm:pt>
    <dgm:pt modelId="{D4F4622E-522E-42E2-9325-882BA587A43A}">
      <dgm:prSet phldrT="[Text]" custT="1"/>
      <dgm:spPr/>
      <dgm:t>
        <a:bodyPr/>
        <a:lstStyle/>
        <a:p>
          <a:r>
            <a:rPr lang="en-US" sz="1100" dirty="0"/>
            <a:t>3D Game Design</a:t>
          </a:r>
        </a:p>
      </dgm:t>
    </dgm:pt>
    <dgm:pt modelId="{12D438F1-16F0-4289-9C29-07BB8C8DEA4E}" type="parTrans" cxnId="{9B3C77B5-5FC6-4633-9644-197BB5B7C090}">
      <dgm:prSet/>
      <dgm:spPr/>
      <dgm:t>
        <a:bodyPr/>
        <a:lstStyle/>
        <a:p>
          <a:endParaRPr lang="en-US"/>
        </a:p>
      </dgm:t>
    </dgm:pt>
    <dgm:pt modelId="{F2442B81-00C0-4435-B316-F3582779B651}" type="sibTrans" cxnId="{9B3C77B5-5FC6-4633-9644-197BB5B7C090}">
      <dgm:prSet/>
      <dgm:spPr/>
      <dgm:t>
        <a:bodyPr/>
        <a:lstStyle/>
        <a:p>
          <a:endParaRPr lang="en-US"/>
        </a:p>
      </dgm:t>
    </dgm:pt>
    <dgm:pt modelId="{028A8B19-4191-4E76-9454-D83DBC41B6F4}">
      <dgm:prSet phldrT="[Text]" custT="1"/>
      <dgm:spPr/>
      <dgm:t>
        <a:bodyPr/>
        <a:lstStyle/>
        <a:p>
          <a:r>
            <a:rPr lang="en-US" sz="1100" dirty="0"/>
            <a:t>Final Project</a:t>
          </a:r>
        </a:p>
      </dgm:t>
    </dgm:pt>
    <dgm:pt modelId="{DF0BABC2-F8A9-42CD-A0F1-ADFF9CFA12E7}" type="parTrans" cxnId="{99DC17BD-EA48-409D-8014-D4F4A34E2DB2}">
      <dgm:prSet/>
      <dgm:spPr/>
      <dgm:t>
        <a:bodyPr/>
        <a:lstStyle/>
        <a:p>
          <a:endParaRPr lang="en-US"/>
        </a:p>
      </dgm:t>
    </dgm:pt>
    <dgm:pt modelId="{D8184D79-403A-484F-A3B2-E8AFE6EAB0DE}" type="sibTrans" cxnId="{99DC17BD-EA48-409D-8014-D4F4A34E2DB2}">
      <dgm:prSet/>
      <dgm:spPr/>
      <dgm:t>
        <a:bodyPr/>
        <a:lstStyle/>
        <a:p>
          <a:endParaRPr lang="en-US"/>
        </a:p>
      </dgm:t>
    </dgm:pt>
    <dgm:pt modelId="{629C9996-1516-4DD1-93F0-210EC0081A28}">
      <dgm:prSet phldrT="[Text]" custT="1"/>
      <dgm:spPr/>
      <dgm:t>
        <a:bodyPr/>
        <a:lstStyle/>
        <a:p>
          <a:r>
            <a:rPr lang="en-US" sz="1100" dirty="0"/>
            <a:t>2D Game Design</a:t>
          </a:r>
        </a:p>
      </dgm:t>
    </dgm:pt>
    <dgm:pt modelId="{BC85CDFF-CF68-43B6-9065-A20E84409B67}" type="sibTrans" cxnId="{1C5903B3-06E9-477C-BAAF-FE6A078B705F}">
      <dgm:prSet/>
      <dgm:spPr/>
      <dgm:t>
        <a:bodyPr/>
        <a:lstStyle/>
        <a:p>
          <a:endParaRPr lang="en-US"/>
        </a:p>
      </dgm:t>
    </dgm:pt>
    <dgm:pt modelId="{EDB9C1ED-567D-413B-8E5D-7BBB68CF638E}" type="parTrans" cxnId="{1C5903B3-06E9-477C-BAAF-FE6A078B705F}">
      <dgm:prSet/>
      <dgm:spPr/>
      <dgm:t>
        <a:bodyPr/>
        <a:lstStyle/>
        <a:p>
          <a:endParaRPr lang="en-US"/>
        </a:p>
      </dgm:t>
    </dgm:pt>
    <dgm:pt modelId="{7E787B9E-F68A-4726-AD47-A41529D72F7A}">
      <dgm:prSet phldrT="[Text]" custT="1"/>
      <dgm:spPr/>
      <dgm:t>
        <a:bodyPr/>
        <a:lstStyle/>
        <a:p>
          <a:r>
            <a:rPr lang="en-US" sz="1100" dirty="0"/>
            <a:t>Introduction to Game Engines</a:t>
          </a:r>
        </a:p>
      </dgm:t>
    </dgm:pt>
    <dgm:pt modelId="{20A36317-A207-4A58-B8F2-9C7A040AEAC2}" type="sibTrans" cxnId="{43B89582-B31F-4149-8680-7DF2F5ACBFFF}">
      <dgm:prSet/>
      <dgm:spPr/>
      <dgm:t>
        <a:bodyPr/>
        <a:lstStyle/>
        <a:p>
          <a:endParaRPr lang="en-US"/>
        </a:p>
      </dgm:t>
    </dgm:pt>
    <dgm:pt modelId="{131A7A07-DA4A-469D-B68E-6F212B635694}" type="parTrans" cxnId="{43B89582-B31F-4149-8680-7DF2F5ACBFFF}">
      <dgm:prSet/>
      <dgm:spPr/>
      <dgm:t>
        <a:bodyPr/>
        <a:lstStyle/>
        <a:p>
          <a:endParaRPr lang="en-US"/>
        </a:p>
      </dgm:t>
    </dgm:pt>
    <dgm:pt modelId="{EE241DB9-664A-4755-BD9A-A47EB96DD90E}" type="pres">
      <dgm:prSet presAssocID="{D1E6C2A8-2747-4294-A578-3E60BC72699C}" presName="Name0" presStyleCnt="0">
        <dgm:presLayoutVars>
          <dgm:dir/>
          <dgm:resizeHandles val="exact"/>
        </dgm:presLayoutVars>
      </dgm:prSet>
      <dgm:spPr/>
    </dgm:pt>
    <dgm:pt modelId="{98610125-610F-4440-81CC-D81E7A28C4B6}" type="pres">
      <dgm:prSet presAssocID="{7E787B9E-F68A-4726-AD47-A41529D72F7A}" presName="node" presStyleLbl="node1" presStyleIdx="0" presStyleCnt="5">
        <dgm:presLayoutVars>
          <dgm:bulletEnabled val="1"/>
        </dgm:presLayoutVars>
      </dgm:prSet>
      <dgm:spPr/>
    </dgm:pt>
    <dgm:pt modelId="{10F89025-5263-4F54-A62C-3353C3189BAB}" type="pres">
      <dgm:prSet presAssocID="{20A36317-A207-4A58-B8F2-9C7A040AEAC2}" presName="sibTrans" presStyleLbl="sibTrans2D1" presStyleIdx="0" presStyleCnt="4"/>
      <dgm:spPr/>
    </dgm:pt>
    <dgm:pt modelId="{A0AB54E4-A336-4934-AACD-A2A8D60C157A}" type="pres">
      <dgm:prSet presAssocID="{20A36317-A207-4A58-B8F2-9C7A040AEAC2}" presName="connectorText" presStyleLbl="sibTrans2D1" presStyleIdx="0" presStyleCnt="4"/>
      <dgm:spPr/>
    </dgm:pt>
    <dgm:pt modelId="{77A6D4E2-F93D-46CA-AC6C-C7A1C1E347E3}" type="pres">
      <dgm:prSet presAssocID="{629C9996-1516-4DD1-93F0-210EC0081A28}" presName="node" presStyleLbl="node1" presStyleIdx="1" presStyleCnt="5">
        <dgm:presLayoutVars>
          <dgm:bulletEnabled val="1"/>
        </dgm:presLayoutVars>
      </dgm:prSet>
      <dgm:spPr/>
    </dgm:pt>
    <dgm:pt modelId="{F5F18F9E-6630-4259-9DFB-993D7969FA98}" type="pres">
      <dgm:prSet presAssocID="{BC85CDFF-CF68-43B6-9065-A20E84409B67}" presName="sibTrans" presStyleLbl="sibTrans2D1" presStyleIdx="1" presStyleCnt="4"/>
      <dgm:spPr/>
    </dgm:pt>
    <dgm:pt modelId="{AE995AEC-51BE-4AE1-9901-273464BC5FD7}" type="pres">
      <dgm:prSet presAssocID="{BC85CDFF-CF68-43B6-9065-A20E84409B67}" presName="connectorText" presStyleLbl="sibTrans2D1" presStyleIdx="1" presStyleCnt="4"/>
      <dgm:spPr/>
    </dgm:pt>
    <dgm:pt modelId="{48713530-359F-4B24-AD8E-90F5CA1E5B8A}" type="pres">
      <dgm:prSet presAssocID="{7F4B5FFF-9ED3-467E-9F08-56224C0F0A7F}" presName="node" presStyleLbl="node1" presStyleIdx="2" presStyleCnt="5">
        <dgm:presLayoutVars>
          <dgm:bulletEnabled val="1"/>
        </dgm:presLayoutVars>
      </dgm:prSet>
      <dgm:spPr/>
    </dgm:pt>
    <dgm:pt modelId="{00191EE8-DED7-4FD3-90EA-E6EDEBC6E0E2}" type="pres">
      <dgm:prSet presAssocID="{7CE53D13-2F1E-4334-8FCF-7819053F807A}" presName="sibTrans" presStyleLbl="sibTrans2D1" presStyleIdx="2" presStyleCnt="4"/>
      <dgm:spPr/>
    </dgm:pt>
    <dgm:pt modelId="{C2749609-6B32-41C5-9D20-70B086BA6C75}" type="pres">
      <dgm:prSet presAssocID="{7CE53D13-2F1E-4334-8FCF-7819053F807A}" presName="connectorText" presStyleLbl="sibTrans2D1" presStyleIdx="2" presStyleCnt="4"/>
      <dgm:spPr/>
    </dgm:pt>
    <dgm:pt modelId="{D6E9322D-7193-4E11-99DF-55341D827C99}" type="pres">
      <dgm:prSet presAssocID="{D4F4622E-522E-42E2-9325-882BA587A43A}" presName="node" presStyleLbl="node1" presStyleIdx="3" presStyleCnt="5">
        <dgm:presLayoutVars>
          <dgm:bulletEnabled val="1"/>
        </dgm:presLayoutVars>
      </dgm:prSet>
      <dgm:spPr/>
    </dgm:pt>
    <dgm:pt modelId="{20F28471-F34B-4756-9517-8F3AE9BAB6F8}" type="pres">
      <dgm:prSet presAssocID="{F2442B81-00C0-4435-B316-F3582779B651}" presName="sibTrans" presStyleLbl="sibTrans2D1" presStyleIdx="3" presStyleCnt="4"/>
      <dgm:spPr/>
    </dgm:pt>
    <dgm:pt modelId="{729AA94F-516C-49C1-B401-25B4BBC4C87C}" type="pres">
      <dgm:prSet presAssocID="{F2442B81-00C0-4435-B316-F3582779B651}" presName="connectorText" presStyleLbl="sibTrans2D1" presStyleIdx="3" presStyleCnt="4"/>
      <dgm:spPr/>
    </dgm:pt>
    <dgm:pt modelId="{B00F87D7-9E7F-4BAE-B409-6C0C48291B75}" type="pres">
      <dgm:prSet presAssocID="{028A8B19-4191-4E76-9454-D83DBC41B6F4}" presName="node" presStyleLbl="node1" presStyleIdx="4" presStyleCnt="5">
        <dgm:presLayoutVars>
          <dgm:bulletEnabled val="1"/>
        </dgm:presLayoutVars>
      </dgm:prSet>
      <dgm:spPr/>
    </dgm:pt>
  </dgm:ptLst>
  <dgm:cxnLst>
    <dgm:cxn modelId="{0FAD7C00-9515-42C1-8889-692E99739B1D}" type="presOf" srcId="{7CE53D13-2F1E-4334-8FCF-7819053F807A}" destId="{00191EE8-DED7-4FD3-90EA-E6EDEBC6E0E2}" srcOrd="0" destOrd="0" presId="urn:microsoft.com/office/officeart/2005/8/layout/process1"/>
    <dgm:cxn modelId="{38130F02-ED4C-4534-858A-EEC006413E5D}" type="presOf" srcId="{629C9996-1516-4DD1-93F0-210EC0081A28}" destId="{77A6D4E2-F93D-46CA-AC6C-C7A1C1E347E3}" srcOrd="0" destOrd="0" presId="urn:microsoft.com/office/officeart/2005/8/layout/process1"/>
    <dgm:cxn modelId="{FD6FBE2B-B8C9-4CE7-829A-13E356681BB6}" type="presOf" srcId="{F2442B81-00C0-4435-B316-F3582779B651}" destId="{20F28471-F34B-4756-9517-8F3AE9BAB6F8}" srcOrd="0" destOrd="0" presId="urn:microsoft.com/office/officeart/2005/8/layout/process1"/>
    <dgm:cxn modelId="{E775FF2C-0089-4C18-AAB9-E18412CF5B0B}" type="presOf" srcId="{BC85CDFF-CF68-43B6-9065-A20E84409B67}" destId="{F5F18F9E-6630-4259-9DFB-993D7969FA98}" srcOrd="0" destOrd="0" presId="urn:microsoft.com/office/officeart/2005/8/layout/process1"/>
    <dgm:cxn modelId="{F1864F3F-078C-4EF2-A234-6459774A7495}" type="presOf" srcId="{D4F4622E-522E-42E2-9325-882BA587A43A}" destId="{D6E9322D-7193-4E11-99DF-55341D827C99}" srcOrd="0" destOrd="0" presId="urn:microsoft.com/office/officeart/2005/8/layout/process1"/>
    <dgm:cxn modelId="{F061DE67-415E-480B-BD1A-6FE6FBE9B91D}" type="presOf" srcId="{7F4B5FFF-9ED3-467E-9F08-56224C0F0A7F}" destId="{48713530-359F-4B24-AD8E-90F5CA1E5B8A}" srcOrd="0" destOrd="0" presId="urn:microsoft.com/office/officeart/2005/8/layout/process1"/>
    <dgm:cxn modelId="{D26D4A7A-69F6-49B8-80AD-10EE754C7276}" type="presOf" srcId="{BC85CDFF-CF68-43B6-9065-A20E84409B67}" destId="{AE995AEC-51BE-4AE1-9901-273464BC5FD7}" srcOrd="1" destOrd="0" presId="urn:microsoft.com/office/officeart/2005/8/layout/process1"/>
    <dgm:cxn modelId="{43B89582-B31F-4149-8680-7DF2F5ACBFFF}" srcId="{D1E6C2A8-2747-4294-A578-3E60BC72699C}" destId="{7E787B9E-F68A-4726-AD47-A41529D72F7A}" srcOrd="0" destOrd="0" parTransId="{131A7A07-DA4A-469D-B68E-6F212B635694}" sibTransId="{20A36317-A207-4A58-B8F2-9C7A040AEAC2}"/>
    <dgm:cxn modelId="{C3865392-7FEE-4C29-B07C-5179D9E4B558}" type="presOf" srcId="{7CE53D13-2F1E-4334-8FCF-7819053F807A}" destId="{C2749609-6B32-41C5-9D20-70B086BA6C75}" srcOrd="1" destOrd="0" presId="urn:microsoft.com/office/officeart/2005/8/layout/process1"/>
    <dgm:cxn modelId="{6D36BDAF-49F0-49F1-A1F4-5FE8CED45AED}" type="presOf" srcId="{7E787B9E-F68A-4726-AD47-A41529D72F7A}" destId="{98610125-610F-4440-81CC-D81E7A28C4B6}" srcOrd="0" destOrd="0" presId="urn:microsoft.com/office/officeart/2005/8/layout/process1"/>
    <dgm:cxn modelId="{1C5903B3-06E9-477C-BAAF-FE6A078B705F}" srcId="{D1E6C2A8-2747-4294-A578-3E60BC72699C}" destId="{629C9996-1516-4DD1-93F0-210EC0081A28}" srcOrd="1" destOrd="0" parTransId="{EDB9C1ED-567D-413B-8E5D-7BBB68CF638E}" sibTransId="{BC85CDFF-CF68-43B6-9065-A20E84409B67}"/>
    <dgm:cxn modelId="{9B3C77B5-5FC6-4633-9644-197BB5B7C090}" srcId="{D1E6C2A8-2747-4294-A578-3E60BC72699C}" destId="{D4F4622E-522E-42E2-9325-882BA587A43A}" srcOrd="3" destOrd="0" parTransId="{12D438F1-16F0-4289-9C29-07BB8C8DEA4E}" sibTransId="{F2442B81-00C0-4435-B316-F3582779B651}"/>
    <dgm:cxn modelId="{99DC17BD-EA48-409D-8014-D4F4A34E2DB2}" srcId="{D1E6C2A8-2747-4294-A578-3E60BC72699C}" destId="{028A8B19-4191-4E76-9454-D83DBC41B6F4}" srcOrd="4" destOrd="0" parTransId="{DF0BABC2-F8A9-42CD-A0F1-ADFF9CFA12E7}" sibTransId="{D8184D79-403A-484F-A3B2-E8AFE6EAB0DE}"/>
    <dgm:cxn modelId="{66A9E0D2-602B-4FD9-A9FF-6E9B691503B2}" type="presOf" srcId="{028A8B19-4191-4E76-9454-D83DBC41B6F4}" destId="{B00F87D7-9E7F-4BAE-B409-6C0C48291B75}" srcOrd="0" destOrd="0" presId="urn:microsoft.com/office/officeart/2005/8/layout/process1"/>
    <dgm:cxn modelId="{8AF961D8-ED52-4747-93B1-9DDDEC16D787}" type="presOf" srcId="{20A36317-A207-4A58-B8F2-9C7A040AEAC2}" destId="{10F89025-5263-4F54-A62C-3353C3189BAB}" srcOrd="0" destOrd="0" presId="urn:microsoft.com/office/officeart/2005/8/layout/process1"/>
    <dgm:cxn modelId="{924CE9E8-1BC6-4054-944C-F553F103F0C2}" type="presOf" srcId="{D1E6C2A8-2747-4294-A578-3E60BC72699C}" destId="{EE241DB9-664A-4755-BD9A-A47EB96DD90E}" srcOrd="0" destOrd="0" presId="urn:microsoft.com/office/officeart/2005/8/layout/process1"/>
    <dgm:cxn modelId="{AF3EF2EA-CC0B-4909-BF69-F81F38D58DFD}" type="presOf" srcId="{20A36317-A207-4A58-B8F2-9C7A040AEAC2}" destId="{A0AB54E4-A336-4934-AACD-A2A8D60C157A}" srcOrd="1" destOrd="0" presId="urn:microsoft.com/office/officeart/2005/8/layout/process1"/>
    <dgm:cxn modelId="{CB8EA2F1-00F7-41CF-8BA7-00543129BDC0}" type="presOf" srcId="{F2442B81-00C0-4435-B316-F3582779B651}" destId="{729AA94F-516C-49C1-B401-25B4BBC4C87C}" srcOrd="1" destOrd="0" presId="urn:microsoft.com/office/officeart/2005/8/layout/process1"/>
    <dgm:cxn modelId="{59951FFD-F138-4D68-9127-248155DB05BC}" srcId="{D1E6C2A8-2747-4294-A578-3E60BC72699C}" destId="{7F4B5FFF-9ED3-467E-9F08-56224C0F0A7F}" srcOrd="2" destOrd="0" parTransId="{C8A8C85B-5DBC-4826-B79B-1827F17A1C87}" sibTransId="{7CE53D13-2F1E-4334-8FCF-7819053F807A}"/>
    <dgm:cxn modelId="{67687466-2CC7-4219-ACBC-C682EF01AD53}" type="presParOf" srcId="{EE241DB9-664A-4755-BD9A-A47EB96DD90E}" destId="{98610125-610F-4440-81CC-D81E7A28C4B6}" srcOrd="0" destOrd="0" presId="urn:microsoft.com/office/officeart/2005/8/layout/process1"/>
    <dgm:cxn modelId="{067B4648-9F28-4B8E-9BA9-1D0D3D61B3D0}" type="presParOf" srcId="{EE241DB9-664A-4755-BD9A-A47EB96DD90E}" destId="{10F89025-5263-4F54-A62C-3353C3189BAB}" srcOrd="1" destOrd="0" presId="urn:microsoft.com/office/officeart/2005/8/layout/process1"/>
    <dgm:cxn modelId="{E8CC6C95-2DC5-471C-AE26-415E1939504E}" type="presParOf" srcId="{10F89025-5263-4F54-A62C-3353C3189BAB}" destId="{A0AB54E4-A336-4934-AACD-A2A8D60C157A}" srcOrd="0" destOrd="0" presId="urn:microsoft.com/office/officeart/2005/8/layout/process1"/>
    <dgm:cxn modelId="{FA878378-E582-4EB8-B772-DC8DD469F1B1}" type="presParOf" srcId="{EE241DB9-664A-4755-BD9A-A47EB96DD90E}" destId="{77A6D4E2-F93D-46CA-AC6C-C7A1C1E347E3}" srcOrd="2" destOrd="0" presId="urn:microsoft.com/office/officeart/2005/8/layout/process1"/>
    <dgm:cxn modelId="{7559F5CC-05C1-4085-9C57-F1D7ED95701E}" type="presParOf" srcId="{EE241DB9-664A-4755-BD9A-A47EB96DD90E}" destId="{F5F18F9E-6630-4259-9DFB-993D7969FA98}" srcOrd="3" destOrd="0" presId="urn:microsoft.com/office/officeart/2005/8/layout/process1"/>
    <dgm:cxn modelId="{C40299B4-D8CE-452E-B887-416BFB580C54}" type="presParOf" srcId="{F5F18F9E-6630-4259-9DFB-993D7969FA98}" destId="{AE995AEC-51BE-4AE1-9901-273464BC5FD7}" srcOrd="0" destOrd="0" presId="urn:microsoft.com/office/officeart/2005/8/layout/process1"/>
    <dgm:cxn modelId="{EBA963BB-40F9-47DA-82A7-40E6A5445369}" type="presParOf" srcId="{EE241DB9-664A-4755-BD9A-A47EB96DD90E}" destId="{48713530-359F-4B24-AD8E-90F5CA1E5B8A}" srcOrd="4" destOrd="0" presId="urn:microsoft.com/office/officeart/2005/8/layout/process1"/>
    <dgm:cxn modelId="{B9F6EE1C-849D-4D02-B0B8-ACA39867AB20}" type="presParOf" srcId="{EE241DB9-664A-4755-BD9A-A47EB96DD90E}" destId="{00191EE8-DED7-4FD3-90EA-E6EDEBC6E0E2}" srcOrd="5" destOrd="0" presId="urn:microsoft.com/office/officeart/2005/8/layout/process1"/>
    <dgm:cxn modelId="{8B07C9AD-79B2-440C-BD6C-A72583E2D314}" type="presParOf" srcId="{00191EE8-DED7-4FD3-90EA-E6EDEBC6E0E2}" destId="{C2749609-6B32-41C5-9D20-70B086BA6C75}" srcOrd="0" destOrd="0" presId="urn:microsoft.com/office/officeart/2005/8/layout/process1"/>
    <dgm:cxn modelId="{E4D9C973-9995-46DA-ABD7-D518472829EA}" type="presParOf" srcId="{EE241DB9-664A-4755-BD9A-A47EB96DD90E}" destId="{D6E9322D-7193-4E11-99DF-55341D827C99}" srcOrd="6" destOrd="0" presId="urn:microsoft.com/office/officeart/2005/8/layout/process1"/>
    <dgm:cxn modelId="{E16E5F45-6543-4DF4-A9EF-424240AA8897}" type="presParOf" srcId="{EE241DB9-664A-4755-BD9A-A47EB96DD90E}" destId="{20F28471-F34B-4756-9517-8F3AE9BAB6F8}" srcOrd="7" destOrd="0" presId="urn:microsoft.com/office/officeart/2005/8/layout/process1"/>
    <dgm:cxn modelId="{E176BDC8-3F6B-4CFD-BA8C-AC1AA40E3C5F}" type="presParOf" srcId="{20F28471-F34B-4756-9517-8F3AE9BAB6F8}" destId="{729AA94F-516C-49C1-B401-25B4BBC4C87C}" srcOrd="0" destOrd="0" presId="urn:microsoft.com/office/officeart/2005/8/layout/process1"/>
    <dgm:cxn modelId="{796D8A67-91D2-4146-A37D-03BDF60D13D3}" type="presParOf" srcId="{EE241DB9-664A-4755-BD9A-A47EB96DD90E}" destId="{B00F87D7-9E7F-4BAE-B409-6C0C48291B75}"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610125-610F-4440-81CC-D81E7A28C4B6}">
      <dsp:nvSpPr>
        <dsp:cNvPr id="0" name=""/>
        <dsp:cNvSpPr/>
      </dsp:nvSpPr>
      <dsp:spPr>
        <a:xfrm>
          <a:off x="4769" y="1167513"/>
          <a:ext cx="1478571" cy="887143"/>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Introduction to Game Engines</a:t>
          </a:r>
        </a:p>
      </dsp:txBody>
      <dsp:txXfrm>
        <a:off x="30753" y="1193497"/>
        <a:ext cx="1426603" cy="835175"/>
      </dsp:txXfrm>
    </dsp:sp>
    <dsp:sp modelId="{10F89025-5263-4F54-A62C-3353C3189BAB}">
      <dsp:nvSpPr>
        <dsp:cNvPr id="0" name=""/>
        <dsp:cNvSpPr/>
      </dsp:nvSpPr>
      <dsp:spPr>
        <a:xfrm>
          <a:off x="1631198" y="1427742"/>
          <a:ext cx="313457" cy="366685"/>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631198" y="1501079"/>
        <a:ext cx="219420" cy="220011"/>
      </dsp:txXfrm>
    </dsp:sp>
    <dsp:sp modelId="{77A6D4E2-F93D-46CA-AC6C-C7A1C1E347E3}">
      <dsp:nvSpPr>
        <dsp:cNvPr id="0" name=""/>
        <dsp:cNvSpPr/>
      </dsp:nvSpPr>
      <dsp:spPr>
        <a:xfrm>
          <a:off x="2074770" y="1167513"/>
          <a:ext cx="1478571" cy="887143"/>
        </a:xfrm>
        <a:prstGeom prst="roundRect">
          <a:avLst>
            <a:gd name="adj" fmla="val 10000"/>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2D Game Design</a:t>
          </a:r>
        </a:p>
      </dsp:txBody>
      <dsp:txXfrm>
        <a:off x="2100754" y="1193497"/>
        <a:ext cx="1426603" cy="835175"/>
      </dsp:txXfrm>
    </dsp:sp>
    <dsp:sp modelId="{F5F18F9E-6630-4259-9DFB-993D7969FA98}">
      <dsp:nvSpPr>
        <dsp:cNvPr id="0" name=""/>
        <dsp:cNvSpPr/>
      </dsp:nvSpPr>
      <dsp:spPr>
        <a:xfrm>
          <a:off x="3701199" y="1427742"/>
          <a:ext cx="313457" cy="366685"/>
        </a:xfrm>
        <a:prstGeom prst="rightArrow">
          <a:avLst>
            <a:gd name="adj1" fmla="val 60000"/>
            <a:gd name="adj2" fmla="val 50000"/>
          </a:avLst>
        </a:prstGeom>
        <a:solidFill>
          <a:schemeClr val="accent5">
            <a:hueOff val="-2252848"/>
            <a:satOff val="-5806"/>
            <a:lumOff val="-392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701199" y="1501079"/>
        <a:ext cx="219420" cy="220011"/>
      </dsp:txXfrm>
    </dsp:sp>
    <dsp:sp modelId="{48713530-359F-4B24-AD8E-90F5CA1E5B8A}">
      <dsp:nvSpPr>
        <dsp:cNvPr id="0" name=""/>
        <dsp:cNvSpPr/>
      </dsp:nvSpPr>
      <dsp:spPr>
        <a:xfrm>
          <a:off x="4144771" y="1167513"/>
          <a:ext cx="1478571" cy="887143"/>
        </a:xfrm>
        <a:prstGeom prst="roundRect">
          <a:avLst>
            <a:gd name="adj" fmla="val 10000"/>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Physics and Simulation</a:t>
          </a:r>
        </a:p>
      </dsp:txBody>
      <dsp:txXfrm>
        <a:off x="4170755" y="1193497"/>
        <a:ext cx="1426603" cy="835175"/>
      </dsp:txXfrm>
    </dsp:sp>
    <dsp:sp modelId="{00191EE8-DED7-4FD3-90EA-E6EDEBC6E0E2}">
      <dsp:nvSpPr>
        <dsp:cNvPr id="0" name=""/>
        <dsp:cNvSpPr/>
      </dsp:nvSpPr>
      <dsp:spPr>
        <a:xfrm>
          <a:off x="5771200" y="1427742"/>
          <a:ext cx="313457" cy="366685"/>
        </a:xfrm>
        <a:prstGeom prst="rightArrow">
          <a:avLst>
            <a:gd name="adj1" fmla="val 60000"/>
            <a:gd name="adj2" fmla="val 50000"/>
          </a:avLst>
        </a:prstGeom>
        <a:solidFill>
          <a:schemeClr val="accent5">
            <a:hueOff val="-4505695"/>
            <a:satOff val="-11613"/>
            <a:lumOff val="-784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5771200" y="1501079"/>
        <a:ext cx="219420" cy="220011"/>
      </dsp:txXfrm>
    </dsp:sp>
    <dsp:sp modelId="{D6E9322D-7193-4E11-99DF-55341D827C99}">
      <dsp:nvSpPr>
        <dsp:cNvPr id="0" name=""/>
        <dsp:cNvSpPr/>
      </dsp:nvSpPr>
      <dsp:spPr>
        <a:xfrm>
          <a:off x="6214771" y="1167513"/>
          <a:ext cx="1478571" cy="887143"/>
        </a:xfrm>
        <a:prstGeom prst="roundRect">
          <a:avLst>
            <a:gd name="adj" fmla="val 10000"/>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3D Game Design</a:t>
          </a:r>
        </a:p>
      </dsp:txBody>
      <dsp:txXfrm>
        <a:off x="6240755" y="1193497"/>
        <a:ext cx="1426603" cy="835175"/>
      </dsp:txXfrm>
    </dsp:sp>
    <dsp:sp modelId="{20F28471-F34B-4756-9517-8F3AE9BAB6F8}">
      <dsp:nvSpPr>
        <dsp:cNvPr id="0" name=""/>
        <dsp:cNvSpPr/>
      </dsp:nvSpPr>
      <dsp:spPr>
        <a:xfrm>
          <a:off x="7841200" y="1427742"/>
          <a:ext cx="313457" cy="366685"/>
        </a:xfrm>
        <a:prstGeom prst="rightArrow">
          <a:avLst>
            <a:gd name="adj1" fmla="val 60000"/>
            <a:gd name="adj2" fmla="val 50000"/>
          </a:avLst>
        </a:prstGeom>
        <a:solidFill>
          <a:schemeClr val="accent5">
            <a:hueOff val="-6758543"/>
            <a:satOff val="-17419"/>
            <a:lumOff val="-117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7841200" y="1501079"/>
        <a:ext cx="219420" cy="220011"/>
      </dsp:txXfrm>
    </dsp:sp>
    <dsp:sp modelId="{B00F87D7-9E7F-4BAE-B409-6C0C48291B75}">
      <dsp:nvSpPr>
        <dsp:cNvPr id="0" name=""/>
        <dsp:cNvSpPr/>
      </dsp:nvSpPr>
      <dsp:spPr>
        <a:xfrm>
          <a:off x="8284772" y="1167513"/>
          <a:ext cx="1478571" cy="887143"/>
        </a:xfrm>
        <a:prstGeom prst="roundRect">
          <a:avLst>
            <a:gd name="adj" fmla="val 1000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Final Project</a:t>
          </a:r>
        </a:p>
      </dsp:txBody>
      <dsp:txXfrm>
        <a:off x="8310756" y="1193497"/>
        <a:ext cx="1426603" cy="83517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81D33-D3DC-4EEE-9841-2A93D98735D4}" type="datetimeFigureOut">
              <a:rPr lang="en-US" smtClean="0"/>
              <a:t>11/18/2020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829C27-AAA8-470D-92FE-57BE00B20D4F}" type="slidenum">
              <a:rPr lang="en-US" smtClean="0"/>
              <a:t>‹#›</a:t>
            </a:fld>
            <a:endParaRPr lang="en-US"/>
          </a:p>
        </p:txBody>
      </p:sp>
    </p:spTree>
    <p:extLst>
      <p:ext uri="{BB962C8B-B14F-4D97-AF65-F5344CB8AC3E}">
        <p14:creationId xmlns:p14="http://schemas.microsoft.com/office/powerpoint/2010/main" val="390011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829C27-AAA8-470D-92FE-57BE00B20D4F}" type="slidenum">
              <a:rPr lang="en-US" smtClean="0"/>
              <a:t>2</a:t>
            </a:fld>
            <a:endParaRPr lang="en-US"/>
          </a:p>
        </p:txBody>
      </p:sp>
    </p:spTree>
    <p:extLst>
      <p:ext uri="{BB962C8B-B14F-4D97-AF65-F5344CB8AC3E}">
        <p14:creationId xmlns:p14="http://schemas.microsoft.com/office/powerpoint/2010/main" val="1102364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DBFD92-5C28-4DC6-81DB-5A68BA7EBC93}" type="datetime1">
              <a:rPr lang="en-US" smtClean="0"/>
              <a:t>11/18/2020</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958223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6C1D00-8098-4A9B-B4A5-9A66C7D1317A}" type="datetime1">
              <a:rPr lang="en-US" smtClean="0"/>
              <a:t>11/18/2020</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414595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72944B9-B08F-4DA1-ACDE-CD01C9904901}" type="datetime1">
              <a:rPr lang="en-US" smtClean="0"/>
              <a:t>11/18/2020</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1357855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443B77-6302-4483-AF5B-A33F83BA44B0}" type="datetime1">
              <a:rPr lang="en-US" smtClean="0"/>
              <a:t>11/18/2020</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308222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1936C3-F8E0-4FE0-91E2-288A042D5907}" type="datetime1">
              <a:rPr lang="en-US" smtClean="0"/>
              <a:t>11/18/2020</a:t>
            </a:fld>
            <a:endParaRPr lang="en-US"/>
          </a:p>
        </p:txBody>
      </p:sp>
      <p:sp>
        <p:nvSpPr>
          <p:cNvPr id="8" name="Footer Placeholder 7"/>
          <p:cNvSpPr>
            <a:spLocks noGrp="1"/>
          </p:cNvSpPr>
          <p:nvPr>
            <p:ph type="ftr" sz="quarter" idx="11"/>
          </p:nvPr>
        </p:nvSpPr>
        <p:spPr/>
        <p:txBody>
          <a:bodyPr/>
          <a:lstStyle/>
          <a:p>
            <a:r>
              <a:rPr lang="en-US"/>
              <a:t>copyright © 2017 Kevin M. Smith</a:t>
            </a:r>
          </a:p>
        </p:txBody>
      </p:sp>
      <p:sp>
        <p:nvSpPr>
          <p:cNvPr id="9" name="Slide Number Placeholder 8"/>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1274070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F50540-7B40-4BB4-846E-2968CB26C7FB}" type="datetime1">
              <a:rPr lang="en-US" smtClean="0"/>
              <a:t>11/18/2020</a:t>
            </a:fld>
            <a:endParaRPr lang="en-US"/>
          </a:p>
        </p:txBody>
      </p:sp>
      <p:sp>
        <p:nvSpPr>
          <p:cNvPr id="4" name="Footer Placeholder 3"/>
          <p:cNvSpPr>
            <a:spLocks noGrp="1"/>
          </p:cNvSpPr>
          <p:nvPr>
            <p:ph type="ftr" sz="quarter" idx="11"/>
          </p:nvPr>
        </p:nvSpPr>
        <p:spPr/>
        <p:txBody>
          <a:bodyPr/>
          <a:lstStyle/>
          <a:p>
            <a:r>
              <a:rPr lang="en-US"/>
              <a:t>copyright © 2017 Kevin M. Smith</a:t>
            </a:r>
          </a:p>
        </p:txBody>
      </p:sp>
      <p:sp>
        <p:nvSpPr>
          <p:cNvPr id="5" name="Slide Number Placeholder 4"/>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477989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944FA3-D183-4229-9125-D4C2C3F2F29C}" type="datetime1">
              <a:rPr lang="en-US" smtClean="0"/>
              <a:t>11/18/2020</a:t>
            </a:fld>
            <a:endParaRPr lang="en-US"/>
          </a:p>
        </p:txBody>
      </p:sp>
      <p:sp>
        <p:nvSpPr>
          <p:cNvPr id="3" name="Footer Placeholder 2"/>
          <p:cNvSpPr>
            <a:spLocks noGrp="1"/>
          </p:cNvSpPr>
          <p:nvPr>
            <p:ph type="ftr" sz="quarter" idx="11"/>
          </p:nvPr>
        </p:nvSpPr>
        <p:spPr/>
        <p:txBody>
          <a:bodyPr/>
          <a:lstStyle/>
          <a:p>
            <a:r>
              <a:rPr lang="en-US"/>
              <a:t>copyright © 2017 Kevin M. Smith</a:t>
            </a:r>
          </a:p>
        </p:txBody>
      </p:sp>
      <p:sp>
        <p:nvSpPr>
          <p:cNvPr id="4" name="Slide Number Placeholder 3"/>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885825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A636C1-38B2-4531-A2ED-289F8D719C97}" type="datetime1">
              <a:rPr lang="en-US" smtClean="0"/>
              <a:t>11/18/2020</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592474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B2830A5-A361-4861-A529-30991D4B67EB}" type="datetime1">
              <a:rPr lang="en-US" smtClean="0"/>
              <a:t>11/18/2020</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21989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ED95A6-FBBB-457F-BC2F-84487D193BC5}" type="datetime1">
              <a:rPr lang="en-US" smtClean="0"/>
              <a:t>11/18/2020</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408091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2A1209-11D7-4112-B3B0-B5FF3960E31D}" type="datetime1">
              <a:rPr lang="en-US" smtClean="0"/>
              <a:t>11/18/2020</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57221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A5CB5-5376-4B05-B033-DAE5282DD0BC}" type="datetime1">
              <a:rPr lang="en-US" smtClean="0"/>
              <a:t>11/18/2020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 2017 Kevin M. Smith</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47792B-7BF8-4B18-9E81-3A6946432DE1}" type="slidenum">
              <a:rPr lang="en-US" smtClean="0"/>
              <a:t>‹#›</a:t>
            </a:fld>
            <a:endParaRPr lang="en-US"/>
          </a:p>
        </p:txBody>
      </p:sp>
    </p:spTree>
    <p:extLst>
      <p:ext uri="{BB962C8B-B14F-4D97-AF65-F5344CB8AC3E}">
        <p14:creationId xmlns:p14="http://schemas.microsoft.com/office/powerpoint/2010/main" val="399788732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tiff"/><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tiff"/><Relationship Id="rId5" Type="http://schemas.openxmlformats.org/officeDocument/2006/relationships/image" Target="../media/image5.tif"/><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openframeworks.cc/ofBook/chapters/shaders.html"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75000"/>
          </a:schemeClr>
        </a:solidFill>
        <a:effectLst/>
      </p:bgPr>
    </p:bg>
    <p:spTree>
      <p:nvGrpSpPr>
        <p:cNvPr id="1" name=""/>
        <p:cNvGrpSpPr/>
        <p:nvPr/>
      </p:nvGrpSpPr>
      <p:grpSpPr>
        <a:xfrm>
          <a:off x="0" y="0"/>
          <a:ext cx="0" cy="0"/>
          <a:chOff x="0" y="0"/>
          <a:chExt cx="0" cy="0"/>
        </a:xfrm>
      </p:grpSpPr>
      <p:sp>
        <p:nvSpPr>
          <p:cNvPr id="25" name="Rectangle 11">
            <a:extLst>
              <a:ext uri="{FF2B5EF4-FFF2-40B4-BE49-F238E27FC236}">
                <a16:creationId xmlns:a16="http://schemas.microsoft.com/office/drawing/2014/main" id="{343ADA3E-BE07-4F26-9361-F12F5F5F316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3">
            <a:extLst>
              <a:ext uri="{FF2B5EF4-FFF2-40B4-BE49-F238E27FC236}">
                <a16:creationId xmlns:a16="http://schemas.microsoft.com/office/drawing/2014/main" id="{4EAB7026-E0C0-4521-B56A-B6CC4A6325A4}"/>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925" y="-479"/>
            <a:ext cx="9468701" cy="6858478"/>
          </a:xfrm>
          <a:custGeom>
            <a:avLst/>
            <a:gdLst>
              <a:gd name="connsiteX0" fmla="*/ 0 w 8078051"/>
              <a:gd name="connsiteY0" fmla="*/ 0 h 5829300"/>
              <a:gd name="connsiteX1" fmla="*/ 4453793 w 8078051"/>
              <a:gd name="connsiteY1" fmla="*/ 0 h 5829300"/>
              <a:gd name="connsiteX2" fmla="*/ 5363426 w 8078051"/>
              <a:gd name="connsiteY2" fmla="*/ 0 h 5829300"/>
              <a:gd name="connsiteX3" fmla="*/ 5368184 w 8078051"/>
              <a:gd name="connsiteY3" fmla="*/ 0 h 5829300"/>
              <a:gd name="connsiteX4" fmla="*/ 8078051 w 8078051"/>
              <a:gd name="connsiteY4" fmla="*/ 5829300 h 5829300"/>
              <a:gd name="connsiteX5" fmla="*/ 1743926 w 8078051"/>
              <a:gd name="connsiteY5" fmla="*/ 5829300 h 5829300"/>
              <a:gd name="connsiteX6" fmla="*/ 1744148 w 8078051"/>
              <a:gd name="connsiteY6" fmla="*/ 5828822 h 5829300"/>
              <a:gd name="connsiteX7" fmla="*/ 0 w 8078051"/>
              <a:gd name="connsiteY7" fmla="*/ 5828822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8051" h="5829300">
                <a:moveTo>
                  <a:pt x="0" y="0"/>
                </a:moveTo>
                <a:lnTo>
                  <a:pt x="4453793" y="0"/>
                </a:lnTo>
                <a:lnTo>
                  <a:pt x="5363426" y="0"/>
                </a:lnTo>
                <a:lnTo>
                  <a:pt x="5368184" y="0"/>
                </a:lnTo>
                <a:lnTo>
                  <a:pt x="8078051" y="5829300"/>
                </a:lnTo>
                <a:lnTo>
                  <a:pt x="1743926" y="5829300"/>
                </a:lnTo>
                <a:lnTo>
                  <a:pt x="1744148" y="5828822"/>
                </a:lnTo>
                <a:lnTo>
                  <a:pt x="0" y="5828822"/>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16">
            <a:extLst>
              <a:ext uri="{FF2B5EF4-FFF2-40B4-BE49-F238E27FC236}">
                <a16:creationId xmlns:a16="http://schemas.microsoft.com/office/drawing/2014/main" id="{10F3B50B-55C6-4818-B05E-24E5EED1905E}"/>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79"/>
            <a:ext cx="9324977" cy="6858479"/>
          </a:xfrm>
          <a:custGeom>
            <a:avLst/>
            <a:gdLst>
              <a:gd name="connsiteX0" fmla="*/ 1246925 w 9324977"/>
              <a:gd name="connsiteY0" fmla="*/ 0 h 6858479"/>
              <a:gd name="connsiteX1" fmla="*/ 5076797 w 9324977"/>
              <a:gd name="connsiteY1" fmla="*/ 0 h 6858479"/>
              <a:gd name="connsiteX2" fmla="*/ 6143025 w 9324977"/>
              <a:gd name="connsiteY2" fmla="*/ 0 h 6858479"/>
              <a:gd name="connsiteX3" fmla="*/ 6148602 w 9324977"/>
              <a:gd name="connsiteY3" fmla="*/ 0 h 6858479"/>
              <a:gd name="connsiteX4" fmla="*/ 9324977 w 9324977"/>
              <a:gd name="connsiteY4" fmla="*/ 6858478 h 6858479"/>
              <a:gd name="connsiteX5" fmla="*/ 3359025 w 9324977"/>
              <a:gd name="connsiteY5" fmla="*/ 6858478 h 6858479"/>
              <a:gd name="connsiteX6" fmla="*/ 3359025 w 9324977"/>
              <a:gd name="connsiteY6" fmla="*/ 6858479 h 6858479"/>
              <a:gd name="connsiteX7" fmla="*/ 0 w 9324977"/>
              <a:gd name="connsiteY7" fmla="*/ 6858479 h 6858479"/>
              <a:gd name="connsiteX8" fmla="*/ 0 w 9324977"/>
              <a:gd name="connsiteY8" fmla="*/ 479 h 6858479"/>
              <a:gd name="connsiteX9" fmla="*/ 1246925 w 9324977"/>
              <a:gd name="connsiteY9" fmla="*/ 479 h 68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24977" h="6858479">
                <a:moveTo>
                  <a:pt x="1246925" y="0"/>
                </a:moveTo>
                <a:lnTo>
                  <a:pt x="5076797" y="0"/>
                </a:lnTo>
                <a:lnTo>
                  <a:pt x="6143025" y="0"/>
                </a:lnTo>
                <a:lnTo>
                  <a:pt x="6148602" y="0"/>
                </a:lnTo>
                <a:lnTo>
                  <a:pt x="9324977" y="6858478"/>
                </a:lnTo>
                <a:lnTo>
                  <a:pt x="3359025" y="6858478"/>
                </a:lnTo>
                <a:lnTo>
                  <a:pt x="3359025" y="6858479"/>
                </a:lnTo>
                <a:lnTo>
                  <a:pt x="0" y="6858479"/>
                </a:lnTo>
                <a:lnTo>
                  <a:pt x="0" y="479"/>
                </a:lnTo>
                <a:lnTo>
                  <a:pt x="1246925" y="479"/>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 up of a logo&#10;&#10;Description generated with very high confidence">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2" name="Title 1">
            <a:extLst>
              <a:ext uri="{FF2B5EF4-FFF2-40B4-BE49-F238E27FC236}">
                <a16:creationId xmlns:a16="http://schemas.microsoft.com/office/drawing/2014/main" id="{BED09DB5-5978-4E0A-9D84-6428949B93E5}"/>
              </a:ext>
            </a:extLst>
          </p:cNvPr>
          <p:cNvSpPr>
            <a:spLocks noGrp="1"/>
          </p:cNvSpPr>
          <p:nvPr>
            <p:ph type="ctrTitle"/>
          </p:nvPr>
        </p:nvSpPr>
        <p:spPr>
          <a:xfrm>
            <a:off x="804671" y="2600324"/>
            <a:ext cx="6405753" cy="3277961"/>
          </a:xfrm>
        </p:spPr>
        <p:txBody>
          <a:bodyPr anchor="t">
            <a:normAutofit/>
          </a:bodyPr>
          <a:lstStyle/>
          <a:p>
            <a:pPr algn="l"/>
            <a:r>
              <a:rPr lang="en-US" sz="5400" dirty="0"/>
              <a:t>CS 134 Computer Game Design</a:t>
            </a:r>
          </a:p>
        </p:txBody>
      </p:sp>
      <p:sp>
        <p:nvSpPr>
          <p:cNvPr id="3" name="Subtitle 2">
            <a:extLst>
              <a:ext uri="{FF2B5EF4-FFF2-40B4-BE49-F238E27FC236}">
                <a16:creationId xmlns:a16="http://schemas.microsoft.com/office/drawing/2014/main" id="{36C6AE9A-2BEB-4C56-B297-BC12579D1D8C}"/>
              </a:ext>
            </a:extLst>
          </p:cNvPr>
          <p:cNvSpPr>
            <a:spLocks noGrp="1"/>
          </p:cNvSpPr>
          <p:nvPr>
            <p:ph type="subTitle" idx="1"/>
          </p:nvPr>
        </p:nvSpPr>
        <p:spPr>
          <a:xfrm>
            <a:off x="804672" y="1300450"/>
            <a:ext cx="4167376" cy="1155525"/>
          </a:xfrm>
        </p:spPr>
        <p:txBody>
          <a:bodyPr anchor="b">
            <a:normAutofit/>
          </a:bodyPr>
          <a:lstStyle/>
          <a:p>
            <a:pPr algn="l"/>
            <a:r>
              <a:rPr lang="en-US" sz="2000"/>
              <a:t>Instructor: Kevin M. Smith</a:t>
            </a:r>
          </a:p>
        </p:txBody>
      </p:sp>
      <p:sp>
        <p:nvSpPr>
          <p:cNvPr id="4" name="Footer Placeholder 3">
            <a:extLst>
              <a:ext uri="{FF2B5EF4-FFF2-40B4-BE49-F238E27FC236}">
                <a16:creationId xmlns:a16="http://schemas.microsoft.com/office/drawing/2014/main" id="{93832073-FAC5-49BC-895C-B564209CD2A3}"/>
              </a:ext>
            </a:extLst>
          </p:cNvPr>
          <p:cNvSpPr>
            <a:spLocks noGrp="1"/>
          </p:cNvSpPr>
          <p:nvPr>
            <p:ph type="ftr" sz="quarter" idx="11"/>
          </p:nvPr>
        </p:nvSpPr>
        <p:spPr>
          <a:xfrm>
            <a:off x="804672" y="6356350"/>
            <a:ext cx="4114800" cy="365125"/>
          </a:xfrm>
        </p:spPr>
        <p:txBody>
          <a:bodyPr>
            <a:normAutofit/>
          </a:bodyPr>
          <a:lstStyle/>
          <a:p>
            <a:pPr algn="l">
              <a:lnSpc>
                <a:spcPct val="90000"/>
              </a:lnSpc>
              <a:spcAft>
                <a:spcPts val="600"/>
              </a:spcAft>
            </a:pPr>
            <a:r>
              <a:rPr lang="en-US" sz="900">
                <a:solidFill>
                  <a:schemeClr val="tx1">
                    <a:lumMod val="85000"/>
                  </a:schemeClr>
                </a:solidFill>
              </a:rPr>
              <a:t>copyright © 2017 Kevin M. Smith, content Adapted from Jared Finder’s Slides from CS134 section 1</a:t>
            </a:r>
          </a:p>
        </p:txBody>
      </p:sp>
    </p:spTree>
    <p:extLst>
      <p:ext uri="{BB962C8B-B14F-4D97-AF65-F5344CB8AC3E}">
        <p14:creationId xmlns:p14="http://schemas.microsoft.com/office/powerpoint/2010/main" val="1731030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565030" y="572590"/>
            <a:ext cx="4798942" cy="707886"/>
          </a:xfrm>
          <a:prstGeom prst="rect">
            <a:avLst/>
          </a:prstGeom>
          <a:noFill/>
        </p:spPr>
        <p:txBody>
          <a:bodyPr wrap="none" rtlCol="0">
            <a:spAutoFit/>
          </a:bodyPr>
          <a:lstStyle/>
          <a:p>
            <a:r>
              <a:rPr lang="en-US" sz="4000" dirty="0"/>
              <a:t>CS 134 Course Outline</a:t>
            </a:r>
          </a:p>
        </p:txBody>
      </p:sp>
      <p:graphicFrame>
        <p:nvGraphicFramePr>
          <p:cNvPr id="11" name="Diagram 10">
            <a:extLst>
              <a:ext uri="{FF2B5EF4-FFF2-40B4-BE49-F238E27FC236}">
                <a16:creationId xmlns:a16="http://schemas.microsoft.com/office/drawing/2014/main" id="{287CBAA9-3AE7-4EB5-B258-099D2A155FB5}"/>
              </a:ext>
            </a:extLst>
          </p:cNvPr>
          <p:cNvGraphicFramePr/>
          <p:nvPr>
            <p:extLst>
              <p:ext uri="{D42A27DB-BD31-4B8C-83A1-F6EECF244321}">
                <p14:modId xmlns:p14="http://schemas.microsoft.com/office/powerpoint/2010/main" val="3097200060"/>
              </p:ext>
            </p:extLst>
          </p:nvPr>
        </p:nvGraphicFramePr>
        <p:xfrm>
          <a:off x="1374710" y="1946988"/>
          <a:ext cx="9768114" cy="32221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1">
            <a:extLst>
              <a:ext uri="{FF2B5EF4-FFF2-40B4-BE49-F238E27FC236}">
                <a16:creationId xmlns:a16="http://schemas.microsoft.com/office/drawing/2014/main" id="{3BBFEFC1-FA58-438E-9082-B0FAB6FDEA50}"/>
              </a:ext>
            </a:extLst>
          </p:cNvPr>
          <p:cNvSpPr/>
          <p:nvPr/>
        </p:nvSpPr>
        <p:spPr>
          <a:xfrm>
            <a:off x="7540627" y="2822873"/>
            <a:ext cx="1585559" cy="1589154"/>
          </a:xfrm>
          <a:prstGeom prst="rect">
            <a:avLst/>
          </a:prstGeom>
          <a:solidFill>
            <a:schemeClr val="accent1">
              <a:alpha val="16000"/>
            </a:schemeClr>
          </a:solidFill>
          <a:effectLst>
            <a:outerShdw blurRad="50800" dist="50800" dir="5400000" sx="37000" sy="37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A0C1CB47-B354-4FB8-816A-A7C46FA75E7E}"/>
              </a:ext>
            </a:extLst>
          </p:cNvPr>
          <p:cNvSpPr>
            <a:spLocks noGrp="1"/>
          </p:cNvSpPr>
          <p:nvPr>
            <p:ph type="ftr" sz="quarter" idx="11"/>
          </p:nvPr>
        </p:nvSpPr>
        <p:spPr/>
        <p:txBody>
          <a:bodyPr/>
          <a:lstStyle/>
          <a:p>
            <a:r>
              <a:rPr lang="en-US"/>
              <a:t>copyright © 2017 Kevin M. Smith</a:t>
            </a:r>
          </a:p>
        </p:txBody>
      </p:sp>
    </p:spTree>
    <p:extLst>
      <p:ext uri="{BB962C8B-B14F-4D97-AF65-F5344CB8AC3E}">
        <p14:creationId xmlns:p14="http://schemas.microsoft.com/office/powerpoint/2010/main" val="1671551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526068" y="2452049"/>
            <a:ext cx="5656100" cy="646331"/>
          </a:xfrm>
          <a:prstGeom prst="rect">
            <a:avLst/>
          </a:prstGeom>
          <a:noFill/>
        </p:spPr>
        <p:txBody>
          <a:bodyPr wrap="none" rtlCol="0">
            <a:spAutoFit/>
          </a:bodyPr>
          <a:lstStyle/>
          <a:p>
            <a:r>
              <a:rPr lang="en-US" sz="3600" dirty="0"/>
              <a:t>Quick Review From Last Time</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778479" y="1143999"/>
            <a:ext cx="8635041" cy="2616101"/>
          </a:xfrm>
          <a:prstGeom prst="rect">
            <a:avLst/>
          </a:prstGeom>
          <a:noFill/>
        </p:spPr>
        <p:txBody>
          <a:bodyPr wrap="square" rtlCol="0">
            <a:spAutoFit/>
          </a:bodyPr>
          <a:lstStyle/>
          <a:p>
            <a:endParaRPr lang="en-US" sz="2000" b="1" dirty="0"/>
          </a:p>
          <a:p>
            <a:endParaRPr lang="en-US" sz="2400" dirty="0"/>
          </a:p>
          <a:p>
            <a:pPr lvl="1"/>
            <a:endParaRPr lang="en-US" sz="2400" dirty="0"/>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614951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2927148" cy="646331"/>
          </a:xfrm>
          <a:prstGeom prst="rect">
            <a:avLst/>
          </a:prstGeom>
          <a:noFill/>
        </p:spPr>
        <p:txBody>
          <a:bodyPr wrap="none" rtlCol="0">
            <a:spAutoFit/>
          </a:bodyPr>
          <a:lstStyle/>
          <a:p>
            <a:r>
              <a:rPr lang="en-US" sz="3600" dirty="0"/>
              <a:t>Particle Effects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pic>
        <p:nvPicPr>
          <p:cNvPr id="3" name="Picture 2">
            <a:extLst>
              <a:ext uri="{FF2B5EF4-FFF2-40B4-BE49-F238E27FC236}">
                <a16:creationId xmlns:a16="http://schemas.microsoft.com/office/drawing/2014/main" id="{E71F324D-4F95-476C-BACC-517B381DD116}"/>
              </a:ext>
            </a:extLst>
          </p:cNvPr>
          <p:cNvPicPr>
            <a:picLocks noChangeAspect="1"/>
          </p:cNvPicPr>
          <p:nvPr/>
        </p:nvPicPr>
        <p:blipFill>
          <a:blip r:embed="rId3"/>
          <a:stretch>
            <a:fillRect/>
          </a:stretch>
        </p:blipFill>
        <p:spPr>
          <a:xfrm>
            <a:off x="3081855" y="1476374"/>
            <a:ext cx="6219307" cy="4481451"/>
          </a:xfrm>
          <a:prstGeom prst="rect">
            <a:avLst/>
          </a:prstGeom>
        </p:spPr>
      </p:pic>
    </p:spTree>
    <p:extLst>
      <p:ext uri="{BB962C8B-B14F-4D97-AF65-F5344CB8AC3E}">
        <p14:creationId xmlns:p14="http://schemas.microsoft.com/office/powerpoint/2010/main" val="2777124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7567649" cy="646331"/>
          </a:xfrm>
          <a:prstGeom prst="rect">
            <a:avLst/>
          </a:prstGeom>
          <a:noFill/>
        </p:spPr>
        <p:txBody>
          <a:bodyPr wrap="none" rtlCol="0">
            <a:spAutoFit/>
          </a:bodyPr>
          <a:lstStyle/>
          <a:p>
            <a:r>
              <a:rPr lang="en-US" sz="3600" dirty="0"/>
              <a:t>Particles Effects in Real-Time for Games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6340197"/>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dirty="0"/>
              <a:t>How do we create a simulated particle effect such as an explosion in real-time ?</a:t>
            </a:r>
          </a:p>
          <a:p>
            <a:pPr marL="800100" lvl="1" indent="-342900">
              <a:buFont typeface="Arial" panose="020B0604020202020204" pitchFamily="34" charset="0"/>
              <a:buChar char="•"/>
            </a:pPr>
            <a:r>
              <a:rPr lang="en-US" sz="2400" dirty="0"/>
              <a:t>Needs lots of particles (10-20K)</a:t>
            </a:r>
          </a:p>
          <a:p>
            <a:pPr marL="800100" lvl="1" indent="-342900">
              <a:buFont typeface="Arial" panose="020B0604020202020204" pitchFamily="34" charset="0"/>
              <a:buChar char="•"/>
            </a:pPr>
            <a:r>
              <a:rPr lang="en-US" sz="2400" dirty="0"/>
              <a:t>Needs to create them very fast  - particle grouping</a:t>
            </a:r>
          </a:p>
          <a:p>
            <a:pPr marL="800100" lvl="1" indent="-342900">
              <a:buFont typeface="Arial" panose="020B0604020202020204" pitchFamily="34" charset="0"/>
              <a:buChar char="•"/>
            </a:pPr>
            <a:r>
              <a:rPr lang="en-US" sz="2400" dirty="0"/>
              <a:t>Radial emitters can emit particles in a radial </a:t>
            </a:r>
          </a:p>
          <a:p>
            <a:pPr marL="800100" lvl="1" indent="-342900">
              <a:buFont typeface="Arial" panose="020B0604020202020204" pitchFamily="34" charset="0"/>
              <a:buChar char="•"/>
            </a:pPr>
            <a:r>
              <a:rPr lang="en-US" sz="2400" dirty="0"/>
              <a:t>Need forces to provide motion</a:t>
            </a:r>
          </a:p>
          <a:p>
            <a:pPr marL="1257300" lvl="2" indent="-342900">
              <a:buFont typeface="Arial" panose="020B0604020202020204" pitchFamily="34" charset="0"/>
              <a:buChar char="•"/>
            </a:pPr>
            <a:r>
              <a:rPr lang="en-US" sz="2400" dirty="0"/>
              <a:t>Radial forces provide radial distribution</a:t>
            </a:r>
          </a:p>
          <a:p>
            <a:pPr marL="1257300" lvl="2" indent="-342900">
              <a:buFont typeface="Arial" panose="020B0604020202020204" pitchFamily="34" charset="0"/>
              <a:buChar char="•"/>
            </a:pPr>
            <a:r>
              <a:rPr lang="en-US" sz="2400" dirty="0"/>
              <a:t>Forces have to be impulse type</a:t>
            </a:r>
          </a:p>
          <a:p>
            <a:pPr marL="1714500" lvl="3" indent="-342900">
              <a:buFont typeface="Arial" panose="020B0604020202020204" pitchFamily="34" charset="0"/>
              <a:buChar char="•"/>
            </a:pPr>
            <a:r>
              <a:rPr lang="en-US" sz="2400" dirty="0"/>
              <a:t>=&gt; Large amount of force applied in a very short duration.</a:t>
            </a:r>
          </a:p>
          <a:p>
            <a:pPr lvl="1"/>
            <a:endParaRPr lang="en-US" sz="2400" dirty="0"/>
          </a:p>
          <a:p>
            <a:pPr marL="800100" lvl="1" indent="-342900">
              <a:buFont typeface="Arial" panose="020B0604020202020204" pitchFamily="34" charset="0"/>
              <a:buChar char="•"/>
            </a:pPr>
            <a:endParaRPr lang="en-US" sz="2400" dirty="0"/>
          </a:p>
          <a:p>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276446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animEffect transition="in" filter="fade">
                                      <p:cBhvr>
                                        <p:cTn id="11" dur="500"/>
                                        <p:tgtEl>
                                          <p:spTgt spid="8">
                                            <p:txEl>
                                              <p:pRg st="4" end="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xEl>
                                              <p:pRg st="5" end="5"/>
                                            </p:txEl>
                                          </p:spTgt>
                                        </p:tgtEl>
                                        <p:attrNameLst>
                                          <p:attrName>style.visibility</p:attrName>
                                        </p:attrNameLst>
                                      </p:cBhvr>
                                      <p:to>
                                        <p:strVal val="visible"/>
                                      </p:to>
                                    </p:set>
                                    <p:animEffect transition="in" filter="fade">
                                      <p:cBhvr>
                                        <p:cTn id="16" dur="500"/>
                                        <p:tgtEl>
                                          <p:spTgt spid="8">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xEl>
                                              <p:pRg st="6" end="6"/>
                                            </p:txEl>
                                          </p:spTgt>
                                        </p:tgtEl>
                                        <p:attrNameLst>
                                          <p:attrName>style.visibility</p:attrName>
                                        </p:attrNameLst>
                                      </p:cBhvr>
                                      <p:to>
                                        <p:strVal val="visible"/>
                                      </p:to>
                                    </p:set>
                                    <p:animEffect transition="in" filter="fade">
                                      <p:cBhvr>
                                        <p:cTn id="21" dur="500"/>
                                        <p:tgtEl>
                                          <p:spTgt spid="8">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xEl>
                                              <p:pRg st="7" end="7"/>
                                            </p:txEl>
                                          </p:spTgt>
                                        </p:tgtEl>
                                        <p:attrNameLst>
                                          <p:attrName>style.visibility</p:attrName>
                                        </p:attrNameLst>
                                      </p:cBhvr>
                                      <p:to>
                                        <p:strVal val="visible"/>
                                      </p:to>
                                    </p:set>
                                    <p:animEffect transition="in" filter="fade">
                                      <p:cBhvr>
                                        <p:cTn id="26" dur="500"/>
                                        <p:tgtEl>
                                          <p:spTgt spid="8">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animEffect transition="in" filter="fade">
                                      <p:cBhvr>
                                        <p:cTn id="31" dur="500"/>
                                        <p:tgtEl>
                                          <p:spTgt spid="8">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
                                            <p:txEl>
                                              <p:pRg st="9" end="9"/>
                                            </p:txEl>
                                          </p:spTgt>
                                        </p:tgtEl>
                                        <p:attrNameLst>
                                          <p:attrName>style.visibility</p:attrName>
                                        </p:attrNameLst>
                                      </p:cBhvr>
                                      <p:to>
                                        <p:strVal val="visible"/>
                                      </p:to>
                                    </p:set>
                                    <p:animEffect transition="in" filter="fade">
                                      <p:cBhvr>
                                        <p:cTn id="36"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3600216" cy="646331"/>
          </a:xfrm>
          <a:prstGeom prst="rect">
            <a:avLst/>
          </a:prstGeom>
          <a:noFill/>
        </p:spPr>
        <p:txBody>
          <a:bodyPr wrap="none" rtlCol="0">
            <a:spAutoFit/>
          </a:bodyPr>
          <a:lstStyle/>
          <a:p>
            <a:r>
              <a:rPr lang="en-US" sz="3600" dirty="0"/>
              <a:t>Particle Rendering</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853651" y="1621936"/>
            <a:ext cx="10484697" cy="4493538"/>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dirty="0"/>
              <a:t>How to get more than just Spheres to make our simulations look more realistic ?</a:t>
            </a:r>
          </a:p>
          <a:p>
            <a:pPr marL="342900" indent="-342900">
              <a:buFont typeface="Arial" panose="020B0604020202020204" pitchFamily="34" charset="0"/>
              <a:buChar char="•"/>
            </a:pPr>
            <a:r>
              <a:rPr lang="en-US" sz="2400" dirty="0"/>
              <a:t>Technique used:</a:t>
            </a:r>
          </a:p>
          <a:p>
            <a:pPr marL="800100" lvl="1" indent="-342900">
              <a:buFont typeface="Arial" panose="020B0604020202020204" pitchFamily="34" charset="0"/>
              <a:buChar char="•"/>
            </a:pPr>
            <a:r>
              <a:rPr lang="en-US" sz="2400" dirty="0"/>
              <a:t>We render a texture (or image) at each particle instance </a:t>
            </a:r>
          </a:p>
          <a:p>
            <a:pPr marL="800100" lvl="1" indent="-342900">
              <a:buFont typeface="Arial" panose="020B0604020202020204" pitchFamily="34" charset="0"/>
              <a:buChar char="•"/>
            </a:pPr>
            <a:r>
              <a:rPr lang="en-US" sz="2400" dirty="0"/>
              <a:t>We use an OpenGL pipeline with shaders to do that</a:t>
            </a:r>
          </a:p>
          <a:p>
            <a:pPr marL="800100" lvl="1" indent="-342900">
              <a:buFont typeface="Arial" panose="020B0604020202020204" pitchFamily="34" charset="0"/>
              <a:buChar char="•"/>
            </a:pPr>
            <a:r>
              <a:rPr lang="en-US" sz="2400" dirty="0"/>
              <a:t>We can use the same image for each particle (and perhaps vary the size)</a:t>
            </a:r>
          </a:p>
          <a:p>
            <a:pPr marL="800100" lvl="1" indent="-342900">
              <a:buFont typeface="Arial" panose="020B0604020202020204" pitchFamily="34" charset="0"/>
              <a:buChar char="•"/>
            </a:pPr>
            <a:r>
              <a:rPr lang="en-US" sz="2400" dirty="0"/>
              <a:t>We can use different images on different particles to achieve more complex effects  (ex: fire)</a:t>
            </a:r>
          </a:p>
          <a:p>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228144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500"/>
                                        <p:tgtEl>
                                          <p:spTgt spid="8">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Effect transition="in" filter="fade">
                                      <p:cBhvr>
                                        <p:cTn id="12" dur="500"/>
                                        <p:tgtEl>
                                          <p:spTgt spid="8">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animEffect transition="in" filter="fade">
                                      <p:cBhvr>
                                        <p:cTn id="17" dur="500"/>
                                        <p:tgtEl>
                                          <p:spTgt spid="8">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7" end="7"/>
                                            </p:txEl>
                                          </p:spTgt>
                                        </p:tgtEl>
                                        <p:attrNameLst>
                                          <p:attrName>style.visibility</p:attrName>
                                        </p:attrNameLst>
                                      </p:cBhvr>
                                      <p:to>
                                        <p:strVal val="visible"/>
                                      </p:to>
                                    </p:set>
                                    <p:animEffect transition="in" filter="fade">
                                      <p:cBhvr>
                                        <p:cTn id="22"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5373074" cy="646331"/>
          </a:xfrm>
          <a:prstGeom prst="rect">
            <a:avLst/>
          </a:prstGeom>
          <a:noFill/>
        </p:spPr>
        <p:txBody>
          <a:bodyPr wrap="none" rtlCol="0">
            <a:spAutoFit/>
          </a:bodyPr>
          <a:lstStyle/>
          <a:p>
            <a:r>
              <a:rPr lang="en-US" sz="3600" dirty="0"/>
              <a:t>Particle Textures - Examples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pic>
        <p:nvPicPr>
          <p:cNvPr id="4" name="Picture 3" descr="A close up of a logo&#10;&#10;Description generated with very high confidence">
            <a:extLst>
              <a:ext uri="{FF2B5EF4-FFF2-40B4-BE49-F238E27FC236}">
                <a16:creationId xmlns:a16="http://schemas.microsoft.com/office/drawing/2014/main" id="{667E0A23-2622-48DE-BF7A-13B2149FB3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8526" y="1613820"/>
            <a:ext cx="1625397" cy="1625397"/>
          </a:xfrm>
          <a:prstGeom prst="rect">
            <a:avLst/>
          </a:prstGeom>
        </p:spPr>
      </p:pic>
      <p:pic>
        <p:nvPicPr>
          <p:cNvPr id="6" name="Picture 5">
            <a:extLst>
              <a:ext uri="{FF2B5EF4-FFF2-40B4-BE49-F238E27FC236}">
                <a16:creationId xmlns:a16="http://schemas.microsoft.com/office/drawing/2014/main" id="{CF513B6B-7F1A-41B8-8066-F27D2BED76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6501" y="1422116"/>
            <a:ext cx="1905000" cy="1905000"/>
          </a:xfrm>
          <a:prstGeom prst="rect">
            <a:avLst/>
          </a:prstGeom>
        </p:spPr>
      </p:pic>
      <p:pic>
        <p:nvPicPr>
          <p:cNvPr id="13" name="Picture 12" descr="A picture containing dark, object, light, sitting&#10;&#10;Description generated with high confidence">
            <a:extLst>
              <a:ext uri="{FF2B5EF4-FFF2-40B4-BE49-F238E27FC236}">
                <a16:creationId xmlns:a16="http://schemas.microsoft.com/office/drawing/2014/main" id="{6A3A0738-7CCB-4ADA-8A99-BD095E6F31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25720" y="679477"/>
            <a:ext cx="3429043" cy="3429043"/>
          </a:xfrm>
          <a:prstGeom prst="rect">
            <a:avLst/>
          </a:prstGeom>
        </p:spPr>
      </p:pic>
      <p:pic>
        <p:nvPicPr>
          <p:cNvPr id="17" name="Picture 16" descr="A picture containing blur&#10;&#10;Description generated with very high confidence">
            <a:extLst>
              <a:ext uri="{FF2B5EF4-FFF2-40B4-BE49-F238E27FC236}">
                <a16:creationId xmlns:a16="http://schemas.microsoft.com/office/drawing/2014/main" id="{EB14A503-19D0-4725-93CA-5ACCAF32B5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76627" y="3892266"/>
            <a:ext cx="1876425" cy="1866900"/>
          </a:xfrm>
          <a:prstGeom prst="rect">
            <a:avLst/>
          </a:prstGeom>
        </p:spPr>
      </p:pic>
      <p:pic>
        <p:nvPicPr>
          <p:cNvPr id="23" name="Picture 22" descr="A picture containing worm&#10;&#10;Description generated with high confidence">
            <a:extLst>
              <a:ext uri="{FF2B5EF4-FFF2-40B4-BE49-F238E27FC236}">
                <a16:creationId xmlns:a16="http://schemas.microsoft.com/office/drawing/2014/main" id="{D12DAC27-2B94-48AE-BD5E-646D02C287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72165" y="3965369"/>
            <a:ext cx="1847850" cy="1866900"/>
          </a:xfrm>
          <a:prstGeom prst="rect">
            <a:avLst/>
          </a:prstGeom>
        </p:spPr>
      </p:pic>
    </p:spTree>
    <p:extLst>
      <p:ext uri="{BB962C8B-B14F-4D97-AF65-F5344CB8AC3E}">
        <p14:creationId xmlns:p14="http://schemas.microsoft.com/office/powerpoint/2010/main" val="2569520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8101641" cy="646331"/>
          </a:xfrm>
          <a:prstGeom prst="rect">
            <a:avLst/>
          </a:prstGeom>
          <a:noFill/>
        </p:spPr>
        <p:txBody>
          <a:bodyPr wrap="none" rtlCol="0">
            <a:spAutoFit/>
          </a:bodyPr>
          <a:lstStyle/>
          <a:p>
            <a:r>
              <a:rPr lang="en-US" sz="3600" dirty="0"/>
              <a:t>Particle Rendering – Using Simple Drawing</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859586" y="1890117"/>
            <a:ext cx="8635041" cy="4924425"/>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dirty="0">
                <a:solidFill>
                  <a:schemeClr val="accent4"/>
                </a:solidFill>
              </a:rPr>
              <a:t>For each Particle in the System (loop):</a:t>
            </a:r>
          </a:p>
          <a:p>
            <a:pPr marL="800100" lvl="1" indent="-342900">
              <a:buFont typeface="Arial" panose="020B0604020202020204" pitchFamily="34" charset="0"/>
              <a:buChar char="•"/>
            </a:pPr>
            <a:r>
              <a:rPr lang="en-US" sz="2400" dirty="0">
                <a:solidFill>
                  <a:schemeClr val="accent4"/>
                </a:solidFill>
              </a:rPr>
              <a:t>Draw the instance of Particle at it’s Position (x, y, z)</a:t>
            </a:r>
          </a:p>
          <a:p>
            <a:pPr marL="1257300" lvl="2" indent="-342900">
              <a:buFont typeface="Arial" panose="020B0604020202020204" pitchFamily="34" charset="0"/>
              <a:buChar char="•"/>
            </a:pPr>
            <a:r>
              <a:rPr lang="en-US" sz="2400" dirty="0">
                <a:solidFill>
                  <a:schemeClr val="accent4"/>
                </a:solidFill>
              </a:rPr>
              <a:t>Can be drawn as a shape, point or 3D geometry</a:t>
            </a:r>
          </a:p>
          <a:p>
            <a:pPr marL="1257300" lvl="2"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Sufficient for some needs (low particle count, cartoon-like look)</a:t>
            </a:r>
          </a:p>
          <a:p>
            <a:pPr marL="342900" indent="-342900">
              <a:buFont typeface="Arial" panose="020B0604020202020204" pitchFamily="34" charset="0"/>
              <a:buChar char="•"/>
            </a:pPr>
            <a:r>
              <a:rPr lang="en-US" sz="2400" dirty="0"/>
              <a:t>Can be slow because we are potentially drawing many individual particles in separate OpenGL calls.</a:t>
            </a:r>
          </a:p>
          <a:p>
            <a:pPr marL="342900" indent="-342900">
              <a:buFont typeface="Arial" panose="020B0604020202020204" pitchFamily="34" charset="0"/>
              <a:buChar char="•"/>
            </a:pPr>
            <a:r>
              <a:rPr lang="en-US" sz="2400" dirty="0"/>
              <a:t>May not provide detail/realism required</a:t>
            </a:r>
          </a:p>
          <a:p>
            <a:pPr lvl="1"/>
            <a:endParaRPr lang="en-US" sz="2400" dirty="0"/>
          </a:p>
          <a:p>
            <a:pPr lvl="1"/>
            <a:endParaRPr lang="en-US" sz="24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95384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animEffect transition="in" filter="fade">
                                      <p:cBhvr>
                                        <p:cTn id="27" dur="500"/>
                                        <p:tgtEl>
                                          <p:spTgt spid="8">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8" end="8"/>
                                            </p:txEl>
                                          </p:spTgt>
                                        </p:tgtEl>
                                        <p:attrNameLst>
                                          <p:attrName>style.visibility</p:attrName>
                                        </p:attrNameLst>
                                      </p:cBhvr>
                                      <p:to>
                                        <p:strVal val="visible"/>
                                      </p:to>
                                    </p:set>
                                    <p:animEffect transition="in" filter="fade">
                                      <p:cBhvr>
                                        <p:cTn id="32"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7096238" cy="646331"/>
          </a:xfrm>
          <a:prstGeom prst="rect">
            <a:avLst/>
          </a:prstGeom>
          <a:noFill/>
        </p:spPr>
        <p:txBody>
          <a:bodyPr wrap="none" rtlCol="0">
            <a:spAutoFit/>
          </a:bodyPr>
          <a:lstStyle/>
          <a:p>
            <a:r>
              <a:rPr lang="en-US" sz="3600" dirty="0"/>
              <a:t>Particle Rendering – Using Rendering</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449535" y="1286110"/>
            <a:ext cx="10286663" cy="6032421"/>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dirty="0">
                <a:solidFill>
                  <a:schemeClr val="accent4"/>
                </a:solidFill>
              </a:rPr>
              <a:t>We preload any textures needed to render particles in setup. </a:t>
            </a:r>
          </a:p>
          <a:p>
            <a:pPr marL="342900" indent="-342900">
              <a:buFont typeface="Arial" panose="020B0604020202020204" pitchFamily="34" charset="0"/>
              <a:buChar char="•"/>
            </a:pPr>
            <a:r>
              <a:rPr lang="en-US" sz="2400" dirty="0">
                <a:solidFill>
                  <a:schemeClr val="accent4"/>
                </a:solidFill>
              </a:rPr>
              <a:t>For each Particle in the System (loop):</a:t>
            </a:r>
          </a:p>
          <a:p>
            <a:pPr marL="800100" lvl="1" indent="-342900">
              <a:buFont typeface="Arial" panose="020B0604020202020204" pitchFamily="34" charset="0"/>
              <a:buChar char="•"/>
            </a:pPr>
            <a:r>
              <a:rPr lang="en-US" sz="2400" dirty="0">
                <a:solidFill>
                  <a:schemeClr val="accent4"/>
                </a:solidFill>
              </a:rPr>
              <a:t>We save the position and size of the particle in a storage array called a </a:t>
            </a:r>
            <a:r>
              <a:rPr lang="en-US" sz="2400" dirty="0">
                <a:solidFill>
                  <a:schemeClr val="accent5"/>
                </a:solidFill>
              </a:rPr>
              <a:t>Vertex Object Buffer (VBO). </a:t>
            </a:r>
          </a:p>
          <a:p>
            <a:pPr marL="342900" indent="-342900">
              <a:buFont typeface="Arial" panose="020B0604020202020204" pitchFamily="34" charset="0"/>
              <a:buChar char="•"/>
            </a:pPr>
            <a:r>
              <a:rPr lang="en-US" sz="2400" dirty="0">
                <a:solidFill>
                  <a:schemeClr val="accent4"/>
                </a:solidFill>
              </a:rPr>
              <a:t>We bind the textures to the VBO   (using texture-&gt;bind())</a:t>
            </a:r>
          </a:p>
          <a:p>
            <a:pPr marL="342900" indent="-342900">
              <a:buFont typeface="Arial" panose="020B0604020202020204" pitchFamily="34" charset="0"/>
              <a:buChar char="•"/>
            </a:pPr>
            <a:r>
              <a:rPr lang="en-US" sz="2400" dirty="0">
                <a:solidFill>
                  <a:schemeClr val="accent4"/>
                </a:solidFill>
              </a:rPr>
              <a:t>We then tell OpenGL to draw then entire buffer using a </a:t>
            </a:r>
            <a:r>
              <a:rPr lang="en-US" sz="2400" dirty="0">
                <a:solidFill>
                  <a:schemeClr val="accent5"/>
                </a:solidFill>
              </a:rPr>
              <a:t>shader</a:t>
            </a:r>
            <a:r>
              <a:rPr lang="en-US" sz="2400" dirty="0">
                <a:solidFill>
                  <a:schemeClr val="accent4"/>
                </a:solidFill>
              </a:rPr>
              <a:t> with one call.</a:t>
            </a:r>
          </a:p>
          <a:p>
            <a:pPr marL="1257300" lvl="2"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VBO leverages the GPU/hardware to draw</a:t>
            </a:r>
          </a:p>
          <a:p>
            <a:pPr marL="342900" indent="-342900">
              <a:buFont typeface="Arial" panose="020B0604020202020204" pitchFamily="34" charset="0"/>
              <a:buChar char="•"/>
            </a:pPr>
            <a:r>
              <a:rPr lang="en-US" sz="2400" dirty="0"/>
              <a:t>Usually much faster for drawing many points.</a:t>
            </a:r>
          </a:p>
          <a:p>
            <a:pPr marL="342900" indent="-342900">
              <a:buFont typeface="Arial" panose="020B0604020202020204" pitchFamily="34" charset="0"/>
              <a:buChar char="•"/>
            </a:pPr>
            <a:r>
              <a:rPr lang="en-US" sz="2400" dirty="0"/>
              <a:t>OF has a nice interface on OpenGL to make code cleaner than using plain C. (OpenGL is a “C” API).</a:t>
            </a:r>
          </a:p>
          <a:p>
            <a:pPr lvl="1"/>
            <a:endParaRPr lang="en-US" sz="2400" dirty="0"/>
          </a:p>
          <a:p>
            <a:pPr lvl="1"/>
            <a:endParaRPr lang="en-US" sz="24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10326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8" end="8"/>
                                            </p:txEl>
                                          </p:spTgt>
                                        </p:tgtEl>
                                        <p:attrNameLst>
                                          <p:attrName>style.visibility</p:attrName>
                                        </p:attrNameLst>
                                      </p:cBhvr>
                                      <p:to>
                                        <p:strVal val="visible"/>
                                      </p:to>
                                    </p:set>
                                    <p:animEffect transition="in" filter="fade">
                                      <p:cBhvr>
                                        <p:cTn id="32" dur="500"/>
                                        <p:tgtEl>
                                          <p:spTgt spid="8">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9" end="9"/>
                                            </p:txEl>
                                          </p:spTgt>
                                        </p:tgtEl>
                                        <p:attrNameLst>
                                          <p:attrName>style.visibility</p:attrName>
                                        </p:attrNameLst>
                                      </p:cBhvr>
                                      <p:to>
                                        <p:strVal val="visible"/>
                                      </p:to>
                                    </p:set>
                                    <p:animEffect transition="in" filter="fade">
                                      <p:cBhvr>
                                        <p:cTn id="37" dur="500"/>
                                        <p:tgtEl>
                                          <p:spTgt spid="8">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10" end="10"/>
                                            </p:txEl>
                                          </p:spTgt>
                                        </p:tgtEl>
                                        <p:attrNameLst>
                                          <p:attrName>style.visibility</p:attrName>
                                        </p:attrNameLst>
                                      </p:cBhvr>
                                      <p:to>
                                        <p:strVal val="visible"/>
                                      </p:to>
                                    </p:set>
                                    <p:animEffect transition="in" filter="fade">
                                      <p:cBhvr>
                                        <p:cTn id="42"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6289607" cy="646331"/>
          </a:xfrm>
          <a:prstGeom prst="rect">
            <a:avLst/>
          </a:prstGeom>
          <a:noFill/>
        </p:spPr>
        <p:txBody>
          <a:bodyPr wrap="none" rtlCol="0">
            <a:spAutoFit/>
          </a:bodyPr>
          <a:lstStyle/>
          <a:p>
            <a:r>
              <a:rPr lang="en-US" sz="3600" dirty="0"/>
              <a:t>Shader Terminology  (Very Basic)</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432492" y="329236"/>
            <a:ext cx="10484697" cy="6340197"/>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Rasterization – The process of computing the pixels of a final image based on the 3D data describing the scene in which the image is composed of.</a:t>
            </a:r>
          </a:p>
          <a:p>
            <a:pPr marL="342900" indent="-342900">
              <a:buFont typeface="Arial" panose="020B0604020202020204" pitchFamily="34" charset="0"/>
              <a:buChar char="•"/>
            </a:pPr>
            <a:r>
              <a:rPr lang="en-US" sz="2400" dirty="0"/>
              <a:t>Graphics Pipeline  - The software/hardware process of going from geometry (vertices, triangular meshes) with a textures to a fully rasterized picture on your screen. </a:t>
            </a:r>
          </a:p>
          <a:p>
            <a:pPr marL="342900" indent="-342900">
              <a:buFont typeface="Arial" panose="020B0604020202020204" pitchFamily="34" charset="0"/>
              <a:buChar char="•"/>
            </a:pPr>
            <a:r>
              <a:rPr lang="en-US" sz="2400" dirty="0"/>
              <a:t>Vertex Shader  - Computes output values for vertices for the rasterizer. </a:t>
            </a:r>
          </a:p>
          <a:p>
            <a:pPr marL="342900" indent="-342900">
              <a:buFont typeface="Arial" panose="020B0604020202020204" pitchFamily="34" charset="0"/>
              <a:buChar char="•"/>
            </a:pPr>
            <a:r>
              <a:rPr lang="en-US" sz="2400" dirty="0"/>
              <a:t>Fragment Shader – Takes input from Vertex Shader.  Is called for every pixel drawn. Outputs color/depth values for each pixel. Does texture mapping (mapping of images to geometry)  and lighting.</a:t>
            </a:r>
          </a:p>
          <a:p>
            <a:pPr marL="342900" indent="-342900">
              <a:buFont typeface="Arial" panose="020B0604020202020204" pitchFamily="34" charset="0"/>
              <a:buChar char="•"/>
            </a:pPr>
            <a:r>
              <a:rPr lang="en-US" sz="2400" dirty="0"/>
              <a:t>GLSL  - Graphics Language Shading Language  - Language that shaders are written in.</a:t>
            </a:r>
          </a:p>
          <a:p>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146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500"/>
                                        <p:tgtEl>
                                          <p:spTgt spid="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500"/>
                                        <p:tgtEl>
                                          <p:spTgt spid="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500"/>
                                        <p:tgtEl>
                                          <p:spTgt spid="8">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animEffect transition="in" filter="fade">
                                      <p:cBhvr>
                                        <p:cTn id="27"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6289607" cy="646331"/>
          </a:xfrm>
          <a:prstGeom prst="rect">
            <a:avLst/>
          </a:prstGeom>
          <a:noFill/>
        </p:spPr>
        <p:txBody>
          <a:bodyPr wrap="none" rtlCol="0">
            <a:spAutoFit/>
          </a:bodyPr>
          <a:lstStyle/>
          <a:p>
            <a:r>
              <a:rPr lang="en-US" sz="3600" dirty="0"/>
              <a:t>Shader Terminology  (Very Basic)</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432492" y="329236"/>
            <a:ext cx="10484697" cy="4124206"/>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Framebuffer – the actual buffer in your graphics card where final rasterized image gets drawn.</a:t>
            </a:r>
          </a:p>
          <a:p>
            <a:pPr marL="342900" indent="-342900">
              <a:buFont typeface="Arial" panose="020B0604020202020204" pitchFamily="34" charset="0"/>
              <a:buChar char="•"/>
            </a:pPr>
            <a:r>
              <a:rPr lang="en-US" sz="2400" dirty="0"/>
              <a:t>Per Fragment Ops  - specific operations on a per fragment basic. Things like discarding pixels that cannot be seen because of depth/occlusion or transparency</a:t>
            </a:r>
          </a:p>
          <a:p>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58744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500"/>
                                        <p:tgtEl>
                                          <p:spTgt spid="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9862700" cy="646331"/>
          </a:xfrm>
          <a:prstGeom prst="rect">
            <a:avLst/>
          </a:prstGeom>
          <a:noFill/>
        </p:spPr>
        <p:txBody>
          <a:bodyPr wrap="none" rtlCol="0">
            <a:spAutoFit/>
          </a:bodyPr>
          <a:lstStyle/>
          <a:p>
            <a:r>
              <a:rPr lang="en-US" sz="3600" dirty="0"/>
              <a:t>Two Important Shader  Parts – Vertex and Fragment</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319677" y="1603855"/>
            <a:ext cx="10484697" cy="4493538"/>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solidFill>
                  <a:srgbClr val="92D050"/>
                </a:solidFill>
              </a:rPr>
              <a:t>Vertex Shader </a:t>
            </a:r>
            <a:r>
              <a:rPr lang="en-US" sz="2400" dirty="0"/>
              <a:t>– called for each vertex.  Input is a vertex.  This shader outputs the desired position of the vertex in screen space.  The vertex shader can modify the position for each vertex.   Can also set variables that are passed to the Fragment Shader.</a:t>
            </a:r>
          </a:p>
          <a:p>
            <a:pPr marL="342900" indent="-342900">
              <a:buFont typeface="Arial" panose="020B0604020202020204" pitchFamily="34" charset="0"/>
              <a:buChar char="•"/>
            </a:pPr>
            <a:r>
              <a:rPr lang="en-US" sz="2400" dirty="0">
                <a:solidFill>
                  <a:srgbClr val="92D050"/>
                </a:solidFill>
              </a:rPr>
              <a:t>Fragment Shader </a:t>
            </a:r>
            <a:r>
              <a:rPr lang="en-US" sz="2400" dirty="0"/>
              <a:t>– called AFTER vertex shader.  (fragment means “pixel”)  It’s primary role is to set the color of the pixel on the screen.</a:t>
            </a:r>
          </a:p>
          <a:p>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40203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500"/>
                                        <p:tgtEl>
                                          <p:spTgt spid="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5672835" cy="646331"/>
          </a:xfrm>
          <a:prstGeom prst="rect">
            <a:avLst/>
          </a:prstGeom>
          <a:noFill/>
        </p:spPr>
        <p:txBody>
          <a:bodyPr wrap="none" rtlCol="0">
            <a:spAutoFit/>
          </a:bodyPr>
          <a:lstStyle/>
          <a:p>
            <a:r>
              <a:rPr lang="en-US" sz="3600" dirty="0"/>
              <a:t>Vertex and Fragment Shaders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319678" y="1603855"/>
            <a:ext cx="10056884" cy="4770537"/>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r>
              <a:rPr lang="en-US" sz="2000" dirty="0"/>
              <a:t>Vertex and Fragment shaders each have their own source file (*.frag and *.vert)</a:t>
            </a:r>
          </a:p>
          <a:p>
            <a:pPr marL="342900" indent="-342900">
              <a:buFont typeface="Arial" panose="020B0604020202020204" pitchFamily="34" charset="0"/>
              <a:buChar char="•"/>
            </a:pPr>
            <a:r>
              <a:rPr lang="en-US" sz="2000" dirty="0"/>
              <a:t>These Source files are stored in the “data” directory of your app, usually under a directory called “shaders”.</a:t>
            </a:r>
          </a:p>
          <a:p>
            <a:pPr marL="342900" indent="-342900">
              <a:buFont typeface="Arial" panose="020B0604020202020204" pitchFamily="34" charset="0"/>
              <a:buChar char="•"/>
            </a:pPr>
            <a:r>
              <a:rPr lang="en-US" sz="2000" dirty="0"/>
              <a:t>When your app  “loads” the shader.   (in OF this is done with a “</a:t>
            </a:r>
            <a:r>
              <a:rPr lang="en-US" sz="2000" dirty="0" err="1"/>
              <a:t>shader.load</a:t>
            </a:r>
            <a:r>
              <a:rPr lang="en-US" sz="2000" dirty="0"/>
              <a:t>()” call),  it sends the text strings for the shader source code to your GRAPHICS driver.  (Ex: NVidia).   The graphics driver will then “compile” the shader so that the shaders are ready in object code for the GPU to execute.</a:t>
            </a:r>
          </a:p>
          <a:p>
            <a:pPr marL="342900" indent="-342900">
              <a:buFont typeface="Arial" panose="020B0604020202020204" pitchFamily="34" charset="0"/>
              <a:buChar char="•"/>
            </a:pPr>
            <a:r>
              <a:rPr lang="en-US" sz="2000" dirty="0"/>
              <a:t>An app can have </a:t>
            </a:r>
            <a:r>
              <a:rPr lang="en-US" sz="2000"/>
              <a:t>many shaders.</a:t>
            </a:r>
          </a:p>
          <a:p>
            <a:endParaRPr lang="en-US" sz="2000" dirty="0"/>
          </a:p>
          <a:p>
            <a:pPr marL="342900" indent="-342900">
              <a:buFont typeface="Arial" panose="020B0604020202020204" pitchFamily="34" charset="0"/>
              <a:buChar char="•"/>
            </a:pPr>
            <a:endParaRPr lang="en-US" sz="2400" dirty="0"/>
          </a:p>
          <a:p>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159648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3094117" cy="646331"/>
          </a:xfrm>
          <a:prstGeom prst="rect">
            <a:avLst/>
          </a:prstGeom>
          <a:noFill/>
        </p:spPr>
        <p:txBody>
          <a:bodyPr wrap="none" rtlCol="0">
            <a:spAutoFit/>
          </a:bodyPr>
          <a:lstStyle/>
          <a:p>
            <a:r>
              <a:rPr lang="en-US" sz="3600" dirty="0"/>
              <a:t>Shader Pipeline</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pic>
        <p:nvPicPr>
          <p:cNvPr id="3" name="Picture 2">
            <a:extLst>
              <a:ext uri="{FF2B5EF4-FFF2-40B4-BE49-F238E27FC236}">
                <a16:creationId xmlns:a16="http://schemas.microsoft.com/office/drawing/2014/main" id="{F90C04D0-71F1-4F2A-B7B5-AA1111253024}"/>
              </a:ext>
            </a:extLst>
          </p:cNvPr>
          <p:cNvPicPr>
            <a:picLocks noChangeAspect="1"/>
          </p:cNvPicPr>
          <p:nvPr/>
        </p:nvPicPr>
        <p:blipFill>
          <a:blip r:embed="rId3"/>
          <a:stretch>
            <a:fillRect/>
          </a:stretch>
        </p:blipFill>
        <p:spPr>
          <a:xfrm>
            <a:off x="2754996" y="1074354"/>
            <a:ext cx="7005001" cy="5281996"/>
          </a:xfrm>
          <a:prstGeom prst="rect">
            <a:avLst/>
          </a:prstGeom>
        </p:spPr>
      </p:pic>
    </p:spTree>
    <p:extLst>
      <p:ext uri="{BB962C8B-B14F-4D97-AF65-F5344CB8AC3E}">
        <p14:creationId xmlns:p14="http://schemas.microsoft.com/office/powerpoint/2010/main" val="3558923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7310014" cy="646331"/>
          </a:xfrm>
          <a:prstGeom prst="rect">
            <a:avLst/>
          </a:prstGeom>
          <a:noFill/>
        </p:spPr>
        <p:txBody>
          <a:bodyPr wrap="none" rtlCol="0">
            <a:spAutoFit/>
          </a:bodyPr>
          <a:lstStyle/>
          <a:p>
            <a:r>
              <a:rPr lang="en-US" sz="3600" dirty="0"/>
              <a:t>Shader Code Example  - Vertex Shader</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264712" y="1478527"/>
            <a:ext cx="10484697" cy="3385542"/>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sz="2400" dirty="0"/>
          </a:p>
          <a:p>
            <a:r>
              <a:rPr lang="en-US" sz="2400" dirty="0"/>
              <a:t>void main() {</a:t>
            </a:r>
          </a:p>
          <a:p>
            <a:endParaRPr lang="en-US" sz="2400" dirty="0"/>
          </a:p>
          <a:p>
            <a:r>
              <a:rPr lang="en-US" sz="2400" dirty="0"/>
              <a:t>    </a:t>
            </a:r>
            <a:r>
              <a:rPr lang="en-US" sz="2400" dirty="0" err="1"/>
              <a:t>gl_Position</a:t>
            </a:r>
            <a:r>
              <a:rPr lang="en-US" sz="2400" dirty="0"/>
              <a:t>   = </a:t>
            </a:r>
            <a:r>
              <a:rPr lang="en-US" sz="2400" dirty="0" err="1"/>
              <a:t>gl_ModelViewProjectionMatrix</a:t>
            </a:r>
            <a:r>
              <a:rPr lang="en-US" sz="2400" dirty="0"/>
              <a:t> * </a:t>
            </a:r>
            <a:r>
              <a:rPr lang="en-US" sz="2400" dirty="0" err="1"/>
              <a:t>gl_Vertex</a:t>
            </a:r>
            <a:r>
              <a:rPr lang="en-US" sz="2400" dirty="0"/>
              <a:t>;</a:t>
            </a:r>
          </a:p>
          <a:p>
            <a:r>
              <a:rPr lang="en-US" sz="2400" dirty="0"/>
              <a:t>}</a:t>
            </a:r>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386960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7901843" cy="646331"/>
          </a:xfrm>
          <a:prstGeom prst="rect">
            <a:avLst/>
          </a:prstGeom>
          <a:noFill/>
        </p:spPr>
        <p:txBody>
          <a:bodyPr wrap="none" rtlCol="0">
            <a:spAutoFit/>
          </a:bodyPr>
          <a:lstStyle/>
          <a:p>
            <a:r>
              <a:rPr lang="en-US" sz="3600" dirty="0"/>
              <a:t>Shader Code Example  - Fragment Shader</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264712" y="1478527"/>
            <a:ext cx="10484697" cy="3108543"/>
          </a:xfrm>
          <a:prstGeom prst="rect">
            <a:avLst/>
          </a:prstGeom>
          <a:noFill/>
        </p:spPr>
        <p:txBody>
          <a:bodyPr wrap="square" rtlCol="0">
            <a:spAutoFit/>
          </a:bodyPr>
          <a:lstStyle/>
          <a:p>
            <a:r>
              <a:rPr lang="en-US" sz="2000" b="1" dirty="0"/>
              <a:t>  </a:t>
            </a:r>
            <a:endParaRPr lang="en-US" dirty="0"/>
          </a:p>
          <a:p>
            <a:pPr lvl="1"/>
            <a:r>
              <a:rPr lang="en-US" sz="2000" dirty="0"/>
              <a:t>uniform sampler2D </a:t>
            </a:r>
            <a:r>
              <a:rPr lang="en-US" sz="2000" dirty="0" err="1"/>
              <a:t>tex</a:t>
            </a:r>
            <a:r>
              <a:rPr lang="en-US" sz="2000" dirty="0"/>
              <a:t>;</a:t>
            </a:r>
          </a:p>
          <a:p>
            <a:pPr lvl="1"/>
            <a:endParaRPr lang="en-US" sz="2000" dirty="0"/>
          </a:p>
          <a:p>
            <a:pPr lvl="1"/>
            <a:r>
              <a:rPr lang="en-US" sz="2000" dirty="0"/>
              <a:t>void main (void) {</a:t>
            </a:r>
          </a:p>
          <a:p>
            <a:pPr lvl="1"/>
            <a:r>
              <a:rPr lang="en-US" sz="2000" dirty="0"/>
              <a:t>    </a:t>
            </a:r>
          </a:p>
          <a:p>
            <a:pPr lvl="1"/>
            <a:r>
              <a:rPr lang="en-US" sz="2000" dirty="0"/>
              <a:t>    </a:t>
            </a:r>
            <a:r>
              <a:rPr lang="en-US" sz="2000" dirty="0" err="1"/>
              <a:t>gl_FragColor</a:t>
            </a:r>
            <a:r>
              <a:rPr lang="en-US" sz="2000" dirty="0"/>
              <a:t> = texture2D(</a:t>
            </a:r>
            <a:r>
              <a:rPr lang="en-US" sz="2000" dirty="0" err="1"/>
              <a:t>tex</a:t>
            </a:r>
            <a:r>
              <a:rPr lang="en-US" sz="2000" dirty="0"/>
              <a:t>, </a:t>
            </a:r>
            <a:r>
              <a:rPr lang="en-US" sz="2000" dirty="0" err="1"/>
              <a:t>gl_TexCoord</a:t>
            </a:r>
            <a:r>
              <a:rPr lang="en-US" sz="2000" dirty="0"/>
              <a:t>[0].</a:t>
            </a:r>
            <a:r>
              <a:rPr lang="en-US" sz="2000" dirty="0" err="1"/>
              <a:t>st</a:t>
            </a:r>
            <a:r>
              <a:rPr lang="en-US" sz="2000" dirty="0"/>
              <a:t>) * </a:t>
            </a:r>
            <a:r>
              <a:rPr lang="en-US" sz="2000" dirty="0" err="1"/>
              <a:t>gl_Color</a:t>
            </a:r>
            <a:r>
              <a:rPr lang="en-US" sz="2000" dirty="0"/>
              <a:t>;</a:t>
            </a:r>
          </a:p>
          <a:p>
            <a:pPr lvl="1"/>
            <a:r>
              <a:rPr lang="en-US" sz="2000" dirty="0"/>
              <a:t>    </a:t>
            </a:r>
          </a:p>
          <a:p>
            <a:pPr lvl="1"/>
            <a:r>
              <a:rPr lang="en-US" sz="2000" dirty="0"/>
              <a:t>}</a:t>
            </a:r>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149296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2713563" cy="646331"/>
          </a:xfrm>
          <a:prstGeom prst="rect">
            <a:avLst/>
          </a:prstGeom>
          <a:noFill/>
        </p:spPr>
        <p:txBody>
          <a:bodyPr wrap="none" rtlCol="0">
            <a:spAutoFit/>
          </a:bodyPr>
          <a:lstStyle/>
          <a:p>
            <a:r>
              <a:rPr lang="en-US" sz="3600" dirty="0"/>
              <a:t>Shader Scope</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289879" y="1092634"/>
            <a:ext cx="10484697" cy="6340197"/>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These are just the basic concepts of shaders to provide you an overview.  More details are in the realm of a computer graphics or rendering course.</a:t>
            </a:r>
          </a:p>
          <a:p>
            <a:pPr marL="342900" indent="-342900">
              <a:buFont typeface="Arial" panose="020B0604020202020204" pitchFamily="34" charset="0"/>
              <a:buChar char="•"/>
            </a:pPr>
            <a:r>
              <a:rPr lang="en-US" sz="2400" dirty="0"/>
              <a:t>Will show a demo using particles using these very basic shaders..</a:t>
            </a:r>
          </a:p>
          <a:p>
            <a:pPr marL="342900" indent="-342900">
              <a:buFont typeface="Arial" panose="020B0604020202020204" pitchFamily="34" charset="0"/>
              <a:buChar char="•"/>
            </a:pPr>
            <a:r>
              <a:rPr lang="en-US" sz="2400" dirty="0"/>
              <a:t>For your 2D video Game project, you can choose shader or simple drawing method to represent your particles. </a:t>
            </a:r>
          </a:p>
          <a:p>
            <a:pPr marL="342900" indent="-342900">
              <a:buFont typeface="Arial" panose="020B0604020202020204" pitchFamily="34" charset="0"/>
              <a:buChar char="•"/>
            </a:pPr>
            <a:r>
              <a:rPr lang="en-US" sz="2400" dirty="0"/>
              <a:t>We may explore shaders in the 3D section of the class</a:t>
            </a:r>
          </a:p>
          <a:p>
            <a:pPr marL="342900" indent="-342900">
              <a:buFont typeface="Arial" panose="020B0604020202020204" pitchFamily="34" charset="0"/>
              <a:buChar char="•"/>
            </a:pPr>
            <a:endParaRPr lang="en-US" sz="2400" dirty="0"/>
          </a:p>
          <a:p>
            <a:r>
              <a:rPr lang="en-US" sz="2400" dirty="0"/>
              <a:t>For further reading:</a:t>
            </a:r>
          </a:p>
          <a:p>
            <a:endParaRPr lang="en-US" sz="2400" dirty="0"/>
          </a:p>
          <a:p>
            <a:r>
              <a:rPr lang="en-US" sz="2400" dirty="0">
                <a:hlinkClick r:id="rId3"/>
              </a:rPr>
              <a:t>http://openframeworks.cc/ofBook/chapters/shaders.html</a:t>
            </a:r>
            <a:endParaRPr lang="en-US" sz="2400" dirty="0"/>
          </a:p>
          <a:p>
            <a:endParaRPr lang="en-US" sz="2400" dirty="0"/>
          </a:p>
          <a:p>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819827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500"/>
                                        <p:tgtEl>
                                          <p:spTgt spid="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500"/>
                                        <p:tgtEl>
                                          <p:spTgt spid="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500"/>
                                        <p:tgtEl>
                                          <p:spTgt spid="8">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animEffect transition="in" filter="fade">
                                      <p:cBhvr>
                                        <p:cTn id="27" dur="500"/>
                                        <p:tgtEl>
                                          <p:spTgt spid="8">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10" end="10"/>
                                            </p:txEl>
                                          </p:spTgt>
                                        </p:tgtEl>
                                        <p:attrNameLst>
                                          <p:attrName>style.visibility</p:attrName>
                                        </p:attrNameLst>
                                      </p:cBhvr>
                                      <p:to>
                                        <p:strVal val="visible"/>
                                      </p:to>
                                    </p:set>
                                    <p:animEffect transition="in" filter="fade">
                                      <p:cBhvr>
                                        <p:cTn id="32"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1055</Words>
  <Application>Microsoft Office PowerPoint</Application>
  <PresentationFormat>Widescreen</PresentationFormat>
  <Paragraphs>157</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CS 134 Computer Game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235 User Interface Design</dc:title>
  <dc:creator>Kevin Smith</dc:creator>
  <cp:lastModifiedBy>Kevin Smith</cp:lastModifiedBy>
  <cp:revision>164</cp:revision>
  <dcterms:created xsi:type="dcterms:W3CDTF">2017-08-23T16:49:40Z</dcterms:created>
  <dcterms:modified xsi:type="dcterms:W3CDTF">2020-11-18T19:22:25Z</dcterms:modified>
</cp:coreProperties>
</file>