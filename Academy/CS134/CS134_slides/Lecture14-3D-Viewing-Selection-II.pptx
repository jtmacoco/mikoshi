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5"/>
  </p:notesMasterIdLst>
  <p:sldIdLst>
    <p:sldId id="395" r:id="rId2"/>
    <p:sldId id="368" r:id="rId3"/>
    <p:sldId id="387" r:id="rId4"/>
    <p:sldId id="388" r:id="rId5"/>
    <p:sldId id="390" r:id="rId6"/>
    <p:sldId id="389" r:id="rId7"/>
    <p:sldId id="391" r:id="rId8"/>
    <p:sldId id="393" r:id="rId9"/>
    <p:sldId id="399" r:id="rId10"/>
    <p:sldId id="394" r:id="rId11"/>
    <p:sldId id="405" r:id="rId12"/>
    <p:sldId id="397" r:id="rId13"/>
    <p:sldId id="40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89" autoAdjust="0"/>
    <p:restoredTop sz="95137" autoAdjust="0"/>
  </p:normalViewPr>
  <p:slideViewPr>
    <p:cSldViewPr snapToGrid="0">
      <p:cViewPr varScale="1">
        <p:scale>
          <a:sx n="79" d="100"/>
          <a:sy n="79" d="100"/>
        </p:scale>
        <p:origin x="333" y="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3" d="100"/>
          <a:sy n="123" d="100"/>
        </p:scale>
        <p:origin x="4122" y="11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81D33-D3DC-4EEE-9841-2A93D98735D4}" type="datetimeFigureOut">
              <a:rPr lang="en-US" smtClean="0"/>
              <a:t>3/27/2019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29C27-AAA8-470D-92FE-57BE00B20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18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EA14B-7D29-4273-9A4B-3D987F69C975}" type="datetime1">
              <a:rPr lang="en-US" smtClean="0"/>
              <a:t>3/27/2019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23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ADBC6-8DD5-4638-B8BC-C63A633FE3E1}" type="datetime1">
              <a:rPr lang="en-US" smtClean="0"/>
              <a:t>3/27/2019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595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5707A-BAD7-4B16-889B-31FF47A88D51}" type="datetime1">
              <a:rPr lang="en-US" smtClean="0"/>
              <a:t>3/27/2019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855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FB99-49E1-4789-B9E2-498AF910EA8D}" type="datetime1">
              <a:rPr lang="en-US" smtClean="0"/>
              <a:t>3/27/2019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22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CDBB-D8F7-4CE0-87E5-7722E9C2C070}" type="datetime1">
              <a:rPr lang="en-US" smtClean="0"/>
              <a:t>3/27/2019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070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78107-59B5-4925-A842-07FDFD58D56A}" type="datetime1">
              <a:rPr lang="en-US" smtClean="0"/>
              <a:t>3/27/2019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89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82D56-548C-48E3-A944-2D3414120EEB}" type="datetime1">
              <a:rPr lang="en-US" smtClean="0"/>
              <a:t>3/27/2019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825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2FD48-0BC6-4EEB-A3C1-13290987431E}" type="datetime1">
              <a:rPr lang="en-US" smtClean="0"/>
              <a:t>3/27/2019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74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858C4-80B7-4F9D-9D35-88222D1720C3}" type="datetime1">
              <a:rPr lang="en-US" smtClean="0"/>
              <a:t>3/27/2019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89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4A0C0-70BA-434F-A8BB-A0AC09ABAD10}" type="datetime1">
              <a:rPr lang="en-US" smtClean="0"/>
              <a:t>3/27/2019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91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79E02-A66A-4CA8-B35F-45ED22EF8E6D}" type="datetime1">
              <a:rPr lang="en-US" smtClean="0"/>
              <a:t>3/27/2019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215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F241F-E6EA-42C7-8935-3930FA83E734}" type="datetime1">
              <a:rPr lang="en-US" smtClean="0"/>
              <a:t>3/27/2019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2017 Kevin M. Smith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7792B-7BF8-4B18-9E81-3A6946432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873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ealtimerendering.com/intersections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ahirise.org/dt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n.wikipedia.org/wiki/Mars_Reconnaissance_Orbiter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rsche.com/microsite/911/usa.aspx#showroom/911-carrera-s/3/3/50/0/0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ZdiKmm1_gu4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D09DB5-5978-4E0A-9D84-6428949B9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1" y="2600324"/>
            <a:ext cx="9908637" cy="3277961"/>
          </a:xfrm>
        </p:spPr>
        <p:txBody>
          <a:bodyPr anchor="t">
            <a:normAutofit/>
          </a:bodyPr>
          <a:lstStyle/>
          <a:p>
            <a:pPr algn="l"/>
            <a:r>
              <a:rPr lang="en-US" sz="5400" dirty="0"/>
              <a:t>CS 134 Computer Game Design – 3D Graphics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C6AE9A-2BEB-4C56-B297-BC12579D1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1300450"/>
            <a:ext cx="4167376" cy="1155525"/>
          </a:xfrm>
        </p:spPr>
        <p:txBody>
          <a:bodyPr anchor="b">
            <a:normAutofit/>
          </a:bodyPr>
          <a:lstStyle/>
          <a:p>
            <a:pPr algn="l"/>
            <a:r>
              <a:rPr lang="en-US" sz="2000"/>
              <a:t>Instructor: Kevin M. Smith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832073-FAC5-49BC-895C-B564209CD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4672" y="6356350"/>
            <a:ext cx="4114800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chemeClr val="tx1">
                    <a:lumMod val="85000"/>
                  </a:schemeClr>
                </a:solidFill>
              </a:rPr>
              <a:t>copyright © 2017 Kevin M. Smith, content Adapted from Jared Finder’s Slides from CS134 section 1</a:t>
            </a:r>
          </a:p>
        </p:txBody>
      </p:sp>
    </p:spTree>
    <p:extLst>
      <p:ext uri="{BB962C8B-B14F-4D97-AF65-F5344CB8AC3E}">
        <p14:creationId xmlns:p14="http://schemas.microsoft.com/office/powerpoint/2010/main" val="400754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226415" y="661861"/>
            <a:ext cx="27831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3D Selection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1355253" y="2058551"/>
            <a:ext cx="10026014" cy="4862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 What is different about 3D vs 2D selection (which you’ve done) 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Selecting “things” from a 3D scene  (“things” can be 3D objects)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“Things” can be in front of other things (occlusion)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“Things” that you select have potential to be complex in structure.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 Visual cues such as </a:t>
            </a:r>
            <a:r>
              <a:rPr lang="en-US" sz="2000" i="1" dirty="0"/>
              <a:t>highlighting</a:t>
            </a:r>
            <a:r>
              <a:rPr lang="en-US" sz="2000" dirty="0"/>
              <a:t> and </a:t>
            </a:r>
            <a:r>
              <a:rPr lang="en-US" sz="2000" i="1" dirty="0"/>
              <a:t>affordances</a:t>
            </a:r>
            <a:r>
              <a:rPr lang="en-US" sz="2000" dirty="0"/>
              <a:t> can have more complexity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The task of 3D selection requires higher cognitive load (than 3D)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000" dirty="0"/>
              <a:t>Camera/View Navigation, mouse/pointer handling etc.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1117828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226415" y="661861"/>
            <a:ext cx="27831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3D Selection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2004174" y="1755855"/>
            <a:ext cx="7456913" cy="6524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 What are some “things” that can be selected  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Entire </a:t>
            </a:r>
            <a:r>
              <a:rPr lang="en-US" sz="2000" i="1" dirty="0"/>
              <a:t>Object</a:t>
            </a:r>
            <a:r>
              <a:rPr lang="en-US" sz="2000" dirty="0"/>
              <a:t>  - ex: character rig, complete model etc.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Part of an </a:t>
            </a:r>
            <a:r>
              <a:rPr lang="en-US" sz="2000" i="1" dirty="0"/>
              <a:t>Object</a:t>
            </a:r>
            <a:r>
              <a:rPr lang="en-US" sz="2000" dirty="0"/>
              <a:t> hierarchy – ex: wheel of a car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Visible objects in 3D are typically represented by Geometry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Geometry – ex: polygons, NURBS surfaces, SUBD surfaces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Geometry – we can select: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Faces  (Polygon models)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Edges (Polygon models)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Vertices or Points 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Control Vertices (for surfaces)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490421-39B8-42AE-9192-2F5A0C06132E}"/>
              </a:ext>
            </a:extLst>
          </p:cNvPr>
          <p:cNvSpPr txBox="1"/>
          <p:nvPr/>
        </p:nvSpPr>
        <p:spPr>
          <a:xfrm>
            <a:off x="2440502" y="5347664"/>
            <a:ext cx="1295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Maya demo</a:t>
            </a:r>
          </a:p>
        </p:txBody>
      </p:sp>
    </p:spTree>
    <p:extLst>
      <p:ext uri="{BB962C8B-B14F-4D97-AF65-F5344CB8AC3E}">
        <p14:creationId xmlns:p14="http://schemas.microsoft.com/office/powerpoint/2010/main" val="3327667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226415" y="661861"/>
            <a:ext cx="27831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3D Selection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2401983" y="2416810"/>
            <a:ext cx="7775527" cy="39395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 Three very different mechanisms for 3D selection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Ray selection (related to ray tracing)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Screen-space selection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Hardware Selection (ex: OpenGL)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668728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051450" y="677162"/>
            <a:ext cx="36456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3D Ray Selection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-199589" y="1555329"/>
            <a:ext cx="6096851" cy="9294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Start with Mouse position in screen coordinates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Convert to a ray (having position and direction)</a:t>
            </a:r>
          </a:p>
          <a:p>
            <a:pPr lvl="1"/>
            <a:r>
              <a:rPr lang="en-US" sz="2000" dirty="0"/>
              <a:t>       in world space.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Check if ray intersects object (if yes, then selected)</a:t>
            </a:r>
          </a:p>
          <a:p>
            <a:pPr lvl="1"/>
            <a:r>
              <a:rPr lang="en-US" sz="2000" dirty="0"/>
              <a:t>    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Advantages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General solution, hardware/device independence.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Disadvantages: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Requires ray intersection testing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Requires scene level optimization to make it go fast.  (space partitioning algorithm)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000" dirty="0"/>
          </a:p>
          <a:p>
            <a:pPr lvl="1"/>
            <a:r>
              <a:rPr lang="en-US" sz="2000" i="1" dirty="0"/>
              <a:t>*openFrameworks camera supports</a:t>
            </a:r>
          </a:p>
          <a:p>
            <a:pPr lvl="1"/>
            <a:r>
              <a:rPr lang="en-US" sz="2000" i="1" dirty="0"/>
              <a:t>   all of these elements.</a:t>
            </a:r>
          </a:p>
          <a:p>
            <a:pPr lvl="2"/>
            <a:endParaRPr lang="en-US" sz="28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4" name="Picture 3" descr="A close up of a map&#10;&#10;Description generated with high confidence">
            <a:extLst>
              <a:ext uri="{FF2B5EF4-FFF2-40B4-BE49-F238E27FC236}">
                <a16:creationId xmlns:a16="http://schemas.microsoft.com/office/drawing/2014/main" id="{E14D41AA-9653-460C-8EA9-2131533D28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8938" y="2121069"/>
            <a:ext cx="5910474" cy="343118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CECBF4-C61C-4948-8CCD-F57FA361C098}"/>
              </a:ext>
            </a:extLst>
          </p:cNvPr>
          <p:cNvCxnSpPr>
            <a:cxnSpLocks/>
          </p:cNvCxnSpPr>
          <p:nvPr/>
        </p:nvCxnSpPr>
        <p:spPr>
          <a:xfrm>
            <a:off x="7658100" y="3758453"/>
            <a:ext cx="0" cy="4908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6A100CB-DFB1-4A32-B57A-0C63D55D1652}"/>
              </a:ext>
            </a:extLst>
          </p:cNvPr>
          <p:cNvSpPr txBox="1"/>
          <p:nvPr/>
        </p:nvSpPr>
        <p:spPr>
          <a:xfrm>
            <a:off x="6252519" y="3120081"/>
            <a:ext cx="802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screen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DBD44B4-D918-4447-8A94-C8C75A0FC528}"/>
              </a:ext>
            </a:extLst>
          </p:cNvPr>
          <p:cNvCxnSpPr>
            <a:cxnSpLocks/>
          </p:cNvCxnSpPr>
          <p:nvPr/>
        </p:nvCxnSpPr>
        <p:spPr>
          <a:xfrm>
            <a:off x="6963032" y="3429000"/>
            <a:ext cx="401595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1E71D88-3C83-4B5E-A382-61D100206AF3}"/>
              </a:ext>
            </a:extLst>
          </p:cNvPr>
          <p:cNvCxnSpPr>
            <a:cxnSpLocks/>
          </p:cNvCxnSpPr>
          <p:nvPr/>
        </p:nvCxnSpPr>
        <p:spPr>
          <a:xfrm flipV="1">
            <a:off x="7658100" y="3886201"/>
            <a:ext cx="495300" cy="47064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669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226415" y="661861"/>
            <a:ext cx="36456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3D Ray Selection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2836419" y="2058551"/>
            <a:ext cx="7537987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 </a:t>
            </a:r>
            <a:r>
              <a:rPr lang="en-US" sz="2400" dirty="0"/>
              <a:t>Ray intersection Testing – A Few Example Algorithms	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Ray-sphere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Ray-plane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Ray-box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Ray-cylinder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Ray-cone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Very well studied area from field of Ray Tracing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Amazing site: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hlinkClick r:id="rId3"/>
              </a:rPr>
              <a:t>http://www.realtimerendering.com/intersections.html</a:t>
            </a:r>
            <a:endParaRPr lang="en-US" sz="2000" dirty="0"/>
          </a:p>
          <a:p>
            <a:pPr lvl="1"/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1053322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355414" y="675309"/>
            <a:ext cx="4948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Screen Space Selection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1811429" y="1798245"/>
            <a:ext cx="8569141" cy="64017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 To Test if a 3D Point is selected in Screen space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Convert the value of the 3D point to 2D Point in Screen Space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Compute the 2D distance of the point to the mouse point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If   d  &lt;  delta (a predetermined distance), we deem it to be selected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Advantages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Simple to implement/code  (Homework 5) for simple objects (like points)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Can be optimized using 2D partitioning  (box or sphere tree)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Disadvantage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Doesn’t handle general geometric intersection.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Requires Z-depth to select occluded objects.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Can be slow for “heavy” objects with a lot of vertices/points.</a:t>
            </a:r>
          </a:p>
          <a:p>
            <a:pPr lvl="1"/>
            <a:r>
              <a:rPr lang="en-US" sz="2000" dirty="0"/>
              <a:t>Related Method:  Color-based Selection (from Assignment 3).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2759617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1355414" y="675309"/>
            <a:ext cx="42480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Hardware Selection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2161052" y="1771352"/>
            <a:ext cx="7931723" cy="655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3D Hardware Selection Methods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Uses the Graphics API/GPU to select/pick objects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Example:  OpenGL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OpenGL requires a separate selection test rendering pass where</a:t>
            </a:r>
          </a:p>
          <a:p>
            <a:pPr lvl="2"/>
            <a:r>
              <a:rPr lang="en-US" dirty="0"/>
              <a:t>     each object/primitive is tagged with an unique ID.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dirty="0"/>
              <a:t>OpenGL returns a test of ID’s that intersect with a mouse ray</a:t>
            </a:r>
          </a:p>
          <a:p>
            <a:pPr lvl="2"/>
            <a:r>
              <a:rPr lang="en-US" dirty="0"/>
              <a:t>      or sub-frustum.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Advantages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Can be fast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Fairly easy to implement in OpenGL for simple scenes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Disadvantages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API-Dependent  (requires OpenGL or similar API that supports it)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Requires render selection pass  (like color selection method we used)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May not address selection of all 3D object types in a general way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4126681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095628" y="430214"/>
            <a:ext cx="78307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Project 2 – Landing Simulation Game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pic>
        <p:nvPicPr>
          <p:cNvPr id="6" name="Picture 5" descr="A picture containing nature&#10;&#10;Description generated with very high confidence">
            <a:extLst>
              <a:ext uri="{FF2B5EF4-FFF2-40B4-BE49-F238E27FC236}">
                <a16:creationId xmlns:a16="http://schemas.microsoft.com/office/drawing/2014/main" id="{09B78FB8-A62E-4BD3-98AA-A6E3F4ECD5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94" y="1209277"/>
            <a:ext cx="5333494" cy="4013218"/>
          </a:xfrm>
          <a:prstGeom prst="rect">
            <a:avLst/>
          </a:prstGeom>
        </p:spPr>
      </p:pic>
      <p:pic>
        <p:nvPicPr>
          <p:cNvPr id="11" name="Picture 10" descr="A picture containing green&#10;&#10;Description generated with high confidence">
            <a:extLst>
              <a:ext uri="{FF2B5EF4-FFF2-40B4-BE49-F238E27FC236}">
                <a16:creationId xmlns:a16="http://schemas.microsoft.com/office/drawing/2014/main" id="{31DC9776-903A-4C3C-B541-B4965912B7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142" y="1209277"/>
            <a:ext cx="5281952" cy="39705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0138DA2-AC3A-4013-A57C-B1F737640615}"/>
              </a:ext>
            </a:extLst>
          </p:cNvPr>
          <p:cNvSpPr txBox="1"/>
          <p:nvPr/>
        </p:nvSpPr>
        <p:spPr>
          <a:xfrm>
            <a:off x="586946" y="5293672"/>
            <a:ext cx="80913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Mars Terrain views in class </a:t>
            </a:r>
            <a:r>
              <a:rPr lang="en-US" sz="1400" i="1" dirty="0" err="1"/>
              <a:t>openFrameworks</a:t>
            </a:r>
            <a:r>
              <a:rPr lang="en-US" sz="1400" dirty="0"/>
              <a:t> project – terrain model generated from </a:t>
            </a:r>
            <a:r>
              <a:rPr lang="en-US" sz="1400" dirty="0" err="1"/>
              <a:t>HiRis</a:t>
            </a:r>
            <a:r>
              <a:rPr lang="en-US" sz="1400" dirty="0"/>
              <a:t> photogrammetry  </a:t>
            </a:r>
          </a:p>
        </p:txBody>
      </p:sp>
    </p:spTree>
    <p:extLst>
      <p:ext uri="{BB962C8B-B14F-4D97-AF65-F5344CB8AC3E}">
        <p14:creationId xmlns:p14="http://schemas.microsoft.com/office/powerpoint/2010/main" val="589442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595655" y="708927"/>
            <a:ext cx="53819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Terrain Data for Project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885606" y="2179796"/>
            <a:ext cx="10878684" cy="4678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To familiarize yourself with the subject matter for Terrain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Learn about the </a:t>
            </a:r>
            <a:r>
              <a:rPr lang="en-US" sz="2400" dirty="0" err="1"/>
              <a:t>HiRise</a:t>
            </a:r>
            <a:r>
              <a:rPr lang="en-US" sz="2400" dirty="0"/>
              <a:t> Project at the Lunar and Planetary LAB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hlinkClick r:id="rId3"/>
              </a:rPr>
              <a:t>https://www.uahirise.org//dtm/</a:t>
            </a:r>
            <a:endParaRPr lang="en-US" sz="24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Look specifically at DTM’s (digital terrain model section)	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For more info on the Mars Reconnaissance Orbiter and </a:t>
            </a:r>
            <a:r>
              <a:rPr lang="en-US" sz="2400" dirty="0" err="1"/>
              <a:t>HiRise</a:t>
            </a:r>
            <a:r>
              <a:rPr lang="en-US" sz="2400" dirty="0"/>
              <a:t> Camera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/>
              <a:t>Start with: </a:t>
            </a:r>
            <a:r>
              <a:rPr lang="en-US" sz="2400" dirty="0">
                <a:hlinkClick r:id="rId4"/>
              </a:rPr>
              <a:t>https://en.wikipedia.org/wiki/Mars_Reconnaissance_Orbiter</a:t>
            </a:r>
            <a:endParaRPr lang="en-US" sz="2400" dirty="0"/>
          </a:p>
          <a:p>
            <a:pPr lvl="3"/>
            <a:endParaRPr lang="en-US" sz="24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2630792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226415" y="661861"/>
            <a:ext cx="73246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3D User Interface –  3D Navigation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3594962" y="2179796"/>
            <a:ext cx="5002075" cy="4678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 Basic Types of Camera Motion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Free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Aim  (or Target)</a:t>
            </a:r>
          </a:p>
          <a:p>
            <a:pPr lvl="1"/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490421-39B8-42AE-9192-2F5A0C06132E}"/>
              </a:ext>
            </a:extLst>
          </p:cNvPr>
          <p:cNvSpPr txBox="1"/>
          <p:nvPr/>
        </p:nvSpPr>
        <p:spPr>
          <a:xfrm>
            <a:off x="2440502" y="5347664"/>
            <a:ext cx="1295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Maya demo</a:t>
            </a:r>
          </a:p>
        </p:txBody>
      </p:sp>
    </p:spTree>
    <p:extLst>
      <p:ext uri="{BB962C8B-B14F-4D97-AF65-F5344CB8AC3E}">
        <p14:creationId xmlns:p14="http://schemas.microsoft.com/office/powerpoint/2010/main" val="2619115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226415" y="661861"/>
            <a:ext cx="73246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3D User Interface –  3D Navigation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2459596" y="1673169"/>
            <a:ext cx="7401095" cy="7940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Constrained  Navigation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Restricting Movement (ex: 3D car website)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hlinkClick r:id="rId3"/>
              </a:rPr>
              <a:t>https://www.porsche.com/microsite/911/usa.aspx#showroom/911-carrera-s/3/3/50/0/0</a:t>
            </a: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First Person Navigation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Constrained (forward, back, left, right)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Motion Path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Camera can be moved along fixed path (usually a 3D curve)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Animated variations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/>
              <a:t>“fly-through”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/>
              <a:t>“teleportation” (with movement)</a:t>
            </a:r>
          </a:p>
          <a:p>
            <a:pPr lvl="1"/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3748726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FBB94-AEE0-4759-9E11-E7868675D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426" y="6361740"/>
            <a:ext cx="2161880" cy="4046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9B27AF-92CA-4D1D-8F10-74C40A13D979}"/>
              </a:ext>
            </a:extLst>
          </p:cNvPr>
          <p:cNvSpPr txBox="1"/>
          <p:nvPr/>
        </p:nvSpPr>
        <p:spPr>
          <a:xfrm>
            <a:off x="2226415" y="661861"/>
            <a:ext cx="73246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3D User Interface –  3D Navigation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F4DD00-AD1E-49F6-9F25-ABCE8EFC3EEA}"/>
              </a:ext>
            </a:extLst>
          </p:cNvPr>
          <p:cNvSpPr txBox="1"/>
          <p:nvPr/>
        </p:nvSpPr>
        <p:spPr>
          <a:xfrm>
            <a:off x="3606271" y="2492202"/>
            <a:ext cx="7401095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200" dirty="0"/>
              <a:t>Demo Examples: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Second Life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Maya   - </a:t>
            </a:r>
            <a:r>
              <a:rPr lang="en-US" dirty="0">
                <a:hlinkClick r:id="rId3"/>
              </a:rPr>
              <a:t>https://www.youtube.com/watch?v=ZdiKmm1_gu4</a:t>
            </a:r>
            <a:endParaRPr lang="en-US" dirty="0"/>
          </a:p>
          <a:p>
            <a:pPr lvl="2"/>
            <a:endParaRPr lang="en-US" sz="2400" dirty="0"/>
          </a:p>
          <a:p>
            <a:pPr lvl="1"/>
            <a:endParaRPr lang="en-US" sz="20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094B6-C095-4DDF-B2F6-AA62CE83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Kevin M. Smith</a:t>
            </a:r>
          </a:p>
        </p:txBody>
      </p:sp>
    </p:spTree>
    <p:extLst>
      <p:ext uri="{BB962C8B-B14F-4D97-AF65-F5344CB8AC3E}">
        <p14:creationId xmlns:p14="http://schemas.microsoft.com/office/powerpoint/2010/main" val="1061462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5694</TotalTime>
  <Words>839</Words>
  <Application>Microsoft Office PowerPoint</Application>
  <PresentationFormat>Widescreen</PresentationFormat>
  <Paragraphs>196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CS 134 Computer Game Design – 3D Graphics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235 User Interface Design</dc:title>
  <dc:creator>Kevin Smith</dc:creator>
  <cp:lastModifiedBy>Kevin Smith</cp:lastModifiedBy>
  <cp:revision>280</cp:revision>
  <dcterms:created xsi:type="dcterms:W3CDTF">2017-08-23T16:49:40Z</dcterms:created>
  <dcterms:modified xsi:type="dcterms:W3CDTF">2019-03-27T14:49:12Z</dcterms:modified>
</cp:coreProperties>
</file>