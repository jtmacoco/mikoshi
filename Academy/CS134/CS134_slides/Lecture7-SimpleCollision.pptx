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7"/>
  </p:notesMasterIdLst>
  <p:sldIdLst>
    <p:sldId id="256" r:id="rId2"/>
    <p:sldId id="274" r:id="rId3"/>
    <p:sldId id="268" r:id="rId4"/>
    <p:sldId id="278" r:id="rId5"/>
    <p:sldId id="279" r:id="rId6"/>
    <p:sldId id="282" r:id="rId7"/>
    <p:sldId id="289" r:id="rId8"/>
    <p:sldId id="283" r:id="rId9"/>
    <p:sldId id="284" r:id="rId10"/>
    <p:sldId id="285" r:id="rId11"/>
    <p:sldId id="286" r:id="rId12"/>
    <p:sldId id="287" r:id="rId13"/>
    <p:sldId id="290" r:id="rId14"/>
    <p:sldId id="288" r:id="rId15"/>
    <p:sldId id="27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8" autoAdjust="0"/>
    <p:restoredTop sz="94660"/>
  </p:normalViewPr>
  <p:slideViewPr>
    <p:cSldViewPr snapToGrid="0">
      <p:cViewPr varScale="1">
        <p:scale>
          <a:sx n="54" d="100"/>
          <a:sy n="54" d="100"/>
        </p:scale>
        <p:origin x="758" y="2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E6C2A8-2747-4294-A578-3E60BC72699C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</dgm:pt>
    <dgm:pt modelId="{7F4B5FFF-9ED3-467E-9F08-56224C0F0A7F}">
      <dgm:prSet phldrT="[Text]" custT="1"/>
      <dgm:spPr/>
      <dgm:t>
        <a:bodyPr/>
        <a:lstStyle/>
        <a:p>
          <a:r>
            <a:rPr lang="en-US" sz="1100" dirty="0"/>
            <a:t>Physics and Simulation</a:t>
          </a:r>
        </a:p>
      </dgm:t>
    </dgm:pt>
    <dgm:pt modelId="{C8A8C85B-5DBC-4826-B79B-1827F17A1C87}" type="parTrans" cxnId="{59951FFD-F138-4D68-9127-248155DB05BC}">
      <dgm:prSet/>
      <dgm:spPr/>
      <dgm:t>
        <a:bodyPr/>
        <a:lstStyle/>
        <a:p>
          <a:endParaRPr lang="en-US"/>
        </a:p>
      </dgm:t>
    </dgm:pt>
    <dgm:pt modelId="{7CE53D13-2F1E-4334-8FCF-7819053F807A}" type="sibTrans" cxnId="{59951FFD-F138-4D68-9127-248155DB05BC}">
      <dgm:prSet/>
      <dgm:spPr/>
      <dgm:t>
        <a:bodyPr/>
        <a:lstStyle/>
        <a:p>
          <a:endParaRPr lang="en-US"/>
        </a:p>
      </dgm:t>
    </dgm:pt>
    <dgm:pt modelId="{D4F4622E-522E-42E2-9325-882BA587A43A}">
      <dgm:prSet phldrT="[Text]" custT="1"/>
      <dgm:spPr/>
      <dgm:t>
        <a:bodyPr/>
        <a:lstStyle/>
        <a:p>
          <a:r>
            <a:rPr lang="en-US" sz="1100" dirty="0"/>
            <a:t>3D Game Design</a:t>
          </a:r>
        </a:p>
      </dgm:t>
    </dgm:pt>
    <dgm:pt modelId="{12D438F1-16F0-4289-9C29-07BB8C8DEA4E}" type="parTrans" cxnId="{9B3C77B5-5FC6-4633-9644-197BB5B7C090}">
      <dgm:prSet/>
      <dgm:spPr/>
      <dgm:t>
        <a:bodyPr/>
        <a:lstStyle/>
        <a:p>
          <a:endParaRPr lang="en-US"/>
        </a:p>
      </dgm:t>
    </dgm:pt>
    <dgm:pt modelId="{F2442B81-00C0-4435-B316-F3582779B651}" type="sibTrans" cxnId="{9B3C77B5-5FC6-4633-9644-197BB5B7C090}">
      <dgm:prSet/>
      <dgm:spPr/>
      <dgm:t>
        <a:bodyPr/>
        <a:lstStyle/>
        <a:p>
          <a:endParaRPr lang="en-US"/>
        </a:p>
      </dgm:t>
    </dgm:pt>
    <dgm:pt modelId="{028A8B19-4191-4E76-9454-D83DBC41B6F4}">
      <dgm:prSet phldrT="[Text]" custT="1"/>
      <dgm:spPr/>
      <dgm:t>
        <a:bodyPr/>
        <a:lstStyle/>
        <a:p>
          <a:r>
            <a:rPr lang="en-US" sz="1100" dirty="0"/>
            <a:t>Team Project</a:t>
          </a:r>
        </a:p>
      </dgm:t>
    </dgm:pt>
    <dgm:pt modelId="{DF0BABC2-F8A9-42CD-A0F1-ADFF9CFA12E7}" type="parTrans" cxnId="{99DC17BD-EA48-409D-8014-D4F4A34E2DB2}">
      <dgm:prSet/>
      <dgm:spPr/>
      <dgm:t>
        <a:bodyPr/>
        <a:lstStyle/>
        <a:p>
          <a:endParaRPr lang="en-US"/>
        </a:p>
      </dgm:t>
    </dgm:pt>
    <dgm:pt modelId="{D8184D79-403A-484F-A3B2-E8AFE6EAB0DE}" type="sibTrans" cxnId="{99DC17BD-EA48-409D-8014-D4F4A34E2DB2}">
      <dgm:prSet/>
      <dgm:spPr/>
      <dgm:t>
        <a:bodyPr/>
        <a:lstStyle/>
        <a:p>
          <a:endParaRPr lang="en-US"/>
        </a:p>
      </dgm:t>
    </dgm:pt>
    <dgm:pt modelId="{629C9996-1516-4DD1-93F0-210EC0081A28}">
      <dgm:prSet phldrT="[Text]" custT="1"/>
      <dgm:spPr/>
      <dgm:t>
        <a:bodyPr/>
        <a:lstStyle/>
        <a:p>
          <a:r>
            <a:rPr lang="en-US" sz="1100" dirty="0"/>
            <a:t>2D Game Design</a:t>
          </a:r>
        </a:p>
      </dgm:t>
    </dgm:pt>
    <dgm:pt modelId="{BC85CDFF-CF68-43B6-9065-A20E84409B67}" type="sibTrans" cxnId="{1C5903B3-06E9-477C-BAAF-FE6A078B705F}">
      <dgm:prSet/>
      <dgm:spPr/>
      <dgm:t>
        <a:bodyPr/>
        <a:lstStyle/>
        <a:p>
          <a:endParaRPr lang="en-US"/>
        </a:p>
      </dgm:t>
    </dgm:pt>
    <dgm:pt modelId="{EDB9C1ED-567D-413B-8E5D-7BBB68CF638E}" type="parTrans" cxnId="{1C5903B3-06E9-477C-BAAF-FE6A078B705F}">
      <dgm:prSet/>
      <dgm:spPr/>
      <dgm:t>
        <a:bodyPr/>
        <a:lstStyle/>
        <a:p>
          <a:endParaRPr lang="en-US"/>
        </a:p>
      </dgm:t>
    </dgm:pt>
    <dgm:pt modelId="{7E787B9E-F68A-4726-AD47-A41529D72F7A}">
      <dgm:prSet phldrT="[Text]" custT="1"/>
      <dgm:spPr/>
      <dgm:t>
        <a:bodyPr/>
        <a:lstStyle/>
        <a:p>
          <a:r>
            <a:rPr lang="en-US" sz="1100" dirty="0"/>
            <a:t>Introduction to Game Engines</a:t>
          </a:r>
        </a:p>
      </dgm:t>
    </dgm:pt>
    <dgm:pt modelId="{20A36317-A207-4A58-B8F2-9C7A040AEAC2}" type="sibTrans" cxnId="{43B89582-B31F-4149-8680-7DF2F5ACBFFF}">
      <dgm:prSet/>
      <dgm:spPr/>
      <dgm:t>
        <a:bodyPr/>
        <a:lstStyle/>
        <a:p>
          <a:endParaRPr lang="en-US"/>
        </a:p>
      </dgm:t>
    </dgm:pt>
    <dgm:pt modelId="{131A7A07-DA4A-469D-B68E-6F212B635694}" type="parTrans" cxnId="{43B89582-B31F-4149-8680-7DF2F5ACBFFF}">
      <dgm:prSet/>
      <dgm:spPr/>
      <dgm:t>
        <a:bodyPr/>
        <a:lstStyle/>
        <a:p>
          <a:endParaRPr lang="en-US"/>
        </a:p>
      </dgm:t>
    </dgm:pt>
    <dgm:pt modelId="{EE241DB9-664A-4755-BD9A-A47EB96DD90E}" type="pres">
      <dgm:prSet presAssocID="{D1E6C2A8-2747-4294-A578-3E60BC72699C}" presName="Name0" presStyleCnt="0">
        <dgm:presLayoutVars>
          <dgm:dir/>
          <dgm:resizeHandles val="exact"/>
        </dgm:presLayoutVars>
      </dgm:prSet>
      <dgm:spPr/>
    </dgm:pt>
    <dgm:pt modelId="{98610125-610F-4440-81CC-D81E7A28C4B6}" type="pres">
      <dgm:prSet presAssocID="{7E787B9E-F68A-4726-AD47-A41529D72F7A}" presName="node" presStyleLbl="node1" presStyleIdx="0" presStyleCnt="5">
        <dgm:presLayoutVars>
          <dgm:bulletEnabled val="1"/>
        </dgm:presLayoutVars>
      </dgm:prSet>
      <dgm:spPr/>
    </dgm:pt>
    <dgm:pt modelId="{10F89025-5263-4F54-A62C-3353C3189BAB}" type="pres">
      <dgm:prSet presAssocID="{20A36317-A207-4A58-B8F2-9C7A040AEAC2}" presName="sibTrans" presStyleLbl="sibTrans2D1" presStyleIdx="0" presStyleCnt="4"/>
      <dgm:spPr/>
    </dgm:pt>
    <dgm:pt modelId="{A0AB54E4-A336-4934-AACD-A2A8D60C157A}" type="pres">
      <dgm:prSet presAssocID="{20A36317-A207-4A58-B8F2-9C7A040AEAC2}" presName="connectorText" presStyleLbl="sibTrans2D1" presStyleIdx="0" presStyleCnt="4"/>
      <dgm:spPr/>
    </dgm:pt>
    <dgm:pt modelId="{77A6D4E2-F93D-46CA-AC6C-C7A1C1E347E3}" type="pres">
      <dgm:prSet presAssocID="{629C9996-1516-4DD1-93F0-210EC0081A28}" presName="node" presStyleLbl="node1" presStyleIdx="1" presStyleCnt="5">
        <dgm:presLayoutVars>
          <dgm:bulletEnabled val="1"/>
        </dgm:presLayoutVars>
      </dgm:prSet>
      <dgm:spPr/>
    </dgm:pt>
    <dgm:pt modelId="{F5F18F9E-6630-4259-9DFB-993D7969FA98}" type="pres">
      <dgm:prSet presAssocID="{BC85CDFF-CF68-43B6-9065-A20E84409B67}" presName="sibTrans" presStyleLbl="sibTrans2D1" presStyleIdx="1" presStyleCnt="4"/>
      <dgm:spPr/>
    </dgm:pt>
    <dgm:pt modelId="{AE995AEC-51BE-4AE1-9901-273464BC5FD7}" type="pres">
      <dgm:prSet presAssocID="{BC85CDFF-CF68-43B6-9065-A20E84409B67}" presName="connectorText" presStyleLbl="sibTrans2D1" presStyleIdx="1" presStyleCnt="4"/>
      <dgm:spPr/>
    </dgm:pt>
    <dgm:pt modelId="{48713530-359F-4B24-AD8E-90F5CA1E5B8A}" type="pres">
      <dgm:prSet presAssocID="{7F4B5FFF-9ED3-467E-9F08-56224C0F0A7F}" presName="node" presStyleLbl="node1" presStyleIdx="2" presStyleCnt="5">
        <dgm:presLayoutVars>
          <dgm:bulletEnabled val="1"/>
        </dgm:presLayoutVars>
      </dgm:prSet>
      <dgm:spPr/>
    </dgm:pt>
    <dgm:pt modelId="{00191EE8-DED7-4FD3-90EA-E6EDEBC6E0E2}" type="pres">
      <dgm:prSet presAssocID="{7CE53D13-2F1E-4334-8FCF-7819053F807A}" presName="sibTrans" presStyleLbl="sibTrans2D1" presStyleIdx="2" presStyleCnt="4"/>
      <dgm:spPr/>
    </dgm:pt>
    <dgm:pt modelId="{C2749609-6B32-41C5-9D20-70B086BA6C75}" type="pres">
      <dgm:prSet presAssocID="{7CE53D13-2F1E-4334-8FCF-7819053F807A}" presName="connectorText" presStyleLbl="sibTrans2D1" presStyleIdx="2" presStyleCnt="4"/>
      <dgm:spPr/>
    </dgm:pt>
    <dgm:pt modelId="{D6E9322D-7193-4E11-99DF-55341D827C99}" type="pres">
      <dgm:prSet presAssocID="{D4F4622E-522E-42E2-9325-882BA587A43A}" presName="node" presStyleLbl="node1" presStyleIdx="3" presStyleCnt="5">
        <dgm:presLayoutVars>
          <dgm:bulletEnabled val="1"/>
        </dgm:presLayoutVars>
      </dgm:prSet>
      <dgm:spPr/>
    </dgm:pt>
    <dgm:pt modelId="{20F28471-F34B-4756-9517-8F3AE9BAB6F8}" type="pres">
      <dgm:prSet presAssocID="{F2442B81-00C0-4435-B316-F3582779B651}" presName="sibTrans" presStyleLbl="sibTrans2D1" presStyleIdx="3" presStyleCnt="4"/>
      <dgm:spPr/>
    </dgm:pt>
    <dgm:pt modelId="{729AA94F-516C-49C1-B401-25B4BBC4C87C}" type="pres">
      <dgm:prSet presAssocID="{F2442B81-00C0-4435-B316-F3582779B651}" presName="connectorText" presStyleLbl="sibTrans2D1" presStyleIdx="3" presStyleCnt="4"/>
      <dgm:spPr/>
    </dgm:pt>
    <dgm:pt modelId="{B00F87D7-9E7F-4BAE-B409-6C0C48291B75}" type="pres">
      <dgm:prSet presAssocID="{028A8B19-4191-4E76-9454-D83DBC41B6F4}" presName="node" presStyleLbl="node1" presStyleIdx="4" presStyleCnt="5">
        <dgm:presLayoutVars>
          <dgm:bulletEnabled val="1"/>
        </dgm:presLayoutVars>
      </dgm:prSet>
      <dgm:spPr/>
    </dgm:pt>
  </dgm:ptLst>
  <dgm:cxnLst>
    <dgm:cxn modelId="{0FAD7C00-9515-42C1-8889-692E99739B1D}" type="presOf" srcId="{7CE53D13-2F1E-4334-8FCF-7819053F807A}" destId="{00191EE8-DED7-4FD3-90EA-E6EDEBC6E0E2}" srcOrd="0" destOrd="0" presId="urn:microsoft.com/office/officeart/2005/8/layout/process1"/>
    <dgm:cxn modelId="{38130F02-ED4C-4534-858A-EEC006413E5D}" type="presOf" srcId="{629C9996-1516-4DD1-93F0-210EC0081A28}" destId="{77A6D4E2-F93D-46CA-AC6C-C7A1C1E347E3}" srcOrd="0" destOrd="0" presId="urn:microsoft.com/office/officeart/2005/8/layout/process1"/>
    <dgm:cxn modelId="{FD6FBE2B-B8C9-4CE7-829A-13E356681BB6}" type="presOf" srcId="{F2442B81-00C0-4435-B316-F3582779B651}" destId="{20F28471-F34B-4756-9517-8F3AE9BAB6F8}" srcOrd="0" destOrd="0" presId="urn:microsoft.com/office/officeart/2005/8/layout/process1"/>
    <dgm:cxn modelId="{E775FF2C-0089-4C18-AAB9-E18412CF5B0B}" type="presOf" srcId="{BC85CDFF-CF68-43B6-9065-A20E84409B67}" destId="{F5F18F9E-6630-4259-9DFB-993D7969FA98}" srcOrd="0" destOrd="0" presId="urn:microsoft.com/office/officeart/2005/8/layout/process1"/>
    <dgm:cxn modelId="{F1864F3F-078C-4EF2-A234-6459774A7495}" type="presOf" srcId="{D4F4622E-522E-42E2-9325-882BA587A43A}" destId="{D6E9322D-7193-4E11-99DF-55341D827C99}" srcOrd="0" destOrd="0" presId="urn:microsoft.com/office/officeart/2005/8/layout/process1"/>
    <dgm:cxn modelId="{F061DE67-415E-480B-BD1A-6FE6FBE9B91D}" type="presOf" srcId="{7F4B5FFF-9ED3-467E-9F08-56224C0F0A7F}" destId="{48713530-359F-4B24-AD8E-90F5CA1E5B8A}" srcOrd="0" destOrd="0" presId="urn:microsoft.com/office/officeart/2005/8/layout/process1"/>
    <dgm:cxn modelId="{D26D4A7A-69F6-49B8-80AD-10EE754C7276}" type="presOf" srcId="{BC85CDFF-CF68-43B6-9065-A20E84409B67}" destId="{AE995AEC-51BE-4AE1-9901-273464BC5FD7}" srcOrd="1" destOrd="0" presId="urn:microsoft.com/office/officeart/2005/8/layout/process1"/>
    <dgm:cxn modelId="{43B89582-B31F-4149-8680-7DF2F5ACBFFF}" srcId="{D1E6C2A8-2747-4294-A578-3E60BC72699C}" destId="{7E787B9E-F68A-4726-AD47-A41529D72F7A}" srcOrd="0" destOrd="0" parTransId="{131A7A07-DA4A-469D-B68E-6F212B635694}" sibTransId="{20A36317-A207-4A58-B8F2-9C7A040AEAC2}"/>
    <dgm:cxn modelId="{C3865392-7FEE-4C29-B07C-5179D9E4B558}" type="presOf" srcId="{7CE53D13-2F1E-4334-8FCF-7819053F807A}" destId="{C2749609-6B32-41C5-9D20-70B086BA6C75}" srcOrd="1" destOrd="0" presId="urn:microsoft.com/office/officeart/2005/8/layout/process1"/>
    <dgm:cxn modelId="{6D36BDAF-49F0-49F1-A1F4-5FE8CED45AED}" type="presOf" srcId="{7E787B9E-F68A-4726-AD47-A41529D72F7A}" destId="{98610125-610F-4440-81CC-D81E7A28C4B6}" srcOrd="0" destOrd="0" presId="urn:microsoft.com/office/officeart/2005/8/layout/process1"/>
    <dgm:cxn modelId="{1C5903B3-06E9-477C-BAAF-FE6A078B705F}" srcId="{D1E6C2A8-2747-4294-A578-3E60BC72699C}" destId="{629C9996-1516-4DD1-93F0-210EC0081A28}" srcOrd="1" destOrd="0" parTransId="{EDB9C1ED-567D-413B-8E5D-7BBB68CF638E}" sibTransId="{BC85CDFF-CF68-43B6-9065-A20E84409B67}"/>
    <dgm:cxn modelId="{9B3C77B5-5FC6-4633-9644-197BB5B7C090}" srcId="{D1E6C2A8-2747-4294-A578-3E60BC72699C}" destId="{D4F4622E-522E-42E2-9325-882BA587A43A}" srcOrd="3" destOrd="0" parTransId="{12D438F1-16F0-4289-9C29-07BB8C8DEA4E}" sibTransId="{F2442B81-00C0-4435-B316-F3582779B651}"/>
    <dgm:cxn modelId="{99DC17BD-EA48-409D-8014-D4F4A34E2DB2}" srcId="{D1E6C2A8-2747-4294-A578-3E60BC72699C}" destId="{028A8B19-4191-4E76-9454-D83DBC41B6F4}" srcOrd="4" destOrd="0" parTransId="{DF0BABC2-F8A9-42CD-A0F1-ADFF9CFA12E7}" sibTransId="{D8184D79-403A-484F-A3B2-E8AFE6EAB0DE}"/>
    <dgm:cxn modelId="{66A9E0D2-602B-4FD9-A9FF-6E9B691503B2}" type="presOf" srcId="{028A8B19-4191-4E76-9454-D83DBC41B6F4}" destId="{B00F87D7-9E7F-4BAE-B409-6C0C48291B75}" srcOrd="0" destOrd="0" presId="urn:microsoft.com/office/officeart/2005/8/layout/process1"/>
    <dgm:cxn modelId="{8AF961D8-ED52-4747-93B1-9DDDEC16D787}" type="presOf" srcId="{20A36317-A207-4A58-B8F2-9C7A040AEAC2}" destId="{10F89025-5263-4F54-A62C-3353C3189BAB}" srcOrd="0" destOrd="0" presId="urn:microsoft.com/office/officeart/2005/8/layout/process1"/>
    <dgm:cxn modelId="{924CE9E8-1BC6-4054-944C-F553F103F0C2}" type="presOf" srcId="{D1E6C2A8-2747-4294-A578-3E60BC72699C}" destId="{EE241DB9-664A-4755-BD9A-A47EB96DD90E}" srcOrd="0" destOrd="0" presId="urn:microsoft.com/office/officeart/2005/8/layout/process1"/>
    <dgm:cxn modelId="{AF3EF2EA-CC0B-4909-BF69-F81F38D58DFD}" type="presOf" srcId="{20A36317-A207-4A58-B8F2-9C7A040AEAC2}" destId="{A0AB54E4-A336-4934-AACD-A2A8D60C157A}" srcOrd="1" destOrd="0" presId="urn:microsoft.com/office/officeart/2005/8/layout/process1"/>
    <dgm:cxn modelId="{CB8EA2F1-00F7-41CF-8BA7-00543129BDC0}" type="presOf" srcId="{F2442B81-00C0-4435-B316-F3582779B651}" destId="{729AA94F-516C-49C1-B401-25B4BBC4C87C}" srcOrd="1" destOrd="0" presId="urn:microsoft.com/office/officeart/2005/8/layout/process1"/>
    <dgm:cxn modelId="{59951FFD-F138-4D68-9127-248155DB05BC}" srcId="{D1E6C2A8-2747-4294-A578-3E60BC72699C}" destId="{7F4B5FFF-9ED3-467E-9F08-56224C0F0A7F}" srcOrd="2" destOrd="0" parTransId="{C8A8C85B-5DBC-4826-B79B-1827F17A1C87}" sibTransId="{7CE53D13-2F1E-4334-8FCF-7819053F807A}"/>
    <dgm:cxn modelId="{67687466-2CC7-4219-ACBC-C682EF01AD53}" type="presParOf" srcId="{EE241DB9-664A-4755-BD9A-A47EB96DD90E}" destId="{98610125-610F-4440-81CC-D81E7A28C4B6}" srcOrd="0" destOrd="0" presId="urn:microsoft.com/office/officeart/2005/8/layout/process1"/>
    <dgm:cxn modelId="{067B4648-9F28-4B8E-9BA9-1D0D3D61B3D0}" type="presParOf" srcId="{EE241DB9-664A-4755-BD9A-A47EB96DD90E}" destId="{10F89025-5263-4F54-A62C-3353C3189BAB}" srcOrd="1" destOrd="0" presId="urn:microsoft.com/office/officeart/2005/8/layout/process1"/>
    <dgm:cxn modelId="{E8CC6C95-2DC5-471C-AE26-415E1939504E}" type="presParOf" srcId="{10F89025-5263-4F54-A62C-3353C3189BAB}" destId="{A0AB54E4-A336-4934-AACD-A2A8D60C157A}" srcOrd="0" destOrd="0" presId="urn:microsoft.com/office/officeart/2005/8/layout/process1"/>
    <dgm:cxn modelId="{FA878378-E582-4EB8-B772-DC8DD469F1B1}" type="presParOf" srcId="{EE241DB9-664A-4755-BD9A-A47EB96DD90E}" destId="{77A6D4E2-F93D-46CA-AC6C-C7A1C1E347E3}" srcOrd="2" destOrd="0" presId="urn:microsoft.com/office/officeart/2005/8/layout/process1"/>
    <dgm:cxn modelId="{7559F5CC-05C1-4085-9C57-F1D7ED95701E}" type="presParOf" srcId="{EE241DB9-664A-4755-BD9A-A47EB96DD90E}" destId="{F5F18F9E-6630-4259-9DFB-993D7969FA98}" srcOrd="3" destOrd="0" presId="urn:microsoft.com/office/officeart/2005/8/layout/process1"/>
    <dgm:cxn modelId="{C40299B4-D8CE-452E-B887-416BFB580C54}" type="presParOf" srcId="{F5F18F9E-6630-4259-9DFB-993D7969FA98}" destId="{AE995AEC-51BE-4AE1-9901-273464BC5FD7}" srcOrd="0" destOrd="0" presId="urn:microsoft.com/office/officeart/2005/8/layout/process1"/>
    <dgm:cxn modelId="{EBA963BB-40F9-47DA-82A7-40E6A5445369}" type="presParOf" srcId="{EE241DB9-664A-4755-BD9A-A47EB96DD90E}" destId="{48713530-359F-4B24-AD8E-90F5CA1E5B8A}" srcOrd="4" destOrd="0" presId="urn:microsoft.com/office/officeart/2005/8/layout/process1"/>
    <dgm:cxn modelId="{B9F6EE1C-849D-4D02-B0B8-ACA39867AB20}" type="presParOf" srcId="{EE241DB9-664A-4755-BD9A-A47EB96DD90E}" destId="{00191EE8-DED7-4FD3-90EA-E6EDEBC6E0E2}" srcOrd="5" destOrd="0" presId="urn:microsoft.com/office/officeart/2005/8/layout/process1"/>
    <dgm:cxn modelId="{8B07C9AD-79B2-440C-BD6C-A72583E2D314}" type="presParOf" srcId="{00191EE8-DED7-4FD3-90EA-E6EDEBC6E0E2}" destId="{C2749609-6B32-41C5-9D20-70B086BA6C75}" srcOrd="0" destOrd="0" presId="urn:microsoft.com/office/officeart/2005/8/layout/process1"/>
    <dgm:cxn modelId="{E4D9C973-9995-46DA-ABD7-D518472829EA}" type="presParOf" srcId="{EE241DB9-664A-4755-BD9A-A47EB96DD90E}" destId="{D6E9322D-7193-4E11-99DF-55341D827C99}" srcOrd="6" destOrd="0" presId="urn:microsoft.com/office/officeart/2005/8/layout/process1"/>
    <dgm:cxn modelId="{E16E5F45-6543-4DF4-A9EF-424240AA8897}" type="presParOf" srcId="{EE241DB9-664A-4755-BD9A-A47EB96DD90E}" destId="{20F28471-F34B-4756-9517-8F3AE9BAB6F8}" srcOrd="7" destOrd="0" presId="urn:microsoft.com/office/officeart/2005/8/layout/process1"/>
    <dgm:cxn modelId="{E176BDC8-3F6B-4CFD-BA8C-AC1AA40E3C5F}" type="presParOf" srcId="{20F28471-F34B-4756-9517-8F3AE9BAB6F8}" destId="{729AA94F-516C-49C1-B401-25B4BBC4C87C}" srcOrd="0" destOrd="0" presId="urn:microsoft.com/office/officeart/2005/8/layout/process1"/>
    <dgm:cxn modelId="{796D8A67-91D2-4146-A37D-03BDF60D13D3}" type="presParOf" srcId="{EE241DB9-664A-4755-BD9A-A47EB96DD90E}" destId="{B00F87D7-9E7F-4BAE-B409-6C0C48291B75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610125-610F-4440-81CC-D81E7A28C4B6}">
      <dsp:nvSpPr>
        <dsp:cNvPr id="0" name=""/>
        <dsp:cNvSpPr/>
      </dsp:nvSpPr>
      <dsp:spPr>
        <a:xfrm>
          <a:off x="4769" y="1167513"/>
          <a:ext cx="1478571" cy="8871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Introduction to Game Engines</a:t>
          </a:r>
        </a:p>
      </dsp:txBody>
      <dsp:txXfrm>
        <a:off x="30753" y="1193497"/>
        <a:ext cx="1426603" cy="835175"/>
      </dsp:txXfrm>
    </dsp:sp>
    <dsp:sp modelId="{10F89025-5263-4F54-A62C-3353C3189BAB}">
      <dsp:nvSpPr>
        <dsp:cNvPr id="0" name=""/>
        <dsp:cNvSpPr/>
      </dsp:nvSpPr>
      <dsp:spPr>
        <a:xfrm>
          <a:off x="1631198" y="1427742"/>
          <a:ext cx="313457" cy="3666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1631198" y="1501079"/>
        <a:ext cx="219420" cy="220011"/>
      </dsp:txXfrm>
    </dsp:sp>
    <dsp:sp modelId="{77A6D4E2-F93D-46CA-AC6C-C7A1C1E347E3}">
      <dsp:nvSpPr>
        <dsp:cNvPr id="0" name=""/>
        <dsp:cNvSpPr/>
      </dsp:nvSpPr>
      <dsp:spPr>
        <a:xfrm>
          <a:off x="2074770" y="1167513"/>
          <a:ext cx="1478571" cy="887143"/>
        </a:xfrm>
        <a:prstGeom prst="roundRect">
          <a:avLst>
            <a:gd name="adj" fmla="val 10000"/>
          </a:avLst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2D Game Design</a:t>
          </a:r>
        </a:p>
      </dsp:txBody>
      <dsp:txXfrm>
        <a:off x="2100754" y="1193497"/>
        <a:ext cx="1426603" cy="835175"/>
      </dsp:txXfrm>
    </dsp:sp>
    <dsp:sp modelId="{F5F18F9E-6630-4259-9DFB-993D7969FA98}">
      <dsp:nvSpPr>
        <dsp:cNvPr id="0" name=""/>
        <dsp:cNvSpPr/>
      </dsp:nvSpPr>
      <dsp:spPr>
        <a:xfrm>
          <a:off x="3701199" y="1427742"/>
          <a:ext cx="313457" cy="3666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3701199" y="1501079"/>
        <a:ext cx="219420" cy="220011"/>
      </dsp:txXfrm>
    </dsp:sp>
    <dsp:sp modelId="{48713530-359F-4B24-AD8E-90F5CA1E5B8A}">
      <dsp:nvSpPr>
        <dsp:cNvPr id="0" name=""/>
        <dsp:cNvSpPr/>
      </dsp:nvSpPr>
      <dsp:spPr>
        <a:xfrm>
          <a:off x="4144771" y="1167513"/>
          <a:ext cx="1478571" cy="887143"/>
        </a:xfrm>
        <a:prstGeom prst="roundRect">
          <a:avLst>
            <a:gd name="adj" fmla="val 1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Physics and Simulation</a:t>
          </a:r>
        </a:p>
      </dsp:txBody>
      <dsp:txXfrm>
        <a:off x="4170755" y="1193497"/>
        <a:ext cx="1426603" cy="835175"/>
      </dsp:txXfrm>
    </dsp:sp>
    <dsp:sp modelId="{00191EE8-DED7-4FD3-90EA-E6EDEBC6E0E2}">
      <dsp:nvSpPr>
        <dsp:cNvPr id="0" name=""/>
        <dsp:cNvSpPr/>
      </dsp:nvSpPr>
      <dsp:spPr>
        <a:xfrm>
          <a:off x="5771200" y="1427742"/>
          <a:ext cx="313457" cy="3666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5771200" y="1501079"/>
        <a:ext cx="219420" cy="220011"/>
      </dsp:txXfrm>
    </dsp:sp>
    <dsp:sp modelId="{D6E9322D-7193-4E11-99DF-55341D827C99}">
      <dsp:nvSpPr>
        <dsp:cNvPr id="0" name=""/>
        <dsp:cNvSpPr/>
      </dsp:nvSpPr>
      <dsp:spPr>
        <a:xfrm>
          <a:off x="6214771" y="1167513"/>
          <a:ext cx="1478571" cy="887143"/>
        </a:xfrm>
        <a:prstGeom prst="roundRect">
          <a:avLst>
            <a:gd name="adj" fmla="val 10000"/>
          </a:avLst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3D Game Design</a:t>
          </a:r>
        </a:p>
      </dsp:txBody>
      <dsp:txXfrm>
        <a:off x="6240755" y="1193497"/>
        <a:ext cx="1426603" cy="835175"/>
      </dsp:txXfrm>
    </dsp:sp>
    <dsp:sp modelId="{20F28471-F34B-4756-9517-8F3AE9BAB6F8}">
      <dsp:nvSpPr>
        <dsp:cNvPr id="0" name=""/>
        <dsp:cNvSpPr/>
      </dsp:nvSpPr>
      <dsp:spPr>
        <a:xfrm>
          <a:off x="7841200" y="1427742"/>
          <a:ext cx="313457" cy="3666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7841200" y="1501079"/>
        <a:ext cx="219420" cy="220011"/>
      </dsp:txXfrm>
    </dsp:sp>
    <dsp:sp modelId="{B00F87D7-9E7F-4BAE-B409-6C0C48291B75}">
      <dsp:nvSpPr>
        <dsp:cNvPr id="0" name=""/>
        <dsp:cNvSpPr/>
      </dsp:nvSpPr>
      <dsp:spPr>
        <a:xfrm>
          <a:off x="8284772" y="1167513"/>
          <a:ext cx="1478571" cy="887143"/>
        </a:xfrm>
        <a:prstGeom prst="roundRect">
          <a:avLst>
            <a:gd name="adj" fmla="val 1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Team Project</a:t>
          </a:r>
        </a:p>
      </dsp:txBody>
      <dsp:txXfrm>
        <a:off x="8310756" y="1193497"/>
        <a:ext cx="1426603" cy="8351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81D33-D3DC-4EEE-9841-2A93D98735D4}" type="datetimeFigureOut">
              <a:rPr lang="en-US" smtClean="0"/>
              <a:t>3/1/2023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29C27-AAA8-470D-92FE-57BE00B20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18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29C27-AAA8-470D-92FE-57BE00B20D4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364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BFD92-5C28-4DC6-81DB-5A68BA7EBC93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23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C1D00-8098-4A9B-B4A5-9A66C7D1317A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595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944B9-B08F-4DA1-ACDE-CD01C9904901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855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43B77-6302-4483-AF5B-A33F83BA44B0}" type="datetime1">
              <a:rPr lang="en-US" smtClean="0"/>
              <a:t>3/1/2023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22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936C3-F8E0-4FE0-91E2-288A042D5907}" type="datetime1">
              <a:rPr lang="en-US" smtClean="0"/>
              <a:t>3/1/2023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070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50540-7B40-4BB4-846E-2968CB26C7FB}" type="datetime1">
              <a:rPr lang="en-US" smtClean="0"/>
              <a:t>3/1/2023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89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44FA3-D183-4229-9125-D4C2C3F2F29C}" type="datetime1">
              <a:rPr lang="en-US" smtClean="0"/>
              <a:t>3/1/2023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825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36C1-38B2-4531-A2ED-289F8D719C97}" type="datetime1">
              <a:rPr lang="en-US" smtClean="0"/>
              <a:t>3/1/2023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74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30A5-A361-4861-A529-30991D4B67EB}" type="datetime1">
              <a:rPr lang="en-US" smtClean="0"/>
              <a:t>3/1/2023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89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D95A6-FBBB-457F-BC2F-84487D193BC5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91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A1209-11D7-4112-B3B0-B5FF3960E31D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215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A5CB5-5376-4B05-B033-DAE5282DD0BC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8873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1">
            <a:extLst>
              <a:ext uri="{FF2B5EF4-FFF2-40B4-BE49-F238E27FC236}">
                <a16:creationId xmlns:a16="http://schemas.microsoft.com/office/drawing/2014/main" id="{343ADA3E-BE07-4F26-9361-F12F5F5F316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3">
            <a:extLst>
              <a:ext uri="{FF2B5EF4-FFF2-40B4-BE49-F238E27FC236}">
                <a16:creationId xmlns:a16="http://schemas.microsoft.com/office/drawing/2014/main" id="{4EAB7026-E0C0-4521-B56A-B6CC4A6325A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925" y="-479"/>
            <a:ext cx="9468701" cy="6858478"/>
          </a:xfrm>
          <a:custGeom>
            <a:avLst/>
            <a:gdLst>
              <a:gd name="connsiteX0" fmla="*/ 0 w 8078051"/>
              <a:gd name="connsiteY0" fmla="*/ 0 h 5829300"/>
              <a:gd name="connsiteX1" fmla="*/ 4453793 w 8078051"/>
              <a:gd name="connsiteY1" fmla="*/ 0 h 5829300"/>
              <a:gd name="connsiteX2" fmla="*/ 5363426 w 8078051"/>
              <a:gd name="connsiteY2" fmla="*/ 0 h 5829300"/>
              <a:gd name="connsiteX3" fmla="*/ 5368184 w 8078051"/>
              <a:gd name="connsiteY3" fmla="*/ 0 h 5829300"/>
              <a:gd name="connsiteX4" fmla="*/ 8078051 w 8078051"/>
              <a:gd name="connsiteY4" fmla="*/ 5829300 h 5829300"/>
              <a:gd name="connsiteX5" fmla="*/ 1743926 w 8078051"/>
              <a:gd name="connsiteY5" fmla="*/ 5829300 h 5829300"/>
              <a:gd name="connsiteX6" fmla="*/ 1744148 w 8078051"/>
              <a:gd name="connsiteY6" fmla="*/ 5828822 h 5829300"/>
              <a:gd name="connsiteX7" fmla="*/ 0 w 8078051"/>
              <a:gd name="connsiteY7" fmla="*/ 5828822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78051" h="5829300">
                <a:moveTo>
                  <a:pt x="0" y="0"/>
                </a:moveTo>
                <a:lnTo>
                  <a:pt x="4453793" y="0"/>
                </a:lnTo>
                <a:lnTo>
                  <a:pt x="5363426" y="0"/>
                </a:lnTo>
                <a:lnTo>
                  <a:pt x="5368184" y="0"/>
                </a:lnTo>
                <a:lnTo>
                  <a:pt x="8078051" y="5829300"/>
                </a:lnTo>
                <a:lnTo>
                  <a:pt x="1743926" y="5829300"/>
                </a:lnTo>
                <a:lnTo>
                  <a:pt x="1744148" y="5828822"/>
                </a:lnTo>
                <a:lnTo>
                  <a:pt x="0" y="5828822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16">
            <a:extLst>
              <a:ext uri="{FF2B5EF4-FFF2-40B4-BE49-F238E27FC236}">
                <a16:creationId xmlns:a16="http://schemas.microsoft.com/office/drawing/2014/main" id="{10F3B50B-55C6-4818-B05E-24E5EED1905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79"/>
            <a:ext cx="9324977" cy="6858479"/>
          </a:xfrm>
          <a:custGeom>
            <a:avLst/>
            <a:gdLst>
              <a:gd name="connsiteX0" fmla="*/ 1246925 w 9324977"/>
              <a:gd name="connsiteY0" fmla="*/ 0 h 6858479"/>
              <a:gd name="connsiteX1" fmla="*/ 5076797 w 9324977"/>
              <a:gd name="connsiteY1" fmla="*/ 0 h 6858479"/>
              <a:gd name="connsiteX2" fmla="*/ 6143025 w 9324977"/>
              <a:gd name="connsiteY2" fmla="*/ 0 h 6858479"/>
              <a:gd name="connsiteX3" fmla="*/ 6148602 w 9324977"/>
              <a:gd name="connsiteY3" fmla="*/ 0 h 6858479"/>
              <a:gd name="connsiteX4" fmla="*/ 9324977 w 9324977"/>
              <a:gd name="connsiteY4" fmla="*/ 6858478 h 6858479"/>
              <a:gd name="connsiteX5" fmla="*/ 3359025 w 9324977"/>
              <a:gd name="connsiteY5" fmla="*/ 6858478 h 6858479"/>
              <a:gd name="connsiteX6" fmla="*/ 3359025 w 9324977"/>
              <a:gd name="connsiteY6" fmla="*/ 6858479 h 6858479"/>
              <a:gd name="connsiteX7" fmla="*/ 0 w 9324977"/>
              <a:gd name="connsiteY7" fmla="*/ 6858479 h 6858479"/>
              <a:gd name="connsiteX8" fmla="*/ 0 w 9324977"/>
              <a:gd name="connsiteY8" fmla="*/ 479 h 6858479"/>
              <a:gd name="connsiteX9" fmla="*/ 1246925 w 9324977"/>
              <a:gd name="connsiteY9" fmla="*/ 479 h 6858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24977" h="6858479">
                <a:moveTo>
                  <a:pt x="1246925" y="0"/>
                </a:moveTo>
                <a:lnTo>
                  <a:pt x="5076797" y="0"/>
                </a:lnTo>
                <a:lnTo>
                  <a:pt x="6143025" y="0"/>
                </a:lnTo>
                <a:lnTo>
                  <a:pt x="6148602" y="0"/>
                </a:lnTo>
                <a:lnTo>
                  <a:pt x="9324977" y="6858478"/>
                </a:lnTo>
                <a:lnTo>
                  <a:pt x="3359025" y="6858478"/>
                </a:lnTo>
                <a:lnTo>
                  <a:pt x="3359025" y="6858479"/>
                </a:lnTo>
                <a:lnTo>
                  <a:pt x="0" y="6858479"/>
                </a:lnTo>
                <a:lnTo>
                  <a:pt x="0" y="479"/>
                </a:lnTo>
                <a:lnTo>
                  <a:pt x="1246925" y="479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D09DB5-5978-4E0A-9D84-6428949B9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1" y="2600324"/>
            <a:ext cx="6405753" cy="3277961"/>
          </a:xfrm>
        </p:spPr>
        <p:txBody>
          <a:bodyPr anchor="t">
            <a:normAutofit/>
          </a:bodyPr>
          <a:lstStyle/>
          <a:p>
            <a:pPr algn="l"/>
            <a:r>
              <a:rPr lang="en-US" sz="5400" dirty="0"/>
              <a:t>CS 134 Computer Game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C6AE9A-2BEB-4C56-B297-BC12579D1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1300450"/>
            <a:ext cx="4167376" cy="1155525"/>
          </a:xfrm>
        </p:spPr>
        <p:txBody>
          <a:bodyPr anchor="b">
            <a:normAutofit/>
          </a:bodyPr>
          <a:lstStyle/>
          <a:p>
            <a:pPr algn="l"/>
            <a:r>
              <a:rPr lang="en-US" sz="2000"/>
              <a:t>Instructor: Kevin M. Smith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832073-FAC5-49BC-895C-B564209CD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4672" y="6356350"/>
            <a:ext cx="4114800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chemeClr val="tx1">
                    <a:lumMod val="85000"/>
                  </a:schemeClr>
                </a:solidFill>
              </a:rPr>
              <a:t>copyright © 2017 Kevin M. Smith, content Adapted from Jared Finder’s Slides from CS134 section 1</a:t>
            </a:r>
          </a:p>
        </p:txBody>
      </p:sp>
    </p:spTree>
    <p:extLst>
      <p:ext uri="{BB962C8B-B14F-4D97-AF65-F5344CB8AC3E}">
        <p14:creationId xmlns:p14="http://schemas.microsoft.com/office/powerpoint/2010/main" val="1731030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3565030" y="572590"/>
            <a:ext cx="47989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CS 134 Course Outline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287CBAA9-3AE7-4EB5-B258-099D2A155F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3706721"/>
              </p:ext>
            </p:extLst>
          </p:nvPr>
        </p:nvGraphicFramePr>
        <p:xfrm>
          <a:off x="1374710" y="1946988"/>
          <a:ext cx="9768114" cy="3222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3BBFEFC1-FA58-438E-9082-B0FAB6FDEA50}"/>
              </a:ext>
            </a:extLst>
          </p:cNvPr>
          <p:cNvSpPr/>
          <p:nvPr/>
        </p:nvSpPr>
        <p:spPr>
          <a:xfrm>
            <a:off x="2962418" y="2763496"/>
            <a:ext cx="1405450" cy="1589154"/>
          </a:xfrm>
          <a:prstGeom prst="rect">
            <a:avLst/>
          </a:prstGeom>
          <a:solidFill>
            <a:schemeClr val="accent1">
              <a:alpha val="16000"/>
            </a:schemeClr>
          </a:solidFill>
          <a:effectLst>
            <a:outerShdw blurRad="50800" dist="50800" dir="5400000" sx="37000" sy="37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C1CB47-B354-4FB8-816A-A7C46FA75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1671551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405364" y="706740"/>
            <a:ext cx="15249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Review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658250" y="1454391"/>
            <a:ext cx="8635041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Emitters are a mechanism that allows us to control the creation of sprites over time with initial velocity, lifespan and rate.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 Emitters have a position that can be animated over time to control where sprites are “launched” from.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 Idea comes from Particle Systems (covered in Physics next week)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dirty="0">
                <a:solidFill>
                  <a:srgbClr val="FF0000"/>
                </a:solidFill>
              </a:rPr>
              <a:t>entire</a:t>
            </a:r>
            <a:r>
              <a:rPr lang="en-US" sz="2400" dirty="0"/>
              <a:t> Arcade game assignment can be done with a few emitters.  (I’m oversimplifying a bit, but it’s true).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else do we need to complete project 1 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Simple Collision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(and Sound + Text)</a:t>
            </a:r>
          </a:p>
          <a:p>
            <a:pPr lvl="1"/>
            <a:endParaRPr lang="en-US" sz="2400" dirty="0"/>
          </a:p>
          <a:p>
            <a:pPr lvl="1"/>
            <a:br>
              <a:rPr lang="en-US" dirty="0"/>
            </a:b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125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405364" y="706740"/>
            <a:ext cx="84703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Simple Collision – Non Physics Type Collision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658250" y="1454391"/>
            <a:ext cx="8635041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have sprite objects that are moving with a relatively constant velocity with simple targets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 simple arcade games (such as ours), the objects are usually simple sprites or SVG objects.  The actual contact point where a collision will occur is not that critical.  We will see in a physics engine in 3D how it is important (later)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 For our game, collision detection involves sprite collision detection. The gun fires a missile sprite at a target that can be moving or stationary.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Velocity is relatively constant – we are not using a physics based model where there is acceleration.</a:t>
            </a:r>
          </a:p>
          <a:p>
            <a:pPr lvl="1"/>
            <a:endParaRPr lang="en-US" sz="2400" dirty="0"/>
          </a:p>
          <a:p>
            <a:pPr lvl="1"/>
            <a:br>
              <a:rPr lang="en-US" dirty="0"/>
            </a:b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757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405364" y="706740"/>
            <a:ext cx="63813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Simple Collision – What we know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658250" y="1454391"/>
            <a:ext cx="8635041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There are several things we need to know: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What is the velocity of the object (sprite)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How much distance can it travel in a given frame (assuming velocity is constant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Are frame-based intervals (1/60 sec) enough to determine if an object will collide ?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Depends on: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/>
              <a:t>Relative velocity of objects  (v1 –v2)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/>
              <a:t>Size of objects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An object moving faster will cover a larger distance per frame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[Whiteboard discussion]</a:t>
            </a:r>
          </a:p>
          <a:p>
            <a:pPr lvl="1"/>
            <a:endParaRPr lang="en-US" sz="2400" dirty="0"/>
          </a:p>
          <a:p>
            <a:pPr lvl="1"/>
            <a:br>
              <a:rPr lang="en-US" dirty="0"/>
            </a:b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936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405364" y="706740"/>
            <a:ext cx="107580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Simple Collision – Non Physics Type Collision (constant Velocity)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535213" y="1676042"/>
            <a:ext cx="8635041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Methods for determining when two objects collide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400" dirty="0"/>
              <a:t>Distance Threshold – when an object is less than a distance (“epsilon”) from another object (as in demo).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400" dirty="0"/>
              <a:t>When two objects overlap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n-US" sz="2400" dirty="0"/>
              <a:t>Check for overlapping bounding boxes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n-US" sz="2400" dirty="0"/>
              <a:t>If objects are transformed, we need to use inverse transform to do “world space to object space” conversion.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n-US" sz="2400" dirty="0"/>
              <a:t>Predictive Path Tracing – try to predict where object is going to go in the future and see if paths intersect. (“collision course”).  (more on this topic later).</a:t>
            </a:r>
            <a:endParaRPr lang="en-US" sz="32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lvl="1"/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022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405364" y="706740"/>
            <a:ext cx="107580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Simple Collision – Non Physics Type Collision (constant Velocity)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535213" y="1676042"/>
            <a:ext cx="8635041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For simple proximity based collision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400" dirty="0"/>
              <a:t>Calculate distance between objects at each time step (frame rate)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400" dirty="0"/>
              <a:t>Calculation must take into account dimensions of object (sprite bounds is usually rectangular in shape)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400" dirty="0"/>
              <a:t> Limitations -	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n-US" sz="2400" dirty="0"/>
              <a:t>Relative Velocity too high may cause false “miss”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n-US" sz="2400" dirty="0"/>
              <a:t>Reason: distance traveled per frame is larger than contact distance.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lvl="1"/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252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331650" y="182429"/>
            <a:ext cx="1075807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Simple Collision – Non Physics Type Collision (constant Velocity)</a:t>
            </a:r>
          </a:p>
          <a:p>
            <a:r>
              <a:rPr lang="en-US" sz="3200" dirty="0"/>
              <a:t>Example: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9F06A6-52F3-491D-AB46-BFF89F99E814}"/>
              </a:ext>
            </a:extLst>
          </p:cNvPr>
          <p:cNvSpPr/>
          <p:nvPr/>
        </p:nvSpPr>
        <p:spPr>
          <a:xfrm>
            <a:off x="7749210" y="2919369"/>
            <a:ext cx="2516698" cy="22230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B16493-4B8D-46B7-9B49-FD0CA091BA10}"/>
              </a:ext>
            </a:extLst>
          </p:cNvPr>
          <p:cNvSpPr/>
          <p:nvPr/>
        </p:nvSpPr>
        <p:spPr>
          <a:xfrm>
            <a:off x="5484183" y="3271706"/>
            <a:ext cx="2516698" cy="152679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FE200F2-31DC-44BF-88ED-0757118C3644}"/>
              </a:ext>
            </a:extLst>
          </p:cNvPr>
          <p:cNvSpPr/>
          <p:nvPr/>
        </p:nvSpPr>
        <p:spPr>
          <a:xfrm>
            <a:off x="6742532" y="3967992"/>
            <a:ext cx="125835" cy="12583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1194CC9-9A1A-4AA5-B8B4-4E9B36684531}"/>
              </a:ext>
            </a:extLst>
          </p:cNvPr>
          <p:cNvSpPr/>
          <p:nvPr/>
        </p:nvSpPr>
        <p:spPr>
          <a:xfrm>
            <a:off x="8944641" y="3926048"/>
            <a:ext cx="125835" cy="12583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E0369E-9770-4219-8832-38D5B8853488}"/>
              </a:ext>
            </a:extLst>
          </p:cNvPr>
          <p:cNvCxnSpPr>
            <a:cxnSpLocks/>
          </p:cNvCxnSpPr>
          <p:nvPr/>
        </p:nvCxnSpPr>
        <p:spPr>
          <a:xfrm>
            <a:off x="6901922" y="4026714"/>
            <a:ext cx="204271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4DB3D02-B5C3-442A-9CEB-66898A38B826}"/>
              </a:ext>
            </a:extLst>
          </p:cNvPr>
          <p:cNvCxnSpPr>
            <a:cxnSpLocks/>
          </p:cNvCxnSpPr>
          <p:nvPr/>
        </p:nvCxnSpPr>
        <p:spPr>
          <a:xfrm>
            <a:off x="6711073" y="4947089"/>
            <a:ext cx="0" cy="547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C1247CD-AD3F-4173-8E6A-2EB434A8874F}"/>
              </a:ext>
            </a:extLst>
          </p:cNvPr>
          <p:cNvCxnSpPr>
            <a:cxnSpLocks/>
          </p:cNvCxnSpPr>
          <p:nvPr/>
        </p:nvCxnSpPr>
        <p:spPr>
          <a:xfrm>
            <a:off x="7950546" y="4947089"/>
            <a:ext cx="0" cy="547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00F977D-1060-45A0-B684-84A4953DB7E4}"/>
              </a:ext>
            </a:extLst>
          </p:cNvPr>
          <p:cNvCxnSpPr>
            <a:cxnSpLocks/>
          </p:cNvCxnSpPr>
          <p:nvPr/>
        </p:nvCxnSpPr>
        <p:spPr>
          <a:xfrm>
            <a:off x="7749210" y="2305955"/>
            <a:ext cx="0" cy="547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D885F37-DB27-4CEE-A36A-99244B75AEF2}"/>
              </a:ext>
            </a:extLst>
          </p:cNvPr>
          <p:cNvCxnSpPr>
            <a:cxnSpLocks/>
          </p:cNvCxnSpPr>
          <p:nvPr/>
        </p:nvCxnSpPr>
        <p:spPr>
          <a:xfrm>
            <a:off x="9007558" y="2305955"/>
            <a:ext cx="0" cy="547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0FDB765-CCEB-44C2-9D83-90CF1BBFD2C5}"/>
              </a:ext>
            </a:extLst>
          </p:cNvPr>
          <p:cNvSpPr txBox="1"/>
          <p:nvPr/>
        </p:nvSpPr>
        <p:spPr>
          <a:xfrm>
            <a:off x="7867583" y="2287074"/>
            <a:ext cx="120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S2.width/2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3E4D1E-B219-46D7-AD98-61FA76D6034D}"/>
              </a:ext>
            </a:extLst>
          </p:cNvPr>
          <p:cNvSpPr txBox="1"/>
          <p:nvPr/>
        </p:nvSpPr>
        <p:spPr>
          <a:xfrm>
            <a:off x="6818269" y="5184178"/>
            <a:ext cx="120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S1.width/2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8BAF9E-EF61-4CC4-A687-4998765698CC}"/>
              </a:ext>
            </a:extLst>
          </p:cNvPr>
          <p:cNvSpPr txBox="1"/>
          <p:nvPr/>
        </p:nvSpPr>
        <p:spPr>
          <a:xfrm>
            <a:off x="6385141" y="3926048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6AE40EE-D936-4F71-9FD7-87B362DADD22}"/>
              </a:ext>
            </a:extLst>
          </p:cNvPr>
          <p:cNvSpPr txBox="1"/>
          <p:nvPr/>
        </p:nvSpPr>
        <p:spPr>
          <a:xfrm>
            <a:off x="9037730" y="3932931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5D152A-4EA4-4574-BE15-1F11204F184E}"/>
              </a:ext>
            </a:extLst>
          </p:cNvPr>
          <p:cNvSpPr txBox="1"/>
          <p:nvPr/>
        </p:nvSpPr>
        <p:spPr>
          <a:xfrm>
            <a:off x="5529894" y="3263315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75CD5D-0558-45F4-B86C-B53B81D24D2E}"/>
              </a:ext>
            </a:extLst>
          </p:cNvPr>
          <p:cNvSpPr txBox="1"/>
          <p:nvPr/>
        </p:nvSpPr>
        <p:spPr>
          <a:xfrm>
            <a:off x="9747183" y="2893983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8FA1B57-FDFF-41C0-ABBD-406F12169825}"/>
              </a:ext>
            </a:extLst>
          </p:cNvPr>
          <p:cNvSpPr txBox="1"/>
          <p:nvPr/>
        </p:nvSpPr>
        <p:spPr>
          <a:xfrm>
            <a:off x="7443011" y="3967991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distance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655725-D7E1-4559-B840-B6C22D500E7B}"/>
              </a:ext>
            </a:extLst>
          </p:cNvPr>
          <p:cNvSpPr txBox="1"/>
          <p:nvPr/>
        </p:nvSpPr>
        <p:spPr>
          <a:xfrm>
            <a:off x="0" y="1994065"/>
            <a:ext cx="550548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To check for collision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Distance = | P2 – P1 |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Contact Distance = s1.width/2 + s2.width/2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if (Distance &lt; Contact Distance) then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Objects intersect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Make sure at relative velocity, distance traveled in one frame (minus the object size) is less than 2 X contact distance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See example (next slide)</a:t>
            </a:r>
          </a:p>
        </p:txBody>
      </p:sp>
    </p:spTree>
    <p:extLst>
      <p:ext uri="{BB962C8B-B14F-4D97-AF65-F5344CB8AC3E}">
        <p14:creationId xmlns:p14="http://schemas.microsoft.com/office/powerpoint/2010/main" val="3890757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331650" y="182429"/>
            <a:ext cx="1075807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Simple Collision – Non Physics Type Collision (constant Velocity)</a:t>
            </a:r>
          </a:p>
          <a:p>
            <a:r>
              <a:rPr lang="en-US" sz="3200" dirty="0"/>
              <a:t>Example: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5B2DDCE-B549-4B96-80E3-C1EA3E2C7C44}"/>
              </a:ext>
            </a:extLst>
          </p:cNvPr>
          <p:cNvGrpSpPr/>
          <p:nvPr/>
        </p:nvGrpSpPr>
        <p:grpSpPr>
          <a:xfrm>
            <a:off x="3193988" y="2233915"/>
            <a:ext cx="2516698" cy="1526797"/>
            <a:chOff x="1836980" y="2772559"/>
            <a:chExt cx="2516698" cy="152679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9B16493-4B8D-46B7-9B49-FD0CA091BA10}"/>
                </a:ext>
              </a:extLst>
            </p:cNvPr>
            <p:cNvSpPr/>
            <p:nvPr/>
          </p:nvSpPr>
          <p:spPr>
            <a:xfrm>
              <a:off x="1836980" y="2772559"/>
              <a:ext cx="2516698" cy="1526797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FE200F2-31DC-44BF-88ED-0757118C3644}"/>
                </a:ext>
              </a:extLst>
            </p:cNvPr>
            <p:cNvSpPr/>
            <p:nvPr/>
          </p:nvSpPr>
          <p:spPr>
            <a:xfrm>
              <a:off x="3029950" y="3502402"/>
              <a:ext cx="125835" cy="12583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28BAF9E-EF61-4CC4-A687-4998765698CC}"/>
                </a:ext>
              </a:extLst>
            </p:cNvPr>
            <p:cNvSpPr txBox="1"/>
            <p:nvPr/>
          </p:nvSpPr>
          <p:spPr>
            <a:xfrm>
              <a:off x="2755544" y="3594464"/>
              <a:ext cx="4203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P1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65D152A-4EA4-4574-BE15-1F11204F184E}"/>
                </a:ext>
              </a:extLst>
            </p:cNvPr>
            <p:cNvSpPr txBox="1"/>
            <p:nvPr/>
          </p:nvSpPr>
          <p:spPr>
            <a:xfrm>
              <a:off x="2551802" y="2801921"/>
              <a:ext cx="407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S1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BBAB71A-5AB8-4901-9D18-54C5F62F34A1}"/>
              </a:ext>
            </a:extLst>
          </p:cNvPr>
          <p:cNvGrpSpPr/>
          <p:nvPr/>
        </p:nvGrpSpPr>
        <p:grpSpPr>
          <a:xfrm>
            <a:off x="5903052" y="1906878"/>
            <a:ext cx="2516698" cy="2248469"/>
            <a:chOff x="4771118" y="2432589"/>
            <a:chExt cx="2516698" cy="224846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89F06A6-52F3-491D-AB46-BFF89F99E814}"/>
                </a:ext>
              </a:extLst>
            </p:cNvPr>
            <p:cNvSpPr/>
            <p:nvPr/>
          </p:nvSpPr>
          <p:spPr>
            <a:xfrm>
              <a:off x="4771118" y="2457975"/>
              <a:ext cx="2516698" cy="22230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1194CC9-9A1A-4AA5-B8B4-4E9B36684531}"/>
                </a:ext>
              </a:extLst>
            </p:cNvPr>
            <p:cNvSpPr/>
            <p:nvPr/>
          </p:nvSpPr>
          <p:spPr>
            <a:xfrm>
              <a:off x="5966549" y="3464654"/>
              <a:ext cx="125835" cy="12583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6AE40EE-D936-4F71-9FD7-87B362DADD22}"/>
                </a:ext>
              </a:extLst>
            </p:cNvPr>
            <p:cNvSpPr txBox="1"/>
            <p:nvPr/>
          </p:nvSpPr>
          <p:spPr>
            <a:xfrm>
              <a:off x="6059638" y="3471537"/>
              <a:ext cx="4203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P2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B75CD5D-0558-45F4-B86C-B53B81D24D2E}"/>
                </a:ext>
              </a:extLst>
            </p:cNvPr>
            <p:cNvSpPr txBox="1"/>
            <p:nvPr/>
          </p:nvSpPr>
          <p:spPr>
            <a:xfrm>
              <a:off x="6769091" y="2432589"/>
              <a:ext cx="407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S2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E486E97-2D6C-4337-9006-14D54ADDD118}"/>
              </a:ext>
            </a:extLst>
          </p:cNvPr>
          <p:cNvSpPr txBox="1"/>
          <p:nvPr/>
        </p:nvSpPr>
        <p:spPr>
          <a:xfrm>
            <a:off x="2724288" y="4647411"/>
            <a:ext cx="66365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Suppose </a:t>
            </a:r>
            <a:r>
              <a:rPr lang="en-US" dirty="0" err="1"/>
              <a:t>contactDistance</a:t>
            </a:r>
            <a:r>
              <a:rPr lang="en-US" dirty="0"/>
              <a:t> = 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 frame N, the actual distance, D = 12, so NO COLLISION detected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Object is traveling at 24 units per frame.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happens at FRAME N+1 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F423EE-6A2D-42DF-A8DC-8640F0827144}"/>
              </a:ext>
            </a:extLst>
          </p:cNvPr>
          <p:cNvSpPr txBox="1"/>
          <p:nvPr/>
        </p:nvSpPr>
        <p:spPr>
          <a:xfrm>
            <a:off x="1778464" y="1438431"/>
            <a:ext cx="2281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  FRAME  N   (time t)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2CE4A4F-F70B-41FE-B85E-409C97CA43A3}"/>
              </a:ext>
            </a:extLst>
          </p:cNvPr>
          <p:cNvCxnSpPr>
            <a:cxnSpLocks/>
          </p:cNvCxnSpPr>
          <p:nvPr/>
        </p:nvCxnSpPr>
        <p:spPr>
          <a:xfrm flipV="1">
            <a:off x="4659158" y="2968304"/>
            <a:ext cx="2342489" cy="2900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2BA3017-9E5C-4075-A05E-5F66F8C78398}"/>
              </a:ext>
            </a:extLst>
          </p:cNvPr>
          <p:cNvSpPr txBox="1"/>
          <p:nvPr/>
        </p:nvSpPr>
        <p:spPr>
          <a:xfrm>
            <a:off x="5373432" y="2655652"/>
            <a:ext cx="782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 = 12</a:t>
            </a:r>
          </a:p>
        </p:txBody>
      </p:sp>
    </p:spTree>
    <p:extLst>
      <p:ext uri="{BB962C8B-B14F-4D97-AF65-F5344CB8AC3E}">
        <p14:creationId xmlns:p14="http://schemas.microsoft.com/office/powerpoint/2010/main" val="146498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331650" y="182429"/>
            <a:ext cx="1075807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Simple Collision – Non Physics Type Collision (constant Velocity)</a:t>
            </a:r>
          </a:p>
          <a:p>
            <a:r>
              <a:rPr lang="en-US" sz="3200" dirty="0"/>
              <a:t>Example: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5B2DDCE-B549-4B96-80E3-C1EA3E2C7C44}"/>
              </a:ext>
            </a:extLst>
          </p:cNvPr>
          <p:cNvGrpSpPr/>
          <p:nvPr/>
        </p:nvGrpSpPr>
        <p:grpSpPr>
          <a:xfrm>
            <a:off x="6726383" y="2464188"/>
            <a:ext cx="2516698" cy="1526797"/>
            <a:chOff x="1836980" y="2772559"/>
            <a:chExt cx="2516698" cy="152679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9B16493-4B8D-46B7-9B49-FD0CA091BA10}"/>
                </a:ext>
              </a:extLst>
            </p:cNvPr>
            <p:cNvSpPr/>
            <p:nvPr/>
          </p:nvSpPr>
          <p:spPr>
            <a:xfrm>
              <a:off x="1836980" y="2772559"/>
              <a:ext cx="2516698" cy="1526797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FE200F2-31DC-44BF-88ED-0757118C3644}"/>
                </a:ext>
              </a:extLst>
            </p:cNvPr>
            <p:cNvSpPr/>
            <p:nvPr/>
          </p:nvSpPr>
          <p:spPr>
            <a:xfrm>
              <a:off x="3029950" y="3502402"/>
              <a:ext cx="125835" cy="12583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28BAF9E-EF61-4CC4-A687-4998765698CC}"/>
                </a:ext>
              </a:extLst>
            </p:cNvPr>
            <p:cNvSpPr txBox="1"/>
            <p:nvPr/>
          </p:nvSpPr>
          <p:spPr>
            <a:xfrm>
              <a:off x="2755544" y="3594464"/>
              <a:ext cx="4203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P1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65D152A-4EA4-4574-BE15-1F11204F184E}"/>
                </a:ext>
              </a:extLst>
            </p:cNvPr>
            <p:cNvSpPr txBox="1"/>
            <p:nvPr/>
          </p:nvSpPr>
          <p:spPr>
            <a:xfrm>
              <a:off x="2551802" y="2801921"/>
              <a:ext cx="407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S1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BBAB71A-5AB8-4901-9D18-54C5F62F34A1}"/>
              </a:ext>
            </a:extLst>
          </p:cNvPr>
          <p:cNvGrpSpPr/>
          <p:nvPr/>
        </p:nvGrpSpPr>
        <p:grpSpPr>
          <a:xfrm>
            <a:off x="3997036" y="2132605"/>
            <a:ext cx="2516698" cy="2248469"/>
            <a:chOff x="4771118" y="2432589"/>
            <a:chExt cx="2516698" cy="224846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89F06A6-52F3-491D-AB46-BFF89F99E814}"/>
                </a:ext>
              </a:extLst>
            </p:cNvPr>
            <p:cNvSpPr/>
            <p:nvPr/>
          </p:nvSpPr>
          <p:spPr>
            <a:xfrm>
              <a:off x="4771118" y="2457975"/>
              <a:ext cx="2516698" cy="22230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1194CC9-9A1A-4AA5-B8B4-4E9B36684531}"/>
                </a:ext>
              </a:extLst>
            </p:cNvPr>
            <p:cNvSpPr/>
            <p:nvPr/>
          </p:nvSpPr>
          <p:spPr>
            <a:xfrm>
              <a:off x="5966549" y="3464654"/>
              <a:ext cx="125835" cy="12583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6AE40EE-D936-4F71-9FD7-87B362DADD22}"/>
                </a:ext>
              </a:extLst>
            </p:cNvPr>
            <p:cNvSpPr txBox="1"/>
            <p:nvPr/>
          </p:nvSpPr>
          <p:spPr>
            <a:xfrm>
              <a:off x="6059638" y="3471537"/>
              <a:ext cx="4203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P2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B75CD5D-0558-45F4-B86C-B53B81D24D2E}"/>
                </a:ext>
              </a:extLst>
            </p:cNvPr>
            <p:cNvSpPr txBox="1"/>
            <p:nvPr/>
          </p:nvSpPr>
          <p:spPr>
            <a:xfrm>
              <a:off x="6769091" y="2432589"/>
              <a:ext cx="407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S2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E486E97-2D6C-4337-9006-14D54ADDD118}"/>
              </a:ext>
            </a:extLst>
          </p:cNvPr>
          <p:cNvSpPr txBox="1"/>
          <p:nvPr/>
        </p:nvSpPr>
        <p:spPr>
          <a:xfrm>
            <a:off x="2724288" y="4647411"/>
            <a:ext cx="60658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 next frame, FRAME N + 1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Distance &gt; contact distance (10), so NO COLLISION detected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Object S1 has “Passed through” S2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F423EE-6A2D-42DF-A8DC-8640F0827144}"/>
              </a:ext>
            </a:extLst>
          </p:cNvPr>
          <p:cNvSpPr txBox="1"/>
          <p:nvPr/>
        </p:nvSpPr>
        <p:spPr>
          <a:xfrm>
            <a:off x="1778464" y="1438431"/>
            <a:ext cx="3638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  FRAME  N + 1   (time t + 1/60 sec)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2CE4A4F-F70B-41FE-B85E-409C97CA43A3}"/>
              </a:ext>
            </a:extLst>
          </p:cNvPr>
          <p:cNvCxnSpPr>
            <a:cxnSpLocks/>
          </p:cNvCxnSpPr>
          <p:nvPr/>
        </p:nvCxnSpPr>
        <p:spPr>
          <a:xfrm flipV="1">
            <a:off x="5456967" y="3233009"/>
            <a:ext cx="2391722" cy="351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2BA3017-9E5C-4075-A05E-5F66F8C78398}"/>
              </a:ext>
            </a:extLst>
          </p:cNvPr>
          <p:cNvSpPr txBox="1"/>
          <p:nvPr/>
        </p:nvSpPr>
        <p:spPr>
          <a:xfrm>
            <a:off x="5923729" y="2887616"/>
            <a:ext cx="782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 = 12</a:t>
            </a:r>
          </a:p>
        </p:txBody>
      </p:sp>
    </p:spTree>
    <p:extLst>
      <p:ext uri="{BB962C8B-B14F-4D97-AF65-F5344CB8AC3E}">
        <p14:creationId xmlns:p14="http://schemas.microsoft.com/office/powerpoint/2010/main" val="2704351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331650" y="182429"/>
            <a:ext cx="1075807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Simple Collision – Non Physics Type Collision (constant Velocity)</a:t>
            </a:r>
          </a:p>
          <a:p>
            <a:r>
              <a:rPr lang="en-US" sz="3200" dirty="0"/>
              <a:t>Example: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5B2DDCE-B549-4B96-80E3-C1EA3E2C7C44}"/>
              </a:ext>
            </a:extLst>
          </p:cNvPr>
          <p:cNvGrpSpPr/>
          <p:nvPr/>
        </p:nvGrpSpPr>
        <p:grpSpPr>
          <a:xfrm>
            <a:off x="3291979" y="2238461"/>
            <a:ext cx="2516698" cy="1526797"/>
            <a:chOff x="1836980" y="2772559"/>
            <a:chExt cx="2516698" cy="152679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9B16493-4B8D-46B7-9B49-FD0CA091BA10}"/>
                </a:ext>
              </a:extLst>
            </p:cNvPr>
            <p:cNvSpPr/>
            <p:nvPr/>
          </p:nvSpPr>
          <p:spPr>
            <a:xfrm>
              <a:off x="1836980" y="2772559"/>
              <a:ext cx="2516698" cy="1526797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FE200F2-31DC-44BF-88ED-0757118C3644}"/>
                </a:ext>
              </a:extLst>
            </p:cNvPr>
            <p:cNvSpPr/>
            <p:nvPr/>
          </p:nvSpPr>
          <p:spPr>
            <a:xfrm>
              <a:off x="3029950" y="3502402"/>
              <a:ext cx="125835" cy="12583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28BAF9E-EF61-4CC4-A687-4998765698CC}"/>
                </a:ext>
              </a:extLst>
            </p:cNvPr>
            <p:cNvSpPr txBox="1"/>
            <p:nvPr/>
          </p:nvSpPr>
          <p:spPr>
            <a:xfrm>
              <a:off x="2755544" y="3594464"/>
              <a:ext cx="4203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P1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65D152A-4EA4-4574-BE15-1F11204F184E}"/>
                </a:ext>
              </a:extLst>
            </p:cNvPr>
            <p:cNvSpPr txBox="1"/>
            <p:nvPr/>
          </p:nvSpPr>
          <p:spPr>
            <a:xfrm>
              <a:off x="2551802" y="2801921"/>
              <a:ext cx="407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S1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BBAB71A-5AB8-4901-9D18-54C5F62F34A1}"/>
              </a:ext>
            </a:extLst>
          </p:cNvPr>
          <p:cNvGrpSpPr/>
          <p:nvPr/>
        </p:nvGrpSpPr>
        <p:grpSpPr>
          <a:xfrm>
            <a:off x="5903052" y="1906878"/>
            <a:ext cx="2516698" cy="2248469"/>
            <a:chOff x="4771118" y="2432589"/>
            <a:chExt cx="2516698" cy="224846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89F06A6-52F3-491D-AB46-BFF89F99E814}"/>
                </a:ext>
              </a:extLst>
            </p:cNvPr>
            <p:cNvSpPr/>
            <p:nvPr/>
          </p:nvSpPr>
          <p:spPr>
            <a:xfrm>
              <a:off x="4771118" y="2457975"/>
              <a:ext cx="2516698" cy="22230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1194CC9-9A1A-4AA5-B8B4-4E9B36684531}"/>
                </a:ext>
              </a:extLst>
            </p:cNvPr>
            <p:cNvSpPr/>
            <p:nvPr/>
          </p:nvSpPr>
          <p:spPr>
            <a:xfrm>
              <a:off x="5966549" y="3464654"/>
              <a:ext cx="125835" cy="12583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6AE40EE-D936-4F71-9FD7-87B362DADD22}"/>
                </a:ext>
              </a:extLst>
            </p:cNvPr>
            <p:cNvSpPr txBox="1"/>
            <p:nvPr/>
          </p:nvSpPr>
          <p:spPr>
            <a:xfrm>
              <a:off x="6059638" y="3471537"/>
              <a:ext cx="4203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P2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B75CD5D-0558-45F4-B86C-B53B81D24D2E}"/>
                </a:ext>
              </a:extLst>
            </p:cNvPr>
            <p:cNvSpPr txBox="1"/>
            <p:nvPr/>
          </p:nvSpPr>
          <p:spPr>
            <a:xfrm>
              <a:off x="6769091" y="2432589"/>
              <a:ext cx="407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S2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E486E97-2D6C-4337-9006-14D54ADDD118}"/>
              </a:ext>
            </a:extLst>
          </p:cNvPr>
          <p:cNvSpPr txBox="1"/>
          <p:nvPr/>
        </p:nvSpPr>
        <p:spPr>
          <a:xfrm>
            <a:off x="2724288" y="4647411"/>
            <a:ext cx="66365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Suppose </a:t>
            </a:r>
            <a:r>
              <a:rPr lang="en-US" dirty="0" err="1"/>
              <a:t>contactDistance</a:t>
            </a:r>
            <a:r>
              <a:rPr lang="en-US" dirty="0"/>
              <a:t> = 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 frame N, the actual distance, D = 12, so NO COLLISION detected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Object is traveling at 20 units per frame.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happens at FRAME N+1 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F423EE-6A2D-42DF-A8DC-8640F0827144}"/>
              </a:ext>
            </a:extLst>
          </p:cNvPr>
          <p:cNvSpPr txBox="1"/>
          <p:nvPr/>
        </p:nvSpPr>
        <p:spPr>
          <a:xfrm>
            <a:off x="1778464" y="1438431"/>
            <a:ext cx="2281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  FRAME  N   (time t)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2CE4A4F-F70B-41FE-B85E-409C97CA43A3}"/>
              </a:ext>
            </a:extLst>
          </p:cNvPr>
          <p:cNvCxnSpPr>
            <a:cxnSpLocks/>
          </p:cNvCxnSpPr>
          <p:nvPr/>
        </p:nvCxnSpPr>
        <p:spPr>
          <a:xfrm flipV="1">
            <a:off x="4706224" y="2968304"/>
            <a:ext cx="2295423" cy="290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2BA3017-9E5C-4075-A05E-5F66F8C78398}"/>
              </a:ext>
            </a:extLst>
          </p:cNvPr>
          <p:cNvSpPr txBox="1"/>
          <p:nvPr/>
        </p:nvSpPr>
        <p:spPr>
          <a:xfrm>
            <a:off x="5373432" y="2655652"/>
            <a:ext cx="782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 = 12</a:t>
            </a:r>
          </a:p>
        </p:txBody>
      </p:sp>
    </p:spTree>
    <p:extLst>
      <p:ext uri="{BB962C8B-B14F-4D97-AF65-F5344CB8AC3E}">
        <p14:creationId xmlns:p14="http://schemas.microsoft.com/office/powerpoint/2010/main" val="2500637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331650" y="182429"/>
            <a:ext cx="1075807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Simple Collision – Non Physics Type Collision (constant Velocity)</a:t>
            </a:r>
          </a:p>
          <a:p>
            <a:r>
              <a:rPr lang="en-US" sz="3200" dirty="0"/>
              <a:t>Example: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BBAB71A-5AB8-4901-9D18-54C5F62F34A1}"/>
              </a:ext>
            </a:extLst>
          </p:cNvPr>
          <p:cNvGrpSpPr/>
          <p:nvPr/>
        </p:nvGrpSpPr>
        <p:grpSpPr>
          <a:xfrm>
            <a:off x="4666320" y="2103352"/>
            <a:ext cx="2516698" cy="2248469"/>
            <a:chOff x="4771118" y="2432589"/>
            <a:chExt cx="2516698" cy="224846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89F06A6-52F3-491D-AB46-BFF89F99E814}"/>
                </a:ext>
              </a:extLst>
            </p:cNvPr>
            <p:cNvSpPr/>
            <p:nvPr/>
          </p:nvSpPr>
          <p:spPr>
            <a:xfrm>
              <a:off x="4771118" y="2457975"/>
              <a:ext cx="2516698" cy="22230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1194CC9-9A1A-4AA5-B8B4-4E9B36684531}"/>
                </a:ext>
              </a:extLst>
            </p:cNvPr>
            <p:cNvSpPr/>
            <p:nvPr/>
          </p:nvSpPr>
          <p:spPr>
            <a:xfrm>
              <a:off x="5966549" y="3464654"/>
              <a:ext cx="125835" cy="12583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6AE40EE-D936-4F71-9FD7-87B362DADD22}"/>
                </a:ext>
              </a:extLst>
            </p:cNvPr>
            <p:cNvSpPr txBox="1"/>
            <p:nvPr/>
          </p:nvSpPr>
          <p:spPr>
            <a:xfrm>
              <a:off x="6059638" y="3471537"/>
              <a:ext cx="4203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P2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B75CD5D-0558-45F4-B86C-B53B81D24D2E}"/>
                </a:ext>
              </a:extLst>
            </p:cNvPr>
            <p:cNvSpPr txBox="1"/>
            <p:nvPr/>
          </p:nvSpPr>
          <p:spPr>
            <a:xfrm>
              <a:off x="6769091" y="2432589"/>
              <a:ext cx="407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S2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E486E97-2D6C-4337-9006-14D54ADDD118}"/>
              </a:ext>
            </a:extLst>
          </p:cNvPr>
          <p:cNvSpPr txBox="1"/>
          <p:nvPr/>
        </p:nvSpPr>
        <p:spPr>
          <a:xfrm>
            <a:off x="2724288" y="4647411"/>
            <a:ext cx="74605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 next frame, FRAME N + 1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Distance is now 8 &lt;  contact distance (10), so COLLISION –IS- detected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We’ve detected collision because relative velocity is slow enough to detect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F423EE-6A2D-42DF-A8DC-8640F0827144}"/>
              </a:ext>
            </a:extLst>
          </p:cNvPr>
          <p:cNvSpPr txBox="1"/>
          <p:nvPr/>
        </p:nvSpPr>
        <p:spPr>
          <a:xfrm>
            <a:off x="1778464" y="1438431"/>
            <a:ext cx="3638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  FRAME  N + 1   (time t + 1/60 sec)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BA3017-9E5C-4075-A05E-5F66F8C78398}"/>
              </a:ext>
            </a:extLst>
          </p:cNvPr>
          <p:cNvSpPr txBox="1"/>
          <p:nvPr/>
        </p:nvSpPr>
        <p:spPr>
          <a:xfrm>
            <a:off x="5373432" y="2655652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 = 8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5B2DDCE-B549-4B96-80E3-C1EA3E2C7C44}"/>
              </a:ext>
            </a:extLst>
          </p:cNvPr>
          <p:cNvGrpSpPr/>
          <p:nvPr/>
        </p:nvGrpSpPr>
        <p:grpSpPr>
          <a:xfrm>
            <a:off x="7019187" y="2415440"/>
            <a:ext cx="2516698" cy="1526797"/>
            <a:chOff x="1836980" y="2772559"/>
            <a:chExt cx="2516698" cy="152679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9B16493-4B8D-46B7-9B49-FD0CA091BA10}"/>
                </a:ext>
              </a:extLst>
            </p:cNvPr>
            <p:cNvSpPr/>
            <p:nvPr/>
          </p:nvSpPr>
          <p:spPr>
            <a:xfrm>
              <a:off x="1836980" y="2772559"/>
              <a:ext cx="2516698" cy="1526797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FE200F2-31DC-44BF-88ED-0757118C3644}"/>
                </a:ext>
              </a:extLst>
            </p:cNvPr>
            <p:cNvSpPr/>
            <p:nvPr/>
          </p:nvSpPr>
          <p:spPr>
            <a:xfrm>
              <a:off x="3029950" y="3502402"/>
              <a:ext cx="125835" cy="12583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28BAF9E-EF61-4CC4-A687-4998765698CC}"/>
                </a:ext>
              </a:extLst>
            </p:cNvPr>
            <p:cNvSpPr txBox="1"/>
            <p:nvPr/>
          </p:nvSpPr>
          <p:spPr>
            <a:xfrm>
              <a:off x="2755544" y="3594464"/>
              <a:ext cx="4203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P1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65D152A-4EA4-4574-BE15-1F11204F184E}"/>
                </a:ext>
              </a:extLst>
            </p:cNvPr>
            <p:cNvSpPr txBox="1"/>
            <p:nvPr/>
          </p:nvSpPr>
          <p:spPr>
            <a:xfrm>
              <a:off x="2551802" y="2801921"/>
              <a:ext cx="407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S1</a:t>
              </a:r>
            </a:p>
          </p:txBody>
        </p: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A606C3C-63BC-4FAC-A004-CA58196548AC}"/>
              </a:ext>
            </a:extLst>
          </p:cNvPr>
          <p:cNvCxnSpPr>
            <a:cxnSpLocks/>
          </p:cNvCxnSpPr>
          <p:nvPr/>
        </p:nvCxnSpPr>
        <p:spPr>
          <a:xfrm>
            <a:off x="6049161" y="3181664"/>
            <a:ext cx="216716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8FCE6E4-779D-4BB2-B67E-009C113CA2CB}"/>
              </a:ext>
            </a:extLst>
          </p:cNvPr>
          <p:cNvSpPr txBox="1"/>
          <p:nvPr/>
        </p:nvSpPr>
        <p:spPr>
          <a:xfrm>
            <a:off x="6850235" y="2858255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 = 8</a:t>
            </a:r>
          </a:p>
        </p:txBody>
      </p:sp>
    </p:spTree>
    <p:extLst>
      <p:ext uri="{BB962C8B-B14F-4D97-AF65-F5344CB8AC3E}">
        <p14:creationId xmlns:p14="http://schemas.microsoft.com/office/powerpoint/2010/main" val="2628327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331650" y="182429"/>
            <a:ext cx="10608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Bounding Box Overlap for Transformed Object (rotated/scaled)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BBAB71A-5AB8-4901-9D18-54C5F62F34A1}"/>
              </a:ext>
            </a:extLst>
          </p:cNvPr>
          <p:cNvGrpSpPr/>
          <p:nvPr/>
        </p:nvGrpSpPr>
        <p:grpSpPr>
          <a:xfrm rot="20334099">
            <a:off x="3579302" y="1657207"/>
            <a:ext cx="2516698" cy="2223083"/>
            <a:chOff x="4771118" y="2457975"/>
            <a:chExt cx="2516698" cy="222308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89F06A6-52F3-491D-AB46-BFF89F99E814}"/>
                </a:ext>
              </a:extLst>
            </p:cNvPr>
            <p:cNvSpPr/>
            <p:nvPr/>
          </p:nvSpPr>
          <p:spPr>
            <a:xfrm>
              <a:off x="4771118" y="2457975"/>
              <a:ext cx="2516698" cy="22230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1194CC9-9A1A-4AA5-B8B4-4E9B36684531}"/>
                </a:ext>
              </a:extLst>
            </p:cNvPr>
            <p:cNvSpPr/>
            <p:nvPr/>
          </p:nvSpPr>
          <p:spPr>
            <a:xfrm>
              <a:off x="5966549" y="3464654"/>
              <a:ext cx="125835" cy="12583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6AE40EE-D936-4F71-9FD7-87B362DADD22}"/>
                </a:ext>
              </a:extLst>
            </p:cNvPr>
            <p:cNvSpPr txBox="1"/>
            <p:nvPr/>
          </p:nvSpPr>
          <p:spPr>
            <a:xfrm>
              <a:off x="6059638" y="3471537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E486E97-2D6C-4337-9006-14D54ADDD118}"/>
              </a:ext>
            </a:extLst>
          </p:cNvPr>
          <p:cNvSpPr txBox="1"/>
          <p:nvPr/>
        </p:nvSpPr>
        <p:spPr>
          <a:xfrm>
            <a:off x="2211668" y="4380565"/>
            <a:ext cx="807533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This gets a little more complicated but lots of options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Option 1 – Estimate by computing axis aligned bounding boxes.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Option 2  - Convert to triangles and use your “point in triangle test”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Option 3 – Use a “point in box” test (box is not axis aligned).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Option 4 - Use Matrix transformation.  Transform point into “object space “ of object we are testing.  (see whiteboard).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5B2DDCE-B549-4B96-80E3-C1EA3E2C7C44}"/>
              </a:ext>
            </a:extLst>
          </p:cNvPr>
          <p:cNvGrpSpPr/>
          <p:nvPr/>
        </p:nvGrpSpPr>
        <p:grpSpPr>
          <a:xfrm rot="2325099">
            <a:off x="5932169" y="1943909"/>
            <a:ext cx="2516698" cy="1526797"/>
            <a:chOff x="1836980" y="2772559"/>
            <a:chExt cx="2516698" cy="152679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9B16493-4B8D-46B7-9B49-FD0CA091BA10}"/>
                </a:ext>
              </a:extLst>
            </p:cNvPr>
            <p:cNvSpPr/>
            <p:nvPr/>
          </p:nvSpPr>
          <p:spPr>
            <a:xfrm>
              <a:off x="1836980" y="2772559"/>
              <a:ext cx="2516698" cy="1526797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FE200F2-31DC-44BF-88ED-0757118C3644}"/>
                </a:ext>
              </a:extLst>
            </p:cNvPr>
            <p:cNvSpPr/>
            <p:nvPr/>
          </p:nvSpPr>
          <p:spPr>
            <a:xfrm>
              <a:off x="3029950" y="3502402"/>
              <a:ext cx="125835" cy="12583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44008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405364" y="706740"/>
            <a:ext cx="107580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Simple Collision – Non Physics Type Collision (constant Velocity)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535213" y="1676042"/>
            <a:ext cx="8635041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Summary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400" dirty="0"/>
              <a:t>Accuracy of constant velocity proximity type of collision check is dependent on relative speed of objects and their size  (size affects the target boundary)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400" dirty="0"/>
              <a:t>For arcade style games, this is usually not an issue because the with a fast frame rate (1/60 sec), the speeds at which objects are visible are slow enough to be detected + sprites are not that small.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400" dirty="0"/>
              <a:t>For 3D games which simulate the physical world we need something better.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lvl="1"/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429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405364" y="706740"/>
            <a:ext cx="22052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Next Class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658250" y="1454391"/>
            <a:ext cx="8635041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/>
              <a:t>Physics   </a:t>
            </a:r>
            <a:r>
              <a:rPr lang="en-US" sz="2400" dirty="0"/>
              <a:t>(Over next two weeks)</a:t>
            </a:r>
          </a:p>
          <a:p>
            <a:pPr lvl="1"/>
            <a:endParaRPr lang="en-US" sz="2400" dirty="0"/>
          </a:p>
          <a:p>
            <a:pPr lvl="1"/>
            <a:br>
              <a:rPr lang="en-US" dirty="0"/>
            </a:b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012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867</TotalTime>
  <Words>1172</Words>
  <Application>Microsoft Office PowerPoint</Application>
  <PresentationFormat>Widescreen</PresentationFormat>
  <Paragraphs>159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CS 134 Computer Game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235 User Interface Design</dc:title>
  <dc:creator>Kevin Smith</dc:creator>
  <cp:lastModifiedBy>Kevin M Smith</cp:lastModifiedBy>
  <cp:revision>101</cp:revision>
  <dcterms:created xsi:type="dcterms:W3CDTF">2017-08-23T16:49:40Z</dcterms:created>
  <dcterms:modified xsi:type="dcterms:W3CDTF">2023-03-01T18:15:24Z</dcterms:modified>
</cp:coreProperties>
</file>