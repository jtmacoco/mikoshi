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4"/>
  </p:notesMasterIdLst>
  <p:sldIdLst>
    <p:sldId id="256" r:id="rId2"/>
    <p:sldId id="274" r:id="rId3"/>
    <p:sldId id="268" r:id="rId4"/>
    <p:sldId id="289" r:id="rId5"/>
    <p:sldId id="283" r:id="rId6"/>
    <p:sldId id="290" r:id="rId7"/>
    <p:sldId id="269" r:id="rId8"/>
    <p:sldId id="291" r:id="rId9"/>
    <p:sldId id="292" r:id="rId10"/>
    <p:sldId id="278" r:id="rId11"/>
    <p:sldId id="293" r:id="rId12"/>
    <p:sldId id="29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8" autoAdjust="0"/>
    <p:restoredTop sz="94660"/>
  </p:normalViewPr>
  <p:slideViewPr>
    <p:cSldViewPr snapToGrid="0">
      <p:cViewPr varScale="1">
        <p:scale>
          <a:sx n="114" d="100"/>
          <a:sy n="114" d="100"/>
        </p:scale>
        <p:origin x="348"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E6C2A8-2747-4294-A578-3E60BC72699C}" type="doc">
      <dgm:prSet loTypeId="urn:microsoft.com/office/officeart/2005/8/layout/process1" loCatId="process" qsTypeId="urn:microsoft.com/office/officeart/2005/8/quickstyle/simple1" qsCatId="simple" csTypeId="urn:microsoft.com/office/officeart/2005/8/colors/colorful5" csCatId="colorful" phldr="1"/>
      <dgm:spPr/>
    </dgm:pt>
    <dgm:pt modelId="{7F4B5FFF-9ED3-467E-9F08-56224C0F0A7F}">
      <dgm:prSet phldrT="[Text]" custT="1"/>
      <dgm:spPr/>
      <dgm:t>
        <a:bodyPr/>
        <a:lstStyle/>
        <a:p>
          <a:r>
            <a:rPr lang="en-US" sz="1100" dirty="0"/>
            <a:t>Physics and Simulation</a:t>
          </a:r>
        </a:p>
      </dgm:t>
    </dgm:pt>
    <dgm:pt modelId="{C8A8C85B-5DBC-4826-B79B-1827F17A1C87}" type="parTrans" cxnId="{59951FFD-F138-4D68-9127-248155DB05BC}">
      <dgm:prSet/>
      <dgm:spPr/>
      <dgm:t>
        <a:bodyPr/>
        <a:lstStyle/>
        <a:p>
          <a:endParaRPr lang="en-US"/>
        </a:p>
      </dgm:t>
    </dgm:pt>
    <dgm:pt modelId="{7CE53D13-2F1E-4334-8FCF-7819053F807A}" type="sibTrans" cxnId="{59951FFD-F138-4D68-9127-248155DB05BC}">
      <dgm:prSet/>
      <dgm:spPr/>
      <dgm:t>
        <a:bodyPr/>
        <a:lstStyle/>
        <a:p>
          <a:endParaRPr lang="en-US"/>
        </a:p>
      </dgm:t>
    </dgm:pt>
    <dgm:pt modelId="{D4F4622E-522E-42E2-9325-882BA587A43A}">
      <dgm:prSet phldrT="[Text]" custT="1"/>
      <dgm:spPr/>
      <dgm:t>
        <a:bodyPr/>
        <a:lstStyle/>
        <a:p>
          <a:r>
            <a:rPr lang="en-US" sz="1100" dirty="0"/>
            <a:t>3D Game Design</a:t>
          </a:r>
        </a:p>
      </dgm:t>
    </dgm:pt>
    <dgm:pt modelId="{12D438F1-16F0-4289-9C29-07BB8C8DEA4E}" type="parTrans" cxnId="{9B3C77B5-5FC6-4633-9644-197BB5B7C090}">
      <dgm:prSet/>
      <dgm:spPr/>
      <dgm:t>
        <a:bodyPr/>
        <a:lstStyle/>
        <a:p>
          <a:endParaRPr lang="en-US"/>
        </a:p>
      </dgm:t>
    </dgm:pt>
    <dgm:pt modelId="{F2442B81-00C0-4435-B316-F3582779B651}" type="sibTrans" cxnId="{9B3C77B5-5FC6-4633-9644-197BB5B7C090}">
      <dgm:prSet/>
      <dgm:spPr/>
      <dgm:t>
        <a:bodyPr/>
        <a:lstStyle/>
        <a:p>
          <a:endParaRPr lang="en-US"/>
        </a:p>
      </dgm:t>
    </dgm:pt>
    <dgm:pt modelId="{5018D890-AAFD-472E-9302-54A99927D2F2}">
      <dgm:prSet phldrT="[Text]" custT="1"/>
      <dgm:spPr/>
      <dgm:t>
        <a:bodyPr/>
        <a:lstStyle/>
        <a:p>
          <a:r>
            <a:rPr lang="en-US" sz="1100" dirty="0"/>
            <a:t>Game Engine Development (UE4)</a:t>
          </a:r>
        </a:p>
      </dgm:t>
    </dgm:pt>
    <dgm:pt modelId="{C68B5517-D6E9-4E6C-9F66-1ECAE0112F55}" type="parTrans" cxnId="{E791144E-EF76-402C-9A5E-4A713FB35D0B}">
      <dgm:prSet/>
      <dgm:spPr/>
      <dgm:t>
        <a:bodyPr/>
        <a:lstStyle/>
        <a:p>
          <a:endParaRPr lang="en-US"/>
        </a:p>
      </dgm:t>
    </dgm:pt>
    <dgm:pt modelId="{75B7678E-C7D0-4C36-8814-68FB15AA7C15}" type="sibTrans" cxnId="{E791144E-EF76-402C-9A5E-4A713FB35D0B}">
      <dgm:prSet/>
      <dgm:spPr/>
      <dgm:t>
        <a:bodyPr/>
        <a:lstStyle/>
        <a:p>
          <a:endParaRPr lang="en-US"/>
        </a:p>
      </dgm:t>
    </dgm:pt>
    <dgm:pt modelId="{028A8B19-4191-4E76-9454-D83DBC41B6F4}">
      <dgm:prSet phldrT="[Text]" custT="1"/>
      <dgm:spPr/>
      <dgm:t>
        <a:bodyPr/>
        <a:lstStyle/>
        <a:p>
          <a:r>
            <a:rPr lang="en-US" sz="1100" dirty="0"/>
            <a:t>Team Project</a:t>
          </a:r>
        </a:p>
      </dgm:t>
    </dgm:pt>
    <dgm:pt modelId="{DF0BABC2-F8A9-42CD-A0F1-ADFF9CFA12E7}" type="parTrans" cxnId="{99DC17BD-EA48-409D-8014-D4F4A34E2DB2}">
      <dgm:prSet/>
      <dgm:spPr/>
      <dgm:t>
        <a:bodyPr/>
        <a:lstStyle/>
        <a:p>
          <a:endParaRPr lang="en-US"/>
        </a:p>
      </dgm:t>
    </dgm:pt>
    <dgm:pt modelId="{D8184D79-403A-484F-A3B2-E8AFE6EAB0DE}" type="sibTrans" cxnId="{99DC17BD-EA48-409D-8014-D4F4A34E2DB2}">
      <dgm:prSet/>
      <dgm:spPr/>
      <dgm:t>
        <a:bodyPr/>
        <a:lstStyle/>
        <a:p>
          <a:endParaRPr lang="en-US"/>
        </a:p>
      </dgm:t>
    </dgm:pt>
    <dgm:pt modelId="{629C9996-1516-4DD1-93F0-210EC0081A28}">
      <dgm:prSet phldrT="[Text]" custT="1"/>
      <dgm:spPr/>
      <dgm:t>
        <a:bodyPr/>
        <a:lstStyle/>
        <a:p>
          <a:r>
            <a:rPr lang="en-US" sz="1100" dirty="0"/>
            <a:t>2D Game Design</a:t>
          </a:r>
        </a:p>
      </dgm:t>
    </dgm:pt>
    <dgm:pt modelId="{BC85CDFF-CF68-43B6-9065-A20E84409B67}" type="sibTrans" cxnId="{1C5903B3-06E9-477C-BAAF-FE6A078B705F}">
      <dgm:prSet/>
      <dgm:spPr/>
      <dgm:t>
        <a:bodyPr/>
        <a:lstStyle/>
        <a:p>
          <a:endParaRPr lang="en-US"/>
        </a:p>
      </dgm:t>
    </dgm:pt>
    <dgm:pt modelId="{EDB9C1ED-567D-413B-8E5D-7BBB68CF638E}" type="parTrans" cxnId="{1C5903B3-06E9-477C-BAAF-FE6A078B705F}">
      <dgm:prSet/>
      <dgm:spPr/>
      <dgm:t>
        <a:bodyPr/>
        <a:lstStyle/>
        <a:p>
          <a:endParaRPr lang="en-US"/>
        </a:p>
      </dgm:t>
    </dgm:pt>
    <dgm:pt modelId="{7E787B9E-F68A-4726-AD47-A41529D72F7A}">
      <dgm:prSet phldrT="[Text]" custT="1"/>
      <dgm:spPr/>
      <dgm:t>
        <a:bodyPr/>
        <a:lstStyle/>
        <a:p>
          <a:r>
            <a:rPr lang="en-US" sz="1100" dirty="0"/>
            <a:t>Introduction to Game Engines</a:t>
          </a:r>
        </a:p>
      </dgm:t>
    </dgm:pt>
    <dgm:pt modelId="{20A36317-A207-4A58-B8F2-9C7A040AEAC2}" type="sibTrans" cxnId="{43B89582-B31F-4149-8680-7DF2F5ACBFFF}">
      <dgm:prSet/>
      <dgm:spPr/>
      <dgm:t>
        <a:bodyPr/>
        <a:lstStyle/>
        <a:p>
          <a:endParaRPr lang="en-US"/>
        </a:p>
      </dgm:t>
    </dgm:pt>
    <dgm:pt modelId="{131A7A07-DA4A-469D-B68E-6F212B635694}" type="parTrans" cxnId="{43B89582-B31F-4149-8680-7DF2F5ACBFFF}">
      <dgm:prSet/>
      <dgm:spPr/>
      <dgm:t>
        <a:bodyPr/>
        <a:lstStyle/>
        <a:p>
          <a:endParaRPr lang="en-US"/>
        </a:p>
      </dgm:t>
    </dgm:pt>
    <dgm:pt modelId="{EE241DB9-664A-4755-BD9A-A47EB96DD90E}" type="pres">
      <dgm:prSet presAssocID="{D1E6C2A8-2747-4294-A578-3E60BC72699C}" presName="Name0" presStyleCnt="0">
        <dgm:presLayoutVars>
          <dgm:dir/>
          <dgm:resizeHandles val="exact"/>
        </dgm:presLayoutVars>
      </dgm:prSet>
      <dgm:spPr/>
    </dgm:pt>
    <dgm:pt modelId="{98610125-610F-4440-81CC-D81E7A28C4B6}" type="pres">
      <dgm:prSet presAssocID="{7E787B9E-F68A-4726-AD47-A41529D72F7A}" presName="node" presStyleLbl="node1" presStyleIdx="0" presStyleCnt="6">
        <dgm:presLayoutVars>
          <dgm:bulletEnabled val="1"/>
        </dgm:presLayoutVars>
      </dgm:prSet>
      <dgm:spPr/>
    </dgm:pt>
    <dgm:pt modelId="{10F89025-5263-4F54-A62C-3353C3189BAB}" type="pres">
      <dgm:prSet presAssocID="{20A36317-A207-4A58-B8F2-9C7A040AEAC2}" presName="sibTrans" presStyleLbl="sibTrans2D1" presStyleIdx="0" presStyleCnt="5"/>
      <dgm:spPr/>
    </dgm:pt>
    <dgm:pt modelId="{A0AB54E4-A336-4934-AACD-A2A8D60C157A}" type="pres">
      <dgm:prSet presAssocID="{20A36317-A207-4A58-B8F2-9C7A040AEAC2}" presName="connectorText" presStyleLbl="sibTrans2D1" presStyleIdx="0" presStyleCnt="5"/>
      <dgm:spPr/>
    </dgm:pt>
    <dgm:pt modelId="{77A6D4E2-F93D-46CA-AC6C-C7A1C1E347E3}" type="pres">
      <dgm:prSet presAssocID="{629C9996-1516-4DD1-93F0-210EC0081A28}" presName="node" presStyleLbl="node1" presStyleIdx="1" presStyleCnt="6">
        <dgm:presLayoutVars>
          <dgm:bulletEnabled val="1"/>
        </dgm:presLayoutVars>
      </dgm:prSet>
      <dgm:spPr/>
    </dgm:pt>
    <dgm:pt modelId="{F5F18F9E-6630-4259-9DFB-993D7969FA98}" type="pres">
      <dgm:prSet presAssocID="{BC85CDFF-CF68-43B6-9065-A20E84409B67}" presName="sibTrans" presStyleLbl="sibTrans2D1" presStyleIdx="1" presStyleCnt="5"/>
      <dgm:spPr/>
    </dgm:pt>
    <dgm:pt modelId="{AE995AEC-51BE-4AE1-9901-273464BC5FD7}" type="pres">
      <dgm:prSet presAssocID="{BC85CDFF-CF68-43B6-9065-A20E84409B67}" presName="connectorText" presStyleLbl="sibTrans2D1" presStyleIdx="1" presStyleCnt="5"/>
      <dgm:spPr/>
    </dgm:pt>
    <dgm:pt modelId="{48713530-359F-4B24-AD8E-90F5CA1E5B8A}" type="pres">
      <dgm:prSet presAssocID="{7F4B5FFF-9ED3-467E-9F08-56224C0F0A7F}" presName="node" presStyleLbl="node1" presStyleIdx="2" presStyleCnt="6">
        <dgm:presLayoutVars>
          <dgm:bulletEnabled val="1"/>
        </dgm:presLayoutVars>
      </dgm:prSet>
      <dgm:spPr/>
    </dgm:pt>
    <dgm:pt modelId="{00191EE8-DED7-4FD3-90EA-E6EDEBC6E0E2}" type="pres">
      <dgm:prSet presAssocID="{7CE53D13-2F1E-4334-8FCF-7819053F807A}" presName="sibTrans" presStyleLbl="sibTrans2D1" presStyleIdx="2" presStyleCnt="5"/>
      <dgm:spPr/>
    </dgm:pt>
    <dgm:pt modelId="{C2749609-6B32-41C5-9D20-70B086BA6C75}" type="pres">
      <dgm:prSet presAssocID="{7CE53D13-2F1E-4334-8FCF-7819053F807A}" presName="connectorText" presStyleLbl="sibTrans2D1" presStyleIdx="2" presStyleCnt="5"/>
      <dgm:spPr/>
    </dgm:pt>
    <dgm:pt modelId="{D6E9322D-7193-4E11-99DF-55341D827C99}" type="pres">
      <dgm:prSet presAssocID="{D4F4622E-522E-42E2-9325-882BA587A43A}" presName="node" presStyleLbl="node1" presStyleIdx="3" presStyleCnt="6">
        <dgm:presLayoutVars>
          <dgm:bulletEnabled val="1"/>
        </dgm:presLayoutVars>
      </dgm:prSet>
      <dgm:spPr/>
    </dgm:pt>
    <dgm:pt modelId="{20F28471-F34B-4756-9517-8F3AE9BAB6F8}" type="pres">
      <dgm:prSet presAssocID="{F2442B81-00C0-4435-B316-F3582779B651}" presName="sibTrans" presStyleLbl="sibTrans2D1" presStyleIdx="3" presStyleCnt="5"/>
      <dgm:spPr/>
    </dgm:pt>
    <dgm:pt modelId="{729AA94F-516C-49C1-B401-25B4BBC4C87C}" type="pres">
      <dgm:prSet presAssocID="{F2442B81-00C0-4435-B316-F3582779B651}" presName="connectorText" presStyleLbl="sibTrans2D1" presStyleIdx="3" presStyleCnt="5"/>
      <dgm:spPr/>
    </dgm:pt>
    <dgm:pt modelId="{A9D034FE-9DDE-4F35-892B-9063091DF9E6}" type="pres">
      <dgm:prSet presAssocID="{5018D890-AAFD-472E-9302-54A99927D2F2}" presName="node" presStyleLbl="node1" presStyleIdx="4" presStyleCnt="6">
        <dgm:presLayoutVars>
          <dgm:bulletEnabled val="1"/>
        </dgm:presLayoutVars>
      </dgm:prSet>
      <dgm:spPr/>
    </dgm:pt>
    <dgm:pt modelId="{F709AAD4-A9EB-4186-88EA-9D3D10BAD85F}" type="pres">
      <dgm:prSet presAssocID="{75B7678E-C7D0-4C36-8814-68FB15AA7C15}" presName="sibTrans" presStyleLbl="sibTrans2D1" presStyleIdx="4" presStyleCnt="5"/>
      <dgm:spPr/>
    </dgm:pt>
    <dgm:pt modelId="{10CC3819-6135-4BBA-A380-2EF33B1D6B2E}" type="pres">
      <dgm:prSet presAssocID="{75B7678E-C7D0-4C36-8814-68FB15AA7C15}" presName="connectorText" presStyleLbl="sibTrans2D1" presStyleIdx="4" presStyleCnt="5"/>
      <dgm:spPr/>
    </dgm:pt>
    <dgm:pt modelId="{B00F87D7-9E7F-4BAE-B409-6C0C48291B75}" type="pres">
      <dgm:prSet presAssocID="{028A8B19-4191-4E76-9454-D83DBC41B6F4}" presName="node" presStyleLbl="node1" presStyleIdx="5" presStyleCnt="6">
        <dgm:presLayoutVars>
          <dgm:bulletEnabled val="1"/>
        </dgm:presLayoutVars>
      </dgm:prSet>
      <dgm:spPr/>
    </dgm:pt>
  </dgm:ptLst>
  <dgm:cxnLst>
    <dgm:cxn modelId="{0FAD7C00-9515-42C1-8889-692E99739B1D}" type="presOf" srcId="{7CE53D13-2F1E-4334-8FCF-7819053F807A}" destId="{00191EE8-DED7-4FD3-90EA-E6EDEBC6E0E2}" srcOrd="0" destOrd="0" presId="urn:microsoft.com/office/officeart/2005/8/layout/process1"/>
    <dgm:cxn modelId="{38130F02-ED4C-4534-858A-EEC006413E5D}" type="presOf" srcId="{629C9996-1516-4DD1-93F0-210EC0081A28}" destId="{77A6D4E2-F93D-46CA-AC6C-C7A1C1E347E3}" srcOrd="0" destOrd="0" presId="urn:microsoft.com/office/officeart/2005/8/layout/process1"/>
    <dgm:cxn modelId="{97A4D207-126B-4A30-9CDC-D8A900EDB80B}" type="presOf" srcId="{75B7678E-C7D0-4C36-8814-68FB15AA7C15}" destId="{10CC3819-6135-4BBA-A380-2EF33B1D6B2E}" srcOrd="1" destOrd="0" presId="urn:microsoft.com/office/officeart/2005/8/layout/process1"/>
    <dgm:cxn modelId="{FD6FBE2B-B8C9-4CE7-829A-13E356681BB6}" type="presOf" srcId="{F2442B81-00C0-4435-B316-F3582779B651}" destId="{20F28471-F34B-4756-9517-8F3AE9BAB6F8}" srcOrd="0" destOrd="0" presId="urn:microsoft.com/office/officeart/2005/8/layout/process1"/>
    <dgm:cxn modelId="{E775FF2C-0089-4C18-AAB9-E18412CF5B0B}" type="presOf" srcId="{BC85CDFF-CF68-43B6-9065-A20E84409B67}" destId="{F5F18F9E-6630-4259-9DFB-993D7969FA98}" srcOrd="0" destOrd="0" presId="urn:microsoft.com/office/officeart/2005/8/layout/process1"/>
    <dgm:cxn modelId="{F1864F3F-078C-4EF2-A234-6459774A7495}" type="presOf" srcId="{D4F4622E-522E-42E2-9325-882BA587A43A}" destId="{D6E9322D-7193-4E11-99DF-55341D827C99}" srcOrd="0" destOrd="0" presId="urn:microsoft.com/office/officeart/2005/8/layout/process1"/>
    <dgm:cxn modelId="{F061DE67-415E-480B-BD1A-6FE6FBE9B91D}" type="presOf" srcId="{7F4B5FFF-9ED3-467E-9F08-56224C0F0A7F}" destId="{48713530-359F-4B24-AD8E-90F5CA1E5B8A}" srcOrd="0" destOrd="0" presId="urn:microsoft.com/office/officeart/2005/8/layout/process1"/>
    <dgm:cxn modelId="{E791144E-EF76-402C-9A5E-4A713FB35D0B}" srcId="{D1E6C2A8-2747-4294-A578-3E60BC72699C}" destId="{5018D890-AAFD-472E-9302-54A99927D2F2}" srcOrd="4" destOrd="0" parTransId="{C68B5517-D6E9-4E6C-9F66-1ECAE0112F55}" sibTransId="{75B7678E-C7D0-4C36-8814-68FB15AA7C15}"/>
    <dgm:cxn modelId="{6D144672-D7C8-4E24-B5A9-313829689552}" type="presOf" srcId="{5018D890-AAFD-472E-9302-54A99927D2F2}" destId="{A9D034FE-9DDE-4F35-892B-9063091DF9E6}" srcOrd="0" destOrd="0" presId="urn:microsoft.com/office/officeart/2005/8/layout/process1"/>
    <dgm:cxn modelId="{D1417059-D349-4183-BAB9-137E81344DF4}" type="presOf" srcId="{75B7678E-C7D0-4C36-8814-68FB15AA7C15}" destId="{F709AAD4-A9EB-4186-88EA-9D3D10BAD85F}" srcOrd="0" destOrd="0" presId="urn:microsoft.com/office/officeart/2005/8/layout/process1"/>
    <dgm:cxn modelId="{D26D4A7A-69F6-49B8-80AD-10EE754C7276}" type="presOf" srcId="{BC85CDFF-CF68-43B6-9065-A20E84409B67}" destId="{AE995AEC-51BE-4AE1-9901-273464BC5FD7}" srcOrd="1" destOrd="0" presId="urn:microsoft.com/office/officeart/2005/8/layout/process1"/>
    <dgm:cxn modelId="{43B89582-B31F-4149-8680-7DF2F5ACBFFF}" srcId="{D1E6C2A8-2747-4294-A578-3E60BC72699C}" destId="{7E787B9E-F68A-4726-AD47-A41529D72F7A}" srcOrd="0" destOrd="0" parTransId="{131A7A07-DA4A-469D-B68E-6F212B635694}" sibTransId="{20A36317-A207-4A58-B8F2-9C7A040AEAC2}"/>
    <dgm:cxn modelId="{C3865392-7FEE-4C29-B07C-5179D9E4B558}" type="presOf" srcId="{7CE53D13-2F1E-4334-8FCF-7819053F807A}" destId="{C2749609-6B32-41C5-9D20-70B086BA6C75}" srcOrd="1" destOrd="0" presId="urn:microsoft.com/office/officeart/2005/8/layout/process1"/>
    <dgm:cxn modelId="{6D36BDAF-49F0-49F1-A1F4-5FE8CED45AED}" type="presOf" srcId="{7E787B9E-F68A-4726-AD47-A41529D72F7A}" destId="{98610125-610F-4440-81CC-D81E7A28C4B6}" srcOrd="0" destOrd="0" presId="urn:microsoft.com/office/officeart/2005/8/layout/process1"/>
    <dgm:cxn modelId="{1C5903B3-06E9-477C-BAAF-FE6A078B705F}" srcId="{D1E6C2A8-2747-4294-A578-3E60BC72699C}" destId="{629C9996-1516-4DD1-93F0-210EC0081A28}" srcOrd="1" destOrd="0" parTransId="{EDB9C1ED-567D-413B-8E5D-7BBB68CF638E}" sibTransId="{BC85CDFF-CF68-43B6-9065-A20E84409B67}"/>
    <dgm:cxn modelId="{9B3C77B5-5FC6-4633-9644-197BB5B7C090}" srcId="{D1E6C2A8-2747-4294-A578-3E60BC72699C}" destId="{D4F4622E-522E-42E2-9325-882BA587A43A}" srcOrd="3" destOrd="0" parTransId="{12D438F1-16F0-4289-9C29-07BB8C8DEA4E}" sibTransId="{F2442B81-00C0-4435-B316-F3582779B651}"/>
    <dgm:cxn modelId="{99DC17BD-EA48-409D-8014-D4F4A34E2DB2}" srcId="{D1E6C2A8-2747-4294-A578-3E60BC72699C}" destId="{028A8B19-4191-4E76-9454-D83DBC41B6F4}" srcOrd="5" destOrd="0" parTransId="{DF0BABC2-F8A9-42CD-A0F1-ADFF9CFA12E7}" sibTransId="{D8184D79-403A-484F-A3B2-E8AFE6EAB0DE}"/>
    <dgm:cxn modelId="{66A9E0D2-602B-4FD9-A9FF-6E9B691503B2}" type="presOf" srcId="{028A8B19-4191-4E76-9454-D83DBC41B6F4}" destId="{B00F87D7-9E7F-4BAE-B409-6C0C48291B75}" srcOrd="0" destOrd="0" presId="urn:microsoft.com/office/officeart/2005/8/layout/process1"/>
    <dgm:cxn modelId="{8AF961D8-ED52-4747-93B1-9DDDEC16D787}" type="presOf" srcId="{20A36317-A207-4A58-B8F2-9C7A040AEAC2}" destId="{10F89025-5263-4F54-A62C-3353C3189BAB}" srcOrd="0" destOrd="0" presId="urn:microsoft.com/office/officeart/2005/8/layout/process1"/>
    <dgm:cxn modelId="{924CE9E8-1BC6-4054-944C-F553F103F0C2}" type="presOf" srcId="{D1E6C2A8-2747-4294-A578-3E60BC72699C}" destId="{EE241DB9-664A-4755-BD9A-A47EB96DD90E}" srcOrd="0" destOrd="0" presId="urn:microsoft.com/office/officeart/2005/8/layout/process1"/>
    <dgm:cxn modelId="{AF3EF2EA-CC0B-4909-BF69-F81F38D58DFD}" type="presOf" srcId="{20A36317-A207-4A58-B8F2-9C7A040AEAC2}" destId="{A0AB54E4-A336-4934-AACD-A2A8D60C157A}" srcOrd="1" destOrd="0" presId="urn:microsoft.com/office/officeart/2005/8/layout/process1"/>
    <dgm:cxn modelId="{CB8EA2F1-00F7-41CF-8BA7-00543129BDC0}" type="presOf" srcId="{F2442B81-00C0-4435-B316-F3582779B651}" destId="{729AA94F-516C-49C1-B401-25B4BBC4C87C}" srcOrd="1" destOrd="0" presId="urn:microsoft.com/office/officeart/2005/8/layout/process1"/>
    <dgm:cxn modelId="{59951FFD-F138-4D68-9127-248155DB05BC}" srcId="{D1E6C2A8-2747-4294-A578-3E60BC72699C}" destId="{7F4B5FFF-9ED3-467E-9F08-56224C0F0A7F}" srcOrd="2" destOrd="0" parTransId="{C8A8C85B-5DBC-4826-B79B-1827F17A1C87}" sibTransId="{7CE53D13-2F1E-4334-8FCF-7819053F807A}"/>
    <dgm:cxn modelId="{67687466-2CC7-4219-ACBC-C682EF01AD53}" type="presParOf" srcId="{EE241DB9-664A-4755-BD9A-A47EB96DD90E}" destId="{98610125-610F-4440-81CC-D81E7A28C4B6}" srcOrd="0" destOrd="0" presId="urn:microsoft.com/office/officeart/2005/8/layout/process1"/>
    <dgm:cxn modelId="{067B4648-9F28-4B8E-9BA9-1D0D3D61B3D0}" type="presParOf" srcId="{EE241DB9-664A-4755-BD9A-A47EB96DD90E}" destId="{10F89025-5263-4F54-A62C-3353C3189BAB}" srcOrd="1" destOrd="0" presId="urn:microsoft.com/office/officeart/2005/8/layout/process1"/>
    <dgm:cxn modelId="{E8CC6C95-2DC5-471C-AE26-415E1939504E}" type="presParOf" srcId="{10F89025-5263-4F54-A62C-3353C3189BAB}" destId="{A0AB54E4-A336-4934-AACD-A2A8D60C157A}" srcOrd="0" destOrd="0" presId="urn:microsoft.com/office/officeart/2005/8/layout/process1"/>
    <dgm:cxn modelId="{FA878378-E582-4EB8-B772-DC8DD469F1B1}" type="presParOf" srcId="{EE241DB9-664A-4755-BD9A-A47EB96DD90E}" destId="{77A6D4E2-F93D-46CA-AC6C-C7A1C1E347E3}" srcOrd="2" destOrd="0" presId="urn:microsoft.com/office/officeart/2005/8/layout/process1"/>
    <dgm:cxn modelId="{7559F5CC-05C1-4085-9C57-F1D7ED95701E}" type="presParOf" srcId="{EE241DB9-664A-4755-BD9A-A47EB96DD90E}" destId="{F5F18F9E-6630-4259-9DFB-993D7969FA98}" srcOrd="3" destOrd="0" presId="urn:microsoft.com/office/officeart/2005/8/layout/process1"/>
    <dgm:cxn modelId="{C40299B4-D8CE-452E-B887-416BFB580C54}" type="presParOf" srcId="{F5F18F9E-6630-4259-9DFB-993D7969FA98}" destId="{AE995AEC-51BE-4AE1-9901-273464BC5FD7}" srcOrd="0" destOrd="0" presId="urn:microsoft.com/office/officeart/2005/8/layout/process1"/>
    <dgm:cxn modelId="{EBA963BB-40F9-47DA-82A7-40E6A5445369}" type="presParOf" srcId="{EE241DB9-664A-4755-BD9A-A47EB96DD90E}" destId="{48713530-359F-4B24-AD8E-90F5CA1E5B8A}" srcOrd="4" destOrd="0" presId="urn:microsoft.com/office/officeart/2005/8/layout/process1"/>
    <dgm:cxn modelId="{B9F6EE1C-849D-4D02-B0B8-ACA39867AB20}" type="presParOf" srcId="{EE241DB9-664A-4755-BD9A-A47EB96DD90E}" destId="{00191EE8-DED7-4FD3-90EA-E6EDEBC6E0E2}" srcOrd="5" destOrd="0" presId="urn:microsoft.com/office/officeart/2005/8/layout/process1"/>
    <dgm:cxn modelId="{8B07C9AD-79B2-440C-BD6C-A72583E2D314}" type="presParOf" srcId="{00191EE8-DED7-4FD3-90EA-E6EDEBC6E0E2}" destId="{C2749609-6B32-41C5-9D20-70B086BA6C75}" srcOrd="0" destOrd="0" presId="urn:microsoft.com/office/officeart/2005/8/layout/process1"/>
    <dgm:cxn modelId="{E4D9C973-9995-46DA-ABD7-D518472829EA}" type="presParOf" srcId="{EE241DB9-664A-4755-BD9A-A47EB96DD90E}" destId="{D6E9322D-7193-4E11-99DF-55341D827C99}" srcOrd="6" destOrd="0" presId="urn:microsoft.com/office/officeart/2005/8/layout/process1"/>
    <dgm:cxn modelId="{E16E5F45-6543-4DF4-A9EF-424240AA8897}" type="presParOf" srcId="{EE241DB9-664A-4755-BD9A-A47EB96DD90E}" destId="{20F28471-F34B-4756-9517-8F3AE9BAB6F8}" srcOrd="7" destOrd="0" presId="urn:microsoft.com/office/officeart/2005/8/layout/process1"/>
    <dgm:cxn modelId="{E176BDC8-3F6B-4CFD-BA8C-AC1AA40E3C5F}" type="presParOf" srcId="{20F28471-F34B-4756-9517-8F3AE9BAB6F8}" destId="{729AA94F-516C-49C1-B401-25B4BBC4C87C}" srcOrd="0" destOrd="0" presId="urn:microsoft.com/office/officeart/2005/8/layout/process1"/>
    <dgm:cxn modelId="{5193AEB9-F065-42FB-BBE6-8EFDEC981F9C}" type="presParOf" srcId="{EE241DB9-664A-4755-BD9A-A47EB96DD90E}" destId="{A9D034FE-9DDE-4F35-892B-9063091DF9E6}" srcOrd="8" destOrd="0" presId="urn:microsoft.com/office/officeart/2005/8/layout/process1"/>
    <dgm:cxn modelId="{9AD46F83-4762-4EB4-ADFF-C268AFF97BEB}" type="presParOf" srcId="{EE241DB9-664A-4755-BD9A-A47EB96DD90E}" destId="{F709AAD4-A9EB-4186-88EA-9D3D10BAD85F}" srcOrd="9" destOrd="0" presId="urn:microsoft.com/office/officeart/2005/8/layout/process1"/>
    <dgm:cxn modelId="{A5E85BCC-7085-4DC7-8007-BDC467554287}" type="presParOf" srcId="{F709AAD4-A9EB-4186-88EA-9D3D10BAD85F}" destId="{10CC3819-6135-4BBA-A380-2EF33B1D6B2E}" srcOrd="0" destOrd="0" presId="urn:microsoft.com/office/officeart/2005/8/layout/process1"/>
    <dgm:cxn modelId="{796D8A67-91D2-4146-A37D-03BDF60D13D3}" type="presParOf" srcId="{EE241DB9-664A-4755-BD9A-A47EB96DD90E}" destId="{B00F87D7-9E7F-4BAE-B409-6C0C48291B75}" srcOrd="10"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610125-610F-4440-81CC-D81E7A28C4B6}">
      <dsp:nvSpPr>
        <dsp:cNvPr id="0" name=""/>
        <dsp:cNvSpPr/>
      </dsp:nvSpPr>
      <dsp:spPr>
        <a:xfrm>
          <a:off x="0" y="1244781"/>
          <a:ext cx="1221014" cy="73260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Introduction to Game Engines</a:t>
          </a:r>
        </a:p>
      </dsp:txBody>
      <dsp:txXfrm>
        <a:off x="21457" y="1266238"/>
        <a:ext cx="1178100" cy="689694"/>
      </dsp:txXfrm>
    </dsp:sp>
    <dsp:sp modelId="{10F89025-5263-4F54-A62C-3353C3189BAB}">
      <dsp:nvSpPr>
        <dsp:cNvPr id="0" name=""/>
        <dsp:cNvSpPr/>
      </dsp:nvSpPr>
      <dsp:spPr>
        <a:xfrm>
          <a:off x="1343115" y="1459679"/>
          <a:ext cx="258855" cy="302811"/>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343115" y="1520241"/>
        <a:ext cx="181199" cy="181687"/>
      </dsp:txXfrm>
    </dsp:sp>
    <dsp:sp modelId="{77A6D4E2-F93D-46CA-AC6C-C7A1C1E347E3}">
      <dsp:nvSpPr>
        <dsp:cNvPr id="0" name=""/>
        <dsp:cNvSpPr/>
      </dsp:nvSpPr>
      <dsp:spPr>
        <a:xfrm>
          <a:off x="1709419" y="1244781"/>
          <a:ext cx="1221014" cy="732608"/>
        </a:xfrm>
        <a:prstGeom prst="roundRect">
          <a:avLst>
            <a:gd name="adj" fmla="val 10000"/>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2D Game Design</a:t>
          </a:r>
        </a:p>
      </dsp:txBody>
      <dsp:txXfrm>
        <a:off x="1730876" y="1266238"/>
        <a:ext cx="1178100" cy="689694"/>
      </dsp:txXfrm>
    </dsp:sp>
    <dsp:sp modelId="{F5F18F9E-6630-4259-9DFB-993D7969FA98}">
      <dsp:nvSpPr>
        <dsp:cNvPr id="0" name=""/>
        <dsp:cNvSpPr/>
      </dsp:nvSpPr>
      <dsp:spPr>
        <a:xfrm>
          <a:off x="3052535" y="1459679"/>
          <a:ext cx="258855" cy="302811"/>
        </a:xfrm>
        <a:prstGeom prst="rightArrow">
          <a:avLst>
            <a:gd name="adj1" fmla="val 60000"/>
            <a:gd name="adj2" fmla="val 50000"/>
          </a:avLst>
        </a:prstGeom>
        <a:solidFill>
          <a:schemeClr val="accent5">
            <a:hueOff val="-1689636"/>
            <a:satOff val="-4355"/>
            <a:lumOff val="-294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052535" y="1520241"/>
        <a:ext cx="181199" cy="181687"/>
      </dsp:txXfrm>
    </dsp:sp>
    <dsp:sp modelId="{48713530-359F-4B24-AD8E-90F5CA1E5B8A}">
      <dsp:nvSpPr>
        <dsp:cNvPr id="0" name=""/>
        <dsp:cNvSpPr/>
      </dsp:nvSpPr>
      <dsp:spPr>
        <a:xfrm>
          <a:off x="3418839" y="1244781"/>
          <a:ext cx="1221014" cy="732608"/>
        </a:xfrm>
        <a:prstGeom prst="roundRect">
          <a:avLst>
            <a:gd name="adj" fmla="val 10000"/>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Physics and Simulation</a:t>
          </a:r>
        </a:p>
      </dsp:txBody>
      <dsp:txXfrm>
        <a:off x="3440296" y="1266238"/>
        <a:ext cx="1178100" cy="689694"/>
      </dsp:txXfrm>
    </dsp:sp>
    <dsp:sp modelId="{00191EE8-DED7-4FD3-90EA-E6EDEBC6E0E2}">
      <dsp:nvSpPr>
        <dsp:cNvPr id="0" name=""/>
        <dsp:cNvSpPr/>
      </dsp:nvSpPr>
      <dsp:spPr>
        <a:xfrm>
          <a:off x="4761955" y="1459679"/>
          <a:ext cx="258855" cy="302811"/>
        </a:xfrm>
        <a:prstGeom prst="rightArrow">
          <a:avLst>
            <a:gd name="adj1" fmla="val 60000"/>
            <a:gd name="adj2" fmla="val 50000"/>
          </a:avLst>
        </a:prstGeom>
        <a:solidFill>
          <a:schemeClr val="accent5">
            <a:hueOff val="-3379271"/>
            <a:satOff val="-8710"/>
            <a:lumOff val="-588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761955" y="1520241"/>
        <a:ext cx="181199" cy="181687"/>
      </dsp:txXfrm>
    </dsp:sp>
    <dsp:sp modelId="{D6E9322D-7193-4E11-99DF-55341D827C99}">
      <dsp:nvSpPr>
        <dsp:cNvPr id="0" name=""/>
        <dsp:cNvSpPr/>
      </dsp:nvSpPr>
      <dsp:spPr>
        <a:xfrm>
          <a:off x="5128259" y="1244781"/>
          <a:ext cx="1221014" cy="732608"/>
        </a:xfrm>
        <a:prstGeom prst="roundRect">
          <a:avLst>
            <a:gd name="adj" fmla="val 10000"/>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3D Game Design</a:t>
          </a:r>
        </a:p>
      </dsp:txBody>
      <dsp:txXfrm>
        <a:off x="5149716" y="1266238"/>
        <a:ext cx="1178100" cy="689694"/>
      </dsp:txXfrm>
    </dsp:sp>
    <dsp:sp modelId="{20F28471-F34B-4756-9517-8F3AE9BAB6F8}">
      <dsp:nvSpPr>
        <dsp:cNvPr id="0" name=""/>
        <dsp:cNvSpPr/>
      </dsp:nvSpPr>
      <dsp:spPr>
        <a:xfrm>
          <a:off x="6471375" y="1459679"/>
          <a:ext cx="258855" cy="302811"/>
        </a:xfrm>
        <a:prstGeom prst="rightArrow">
          <a:avLst>
            <a:gd name="adj1" fmla="val 60000"/>
            <a:gd name="adj2" fmla="val 50000"/>
          </a:avLst>
        </a:prstGeom>
        <a:solidFill>
          <a:schemeClr val="accent5">
            <a:hueOff val="-5068907"/>
            <a:satOff val="-13064"/>
            <a:lumOff val="-882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471375" y="1520241"/>
        <a:ext cx="181199" cy="181687"/>
      </dsp:txXfrm>
    </dsp:sp>
    <dsp:sp modelId="{A9D034FE-9DDE-4F35-892B-9063091DF9E6}">
      <dsp:nvSpPr>
        <dsp:cNvPr id="0" name=""/>
        <dsp:cNvSpPr/>
      </dsp:nvSpPr>
      <dsp:spPr>
        <a:xfrm>
          <a:off x="6837679" y="1244781"/>
          <a:ext cx="1221014" cy="732608"/>
        </a:xfrm>
        <a:prstGeom prst="roundRect">
          <a:avLst>
            <a:gd name="adj" fmla="val 10000"/>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Game Engine Development (UE4)</a:t>
          </a:r>
        </a:p>
      </dsp:txBody>
      <dsp:txXfrm>
        <a:off x="6859136" y="1266238"/>
        <a:ext cx="1178100" cy="689694"/>
      </dsp:txXfrm>
    </dsp:sp>
    <dsp:sp modelId="{F709AAD4-A9EB-4186-88EA-9D3D10BAD85F}">
      <dsp:nvSpPr>
        <dsp:cNvPr id="0" name=""/>
        <dsp:cNvSpPr/>
      </dsp:nvSpPr>
      <dsp:spPr>
        <a:xfrm>
          <a:off x="8180795" y="1459679"/>
          <a:ext cx="258855" cy="302811"/>
        </a:xfrm>
        <a:prstGeom prst="rightArrow">
          <a:avLst>
            <a:gd name="adj1" fmla="val 60000"/>
            <a:gd name="adj2" fmla="val 50000"/>
          </a:avLst>
        </a:prstGeom>
        <a:solidFill>
          <a:schemeClr val="accent5">
            <a:hueOff val="-6758543"/>
            <a:satOff val="-17419"/>
            <a:lumOff val="-117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180795" y="1520241"/>
        <a:ext cx="181199" cy="181687"/>
      </dsp:txXfrm>
    </dsp:sp>
    <dsp:sp modelId="{B00F87D7-9E7F-4BAE-B409-6C0C48291B75}">
      <dsp:nvSpPr>
        <dsp:cNvPr id="0" name=""/>
        <dsp:cNvSpPr/>
      </dsp:nvSpPr>
      <dsp:spPr>
        <a:xfrm>
          <a:off x="8547099" y="1244781"/>
          <a:ext cx="1221014" cy="732608"/>
        </a:xfrm>
        <a:prstGeom prst="roundRect">
          <a:avLst>
            <a:gd name="adj" fmla="val 1000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Team Project</a:t>
          </a:r>
        </a:p>
      </dsp:txBody>
      <dsp:txXfrm>
        <a:off x="8568556" y="1266238"/>
        <a:ext cx="1178100" cy="68969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81D33-D3DC-4EEE-9841-2A93D98735D4}" type="datetimeFigureOut">
              <a:rPr lang="en-US" smtClean="0"/>
              <a:t>9/23/2018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829C27-AAA8-470D-92FE-57BE00B20D4F}" type="slidenum">
              <a:rPr lang="en-US" smtClean="0"/>
              <a:t>‹#›</a:t>
            </a:fld>
            <a:endParaRPr lang="en-US"/>
          </a:p>
        </p:txBody>
      </p:sp>
    </p:spTree>
    <p:extLst>
      <p:ext uri="{BB962C8B-B14F-4D97-AF65-F5344CB8AC3E}">
        <p14:creationId xmlns:p14="http://schemas.microsoft.com/office/powerpoint/2010/main" val="390011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829C27-AAA8-470D-92FE-57BE00B20D4F}" type="slidenum">
              <a:rPr lang="en-US" smtClean="0"/>
              <a:t>2</a:t>
            </a:fld>
            <a:endParaRPr lang="en-US"/>
          </a:p>
        </p:txBody>
      </p:sp>
    </p:spTree>
    <p:extLst>
      <p:ext uri="{BB962C8B-B14F-4D97-AF65-F5344CB8AC3E}">
        <p14:creationId xmlns:p14="http://schemas.microsoft.com/office/powerpoint/2010/main" val="1102364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DBFD92-5C28-4DC6-81DB-5A68BA7EBC93}" type="datetime1">
              <a:rPr lang="en-US" smtClean="0"/>
              <a:t>9/23/2018</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958223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6C1D00-8098-4A9B-B4A5-9A66C7D1317A}" type="datetime1">
              <a:rPr lang="en-US" smtClean="0"/>
              <a:t>9/23/2018</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414595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72944B9-B08F-4DA1-ACDE-CD01C9904901}" type="datetime1">
              <a:rPr lang="en-US" smtClean="0"/>
              <a:t>9/23/2018</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1357855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443B77-6302-4483-AF5B-A33F83BA44B0}" type="datetime1">
              <a:rPr lang="en-US" smtClean="0"/>
              <a:t>9/23/2018</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308222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1936C3-F8E0-4FE0-91E2-288A042D5907}" type="datetime1">
              <a:rPr lang="en-US" smtClean="0"/>
              <a:t>9/23/2018</a:t>
            </a:fld>
            <a:endParaRPr lang="en-US"/>
          </a:p>
        </p:txBody>
      </p:sp>
      <p:sp>
        <p:nvSpPr>
          <p:cNvPr id="8" name="Footer Placeholder 7"/>
          <p:cNvSpPr>
            <a:spLocks noGrp="1"/>
          </p:cNvSpPr>
          <p:nvPr>
            <p:ph type="ftr" sz="quarter" idx="11"/>
          </p:nvPr>
        </p:nvSpPr>
        <p:spPr/>
        <p:txBody>
          <a:bodyPr/>
          <a:lstStyle/>
          <a:p>
            <a:r>
              <a:rPr lang="en-US"/>
              <a:t>copyright © 2017 Kevin M. Smith</a:t>
            </a:r>
          </a:p>
        </p:txBody>
      </p:sp>
      <p:sp>
        <p:nvSpPr>
          <p:cNvPr id="9" name="Slide Number Placeholder 8"/>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1274070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F50540-7B40-4BB4-846E-2968CB26C7FB}" type="datetime1">
              <a:rPr lang="en-US" smtClean="0"/>
              <a:t>9/23/2018</a:t>
            </a:fld>
            <a:endParaRPr lang="en-US"/>
          </a:p>
        </p:txBody>
      </p:sp>
      <p:sp>
        <p:nvSpPr>
          <p:cNvPr id="4" name="Footer Placeholder 3"/>
          <p:cNvSpPr>
            <a:spLocks noGrp="1"/>
          </p:cNvSpPr>
          <p:nvPr>
            <p:ph type="ftr" sz="quarter" idx="11"/>
          </p:nvPr>
        </p:nvSpPr>
        <p:spPr/>
        <p:txBody>
          <a:bodyPr/>
          <a:lstStyle/>
          <a:p>
            <a:r>
              <a:rPr lang="en-US"/>
              <a:t>copyright © 2017 Kevin M. Smith</a:t>
            </a:r>
          </a:p>
        </p:txBody>
      </p:sp>
      <p:sp>
        <p:nvSpPr>
          <p:cNvPr id="5" name="Slide Number Placeholder 4"/>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477989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944FA3-D183-4229-9125-D4C2C3F2F29C}" type="datetime1">
              <a:rPr lang="en-US" smtClean="0"/>
              <a:t>9/23/2018</a:t>
            </a:fld>
            <a:endParaRPr lang="en-US"/>
          </a:p>
        </p:txBody>
      </p:sp>
      <p:sp>
        <p:nvSpPr>
          <p:cNvPr id="3" name="Footer Placeholder 2"/>
          <p:cNvSpPr>
            <a:spLocks noGrp="1"/>
          </p:cNvSpPr>
          <p:nvPr>
            <p:ph type="ftr" sz="quarter" idx="11"/>
          </p:nvPr>
        </p:nvSpPr>
        <p:spPr/>
        <p:txBody>
          <a:bodyPr/>
          <a:lstStyle/>
          <a:p>
            <a:r>
              <a:rPr lang="en-US"/>
              <a:t>copyright © 2017 Kevin M. Smith</a:t>
            </a:r>
          </a:p>
        </p:txBody>
      </p:sp>
      <p:sp>
        <p:nvSpPr>
          <p:cNvPr id="4" name="Slide Number Placeholder 3"/>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885825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AA636C1-38B2-4531-A2ED-289F8D719C97}" type="datetime1">
              <a:rPr lang="en-US" smtClean="0"/>
              <a:t>9/23/2018</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592474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B2830A5-A361-4861-A529-30991D4B67EB}" type="datetime1">
              <a:rPr lang="en-US" smtClean="0"/>
              <a:t>9/23/2018</a:t>
            </a:fld>
            <a:endParaRPr lang="en-US"/>
          </a:p>
        </p:txBody>
      </p:sp>
      <p:sp>
        <p:nvSpPr>
          <p:cNvPr id="6" name="Footer Placeholder 5"/>
          <p:cNvSpPr>
            <a:spLocks noGrp="1"/>
          </p:cNvSpPr>
          <p:nvPr>
            <p:ph type="ftr" sz="quarter" idx="11"/>
          </p:nvPr>
        </p:nvSpPr>
        <p:spPr/>
        <p:txBody>
          <a:bodyPr/>
          <a:lstStyle/>
          <a:p>
            <a:r>
              <a:rPr lang="en-US"/>
              <a:t>copyright © 2017 Kevin M. Smith</a:t>
            </a:r>
          </a:p>
        </p:txBody>
      </p:sp>
      <p:sp>
        <p:nvSpPr>
          <p:cNvPr id="7" name="Slide Number Placeholder 6"/>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21989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ED95A6-FBBB-457F-BC2F-84487D193BC5}" type="datetime1">
              <a:rPr lang="en-US" smtClean="0"/>
              <a:t>9/23/2018</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3408091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2A1209-11D7-4112-B3B0-B5FF3960E31D}" type="datetime1">
              <a:rPr lang="en-US" smtClean="0"/>
              <a:t>9/23/2018</a:t>
            </a:fld>
            <a:endParaRPr lang="en-US"/>
          </a:p>
        </p:txBody>
      </p:sp>
      <p:sp>
        <p:nvSpPr>
          <p:cNvPr id="5" name="Footer Placeholder 4"/>
          <p:cNvSpPr>
            <a:spLocks noGrp="1"/>
          </p:cNvSpPr>
          <p:nvPr>
            <p:ph type="ftr" sz="quarter" idx="11"/>
          </p:nvPr>
        </p:nvSpPr>
        <p:spPr/>
        <p:txBody>
          <a:bodyPr/>
          <a:lstStyle/>
          <a:p>
            <a:r>
              <a:rPr lang="en-US"/>
              <a:t>copyright © 2017 Kevin M. Smith</a:t>
            </a:r>
          </a:p>
        </p:txBody>
      </p:sp>
      <p:sp>
        <p:nvSpPr>
          <p:cNvPr id="6" name="Slide Number Placeholder 5"/>
          <p:cNvSpPr>
            <a:spLocks noGrp="1"/>
          </p:cNvSpPr>
          <p:nvPr>
            <p:ph type="sldNum" sz="quarter" idx="12"/>
          </p:nvPr>
        </p:nvSpPr>
        <p:spPr/>
        <p:txBody>
          <a:bodyPr/>
          <a:lstStyle/>
          <a:p>
            <a:fld id="{E347792B-7BF8-4B18-9E81-3A6946432DE1}" type="slidenum">
              <a:rPr lang="en-US" smtClean="0"/>
              <a:t>‹#›</a:t>
            </a:fld>
            <a:endParaRPr lang="en-US"/>
          </a:p>
        </p:txBody>
      </p:sp>
    </p:spTree>
    <p:extLst>
      <p:ext uri="{BB962C8B-B14F-4D97-AF65-F5344CB8AC3E}">
        <p14:creationId xmlns:p14="http://schemas.microsoft.com/office/powerpoint/2010/main" val="2572215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A5CB5-5376-4B05-B033-DAE5282DD0BC}" type="datetime1">
              <a:rPr lang="en-US" smtClean="0"/>
              <a:t>9/23/2018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 2017 Kevin M. Smith</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47792B-7BF8-4B18-9E81-3A6946432DE1}" type="slidenum">
              <a:rPr lang="en-US" smtClean="0"/>
              <a:t>‹#›</a:t>
            </a:fld>
            <a:endParaRPr lang="en-US"/>
          </a:p>
        </p:txBody>
      </p:sp>
    </p:spTree>
    <p:extLst>
      <p:ext uri="{BB962C8B-B14F-4D97-AF65-F5344CB8AC3E}">
        <p14:creationId xmlns:p14="http://schemas.microsoft.com/office/powerpoint/2010/main" val="399788732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www.sidefx.com/docs/houdini/crowds/ragdoll.html"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vimeo.com/user51856450"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vimeo.com/192281670"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vimeo.com/187251471" TargetMode="External"/><Relationship Id="rId4" Type="http://schemas.openxmlformats.org/officeDocument/2006/relationships/hyperlink" Target="https://vimeo.com/192289026"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75000"/>
          </a:schemeClr>
        </a:solidFill>
        <a:effectLst/>
      </p:bgPr>
    </p:bg>
    <p:spTree>
      <p:nvGrpSpPr>
        <p:cNvPr id="1" name=""/>
        <p:cNvGrpSpPr/>
        <p:nvPr/>
      </p:nvGrpSpPr>
      <p:grpSpPr>
        <a:xfrm>
          <a:off x="0" y="0"/>
          <a:ext cx="0" cy="0"/>
          <a:chOff x="0" y="0"/>
          <a:chExt cx="0" cy="0"/>
        </a:xfrm>
      </p:grpSpPr>
      <p:sp>
        <p:nvSpPr>
          <p:cNvPr id="25" name="Rectangle 11">
            <a:extLst>
              <a:ext uri="{FF2B5EF4-FFF2-40B4-BE49-F238E27FC236}">
                <a16:creationId xmlns:a16="http://schemas.microsoft.com/office/drawing/2014/main" id="{343ADA3E-BE07-4F26-9361-F12F5F5F316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3">
            <a:extLst>
              <a:ext uri="{FF2B5EF4-FFF2-40B4-BE49-F238E27FC236}">
                <a16:creationId xmlns:a16="http://schemas.microsoft.com/office/drawing/2014/main" id="{4EAB7026-E0C0-4521-B56A-B6CC4A6325A4}"/>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925" y="-479"/>
            <a:ext cx="9468701" cy="6858478"/>
          </a:xfrm>
          <a:custGeom>
            <a:avLst/>
            <a:gdLst>
              <a:gd name="connsiteX0" fmla="*/ 0 w 8078051"/>
              <a:gd name="connsiteY0" fmla="*/ 0 h 5829300"/>
              <a:gd name="connsiteX1" fmla="*/ 4453793 w 8078051"/>
              <a:gd name="connsiteY1" fmla="*/ 0 h 5829300"/>
              <a:gd name="connsiteX2" fmla="*/ 5363426 w 8078051"/>
              <a:gd name="connsiteY2" fmla="*/ 0 h 5829300"/>
              <a:gd name="connsiteX3" fmla="*/ 5368184 w 8078051"/>
              <a:gd name="connsiteY3" fmla="*/ 0 h 5829300"/>
              <a:gd name="connsiteX4" fmla="*/ 8078051 w 8078051"/>
              <a:gd name="connsiteY4" fmla="*/ 5829300 h 5829300"/>
              <a:gd name="connsiteX5" fmla="*/ 1743926 w 8078051"/>
              <a:gd name="connsiteY5" fmla="*/ 5829300 h 5829300"/>
              <a:gd name="connsiteX6" fmla="*/ 1744148 w 8078051"/>
              <a:gd name="connsiteY6" fmla="*/ 5828822 h 5829300"/>
              <a:gd name="connsiteX7" fmla="*/ 0 w 8078051"/>
              <a:gd name="connsiteY7" fmla="*/ 5828822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8051" h="5829300">
                <a:moveTo>
                  <a:pt x="0" y="0"/>
                </a:moveTo>
                <a:lnTo>
                  <a:pt x="4453793" y="0"/>
                </a:lnTo>
                <a:lnTo>
                  <a:pt x="5363426" y="0"/>
                </a:lnTo>
                <a:lnTo>
                  <a:pt x="5368184" y="0"/>
                </a:lnTo>
                <a:lnTo>
                  <a:pt x="8078051" y="5829300"/>
                </a:lnTo>
                <a:lnTo>
                  <a:pt x="1743926" y="5829300"/>
                </a:lnTo>
                <a:lnTo>
                  <a:pt x="1744148" y="5828822"/>
                </a:lnTo>
                <a:lnTo>
                  <a:pt x="0" y="5828822"/>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16">
            <a:extLst>
              <a:ext uri="{FF2B5EF4-FFF2-40B4-BE49-F238E27FC236}">
                <a16:creationId xmlns:a16="http://schemas.microsoft.com/office/drawing/2014/main" id="{10F3B50B-55C6-4818-B05E-24E5EED1905E}"/>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79"/>
            <a:ext cx="9324977" cy="6858479"/>
          </a:xfrm>
          <a:custGeom>
            <a:avLst/>
            <a:gdLst>
              <a:gd name="connsiteX0" fmla="*/ 1246925 w 9324977"/>
              <a:gd name="connsiteY0" fmla="*/ 0 h 6858479"/>
              <a:gd name="connsiteX1" fmla="*/ 5076797 w 9324977"/>
              <a:gd name="connsiteY1" fmla="*/ 0 h 6858479"/>
              <a:gd name="connsiteX2" fmla="*/ 6143025 w 9324977"/>
              <a:gd name="connsiteY2" fmla="*/ 0 h 6858479"/>
              <a:gd name="connsiteX3" fmla="*/ 6148602 w 9324977"/>
              <a:gd name="connsiteY3" fmla="*/ 0 h 6858479"/>
              <a:gd name="connsiteX4" fmla="*/ 9324977 w 9324977"/>
              <a:gd name="connsiteY4" fmla="*/ 6858478 h 6858479"/>
              <a:gd name="connsiteX5" fmla="*/ 3359025 w 9324977"/>
              <a:gd name="connsiteY5" fmla="*/ 6858478 h 6858479"/>
              <a:gd name="connsiteX6" fmla="*/ 3359025 w 9324977"/>
              <a:gd name="connsiteY6" fmla="*/ 6858479 h 6858479"/>
              <a:gd name="connsiteX7" fmla="*/ 0 w 9324977"/>
              <a:gd name="connsiteY7" fmla="*/ 6858479 h 6858479"/>
              <a:gd name="connsiteX8" fmla="*/ 0 w 9324977"/>
              <a:gd name="connsiteY8" fmla="*/ 479 h 6858479"/>
              <a:gd name="connsiteX9" fmla="*/ 1246925 w 9324977"/>
              <a:gd name="connsiteY9" fmla="*/ 479 h 68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24977" h="6858479">
                <a:moveTo>
                  <a:pt x="1246925" y="0"/>
                </a:moveTo>
                <a:lnTo>
                  <a:pt x="5076797" y="0"/>
                </a:lnTo>
                <a:lnTo>
                  <a:pt x="6143025" y="0"/>
                </a:lnTo>
                <a:lnTo>
                  <a:pt x="6148602" y="0"/>
                </a:lnTo>
                <a:lnTo>
                  <a:pt x="9324977" y="6858478"/>
                </a:lnTo>
                <a:lnTo>
                  <a:pt x="3359025" y="6858478"/>
                </a:lnTo>
                <a:lnTo>
                  <a:pt x="3359025" y="6858479"/>
                </a:lnTo>
                <a:lnTo>
                  <a:pt x="0" y="6858479"/>
                </a:lnTo>
                <a:lnTo>
                  <a:pt x="0" y="479"/>
                </a:lnTo>
                <a:lnTo>
                  <a:pt x="1246925" y="479"/>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 up of a logo&#10;&#10;Description generated with very high confidence">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2" name="Title 1">
            <a:extLst>
              <a:ext uri="{FF2B5EF4-FFF2-40B4-BE49-F238E27FC236}">
                <a16:creationId xmlns:a16="http://schemas.microsoft.com/office/drawing/2014/main" id="{BED09DB5-5978-4E0A-9D84-6428949B93E5}"/>
              </a:ext>
            </a:extLst>
          </p:cNvPr>
          <p:cNvSpPr>
            <a:spLocks noGrp="1"/>
          </p:cNvSpPr>
          <p:nvPr>
            <p:ph type="ctrTitle"/>
          </p:nvPr>
        </p:nvSpPr>
        <p:spPr>
          <a:xfrm>
            <a:off x="804671" y="2600324"/>
            <a:ext cx="6405753" cy="3277961"/>
          </a:xfrm>
        </p:spPr>
        <p:txBody>
          <a:bodyPr anchor="t">
            <a:normAutofit/>
          </a:bodyPr>
          <a:lstStyle/>
          <a:p>
            <a:pPr algn="l"/>
            <a:r>
              <a:rPr lang="en-US" sz="5400" dirty="0"/>
              <a:t>CS 134 Computer Game Design</a:t>
            </a:r>
          </a:p>
        </p:txBody>
      </p:sp>
      <p:sp>
        <p:nvSpPr>
          <p:cNvPr id="3" name="Subtitle 2">
            <a:extLst>
              <a:ext uri="{FF2B5EF4-FFF2-40B4-BE49-F238E27FC236}">
                <a16:creationId xmlns:a16="http://schemas.microsoft.com/office/drawing/2014/main" id="{36C6AE9A-2BEB-4C56-B297-BC12579D1D8C}"/>
              </a:ext>
            </a:extLst>
          </p:cNvPr>
          <p:cNvSpPr>
            <a:spLocks noGrp="1"/>
          </p:cNvSpPr>
          <p:nvPr>
            <p:ph type="subTitle" idx="1"/>
          </p:nvPr>
        </p:nvSpPr>
        <p:spPr>
          <a:xfrm>
            <a:off x="804672" y="1300450"/>
            <a:ext cx="4167376" cy="1155525"/>
          </a:xfrm>
        </p:spPr>
        <p:txBody>
          <a:bodyPr anchor="b">
            <a:normAutofit/>
          </a:bodyPr>
          <a:lstStyle/>
          <a:p>
            <a:pPr algn="l"/>
            <a:r>
              <a:rPr lang="en-US" sz="2000"/>
              <a:t>Instructor: Kevin M. Smith</a:t>
            </a:r>
          </a:p>
        </p:txBody>
      </p:sp>
      <p:sp>
        <p:nvSpPr>
          <p:cNvPr id="4" name="Footer Placeholder 3">
            <a:extLst>
              <a:ext uri="{FF2B5EF4-FFF2-40B4-BE49-F238E27FC236}">
                <a16:creationId xmlns:a16="http://schemas.microsoft.com/office/drawing/2014/main" id="{93832073-FAC5-49BC-895C-B564209CD2A3}"/>
              </a:ext>
            </a:extLst>
          </p:cNvPr>
          <p:cNvSpPr>
            <a:spLocks noGrp="1"/>
          </p:cNvSpPr>
          <p:nvPr>
            <p:ph type="ftr" sz="quarter" idx="11"/>
          </p:nvPr>
        </p:nvSpPr>
        <p:spPr>
          <a:xfrm>
            <a:off x="804672" y="6356350"/>
            <a:ext cx="4114800" cy="365125"/>
          </a:xfrm>
        </p:spPr>
        <p:txBody>
          <a:bodyPr>
            <a:normAutofit/>
          </a:bodyPr>
          <a:lstStyle/>
          <a:p>
            <a:pPr algn="l">
              <a:lnSpc>
                <a:spcPct val="90000"/>
              </a:lnSpc>
              <a:spcAft>
                <a:spcPts val="600"/>
              </a:spcAft>
            </a:pPr>
            <a:r>
              <a:rPr lang="en-US" sz="900">
                <a:solidFill>
                  <a:schemeClr val="tx1">
                    <a:lumMod val="85000"/>
                  </a:schemeClr>
                </a:solidFill>
              </a:rPr>
              <a:t>copyright © 2017 Kevin M. Smith, content Adapted from Jared Finder’s Slides from CS134 section 1</a:t>
            </a:r>
          </a:p>
        </p:txBody>
      </p:sp>
    </p:spTree>
    <p:extLst>
      <p:ext uri="{BB962C8B-B14F-4D97-AF65-F5344CB8AC3E}">
        <p14:creationId xmlns:p14="http://schemas.microsoft.com/office/powerpoint/2010/main" val="1731030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565030" y="572590"/>
            <a:ext cx="4798942" cy="707886"/>
          </a:xfrm>
          <a:prstGeom prst="rect">
            <a:avLst/>
          </a:prstGeom>
          <a:noFill/>
        </p:spPr>
        <p:txBody>
          <a:bodyPr wrap="none" rtlCol="0">
            <a:spAutoFit/>
          </a:bodyPr>
          <a:lstStyle/>
          <a:p>
            <a:r>
              <a:rPr lang="en-US" sz="4000" dirty="0"/>
              <a:t>CS 134 Course Outline</a:t>
            </a:r>
          </a:p>
        </p:txBody>
      </p:sp>
      <p:graphicFrame>
        <p:nvGraphicFramePr>
          <p:cNvPr id="11" name="Diagram 10">
            <a:extLst>
              <a:ext uri="{FF2B5EF4-FFF2-40B4-BE49-F238E27FC236}">
                <a16:creationId xmlns:a16="http://schemas.microsoft.com/office/drawing/2014/main" id="{287CBAA9-3AE7-4EB5-B258-099D2A155FB5}"/>
              </a:ext>
            </a:extLst>
          </p:cNvPr>
          <p:cNvGraphicFramePr/>
          <p:nvPr>
            <p:extLst>
              <p:ext uri="{D42A27DB-BD31-4B8C-83A1-F6EECF244321}">
                <p14:modId xmlns:p14="http://schemas.microsoft.com/office/powerpoint/2010/main" val="1044031633"/>
              </p:ext>
            </p:extLst>
          </p:nvPr>
        </p:nvGraphicFramePr>
        <p:xfrm>
          <a:off x="1374710" y="1946988"/>
          <a:ext cx="9768114" cy="32221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1">
            <a:extLst>
              <a:ext uri="{FF2B5EF4-FFF2-40B4-BE49-F238E27FC236}">
                <a16:creationId xmlns:a16="http://schemas.microsoft.com/office/drawing/2014/main" id="{3BBFEFC1-FA58-438E-9082-B0FAB6FDEA50}"/>
              </a:ext>
            </a:extLst>
          </p:cNvPr>
          <p:cNvSpPr/>
          <p:nvPr/>
        </p:nvSpPr>
        <p:spPr>
          <a:xfrm>
            <a:off x="4690550" y="2830608"/>
            <a:ext cx="1405450" cy="1589154"/>
          </a:xfrm>
          <a:prstGeom prst="rect">
            <a:avLst/>
          </a:prstGeom>
          <a:solidFill>
            <a:schemeClr val="accent1">
              <a:alpha val="16000"/>
            </a:schemeClr>
          </a:solidFill>
          <a:effectLst>
            <a:outerShdw blurRad="50800" dist="50800" dir="5400000" sx="37000" sy="37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A0C1CB47-B354-4FB8-816A-A7C46FA75E7E}"/>
              </a:ext>
            </a:extLst>
          </p:cNvPr>
          <p:cNvSpPr>
            <a:spLocks noGrp="1"/>
          </p:cNvSpPr>
          <p:nvPr>
            <p:ph type="ftr" sz="quarter" idx="11"/>
          </p:nvPr>
        </p:nvSpPr>
        <p:spPr/>
        <p:txBody>
          <a:bodyPr/>
          <a:lstStyle/>
          <a:p>
            <a:r>
              <a:rPr lang="en-US"/>
              <a:t>copyright © 2017 Kevin M. Smith</a:t>
            </a:r>
          </a:p>
        </p:txBody>
      </p:sp>
    </p:spTree>
    <p:extLst>
      <p:ext uri="{BB962C8B-B14F-4D97-AF65-F5344CB8AC3E}">
        <p14:creationId xmlns:p14="http://schemas.microsoft.com/office/powerpoint/2010/main" val="1671551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405364" y="706740"/>
            <a:ext cx="5419497" cy="646331"/>
          </a:xfrm>
          <a:prstGeom prst="rect">
            <a:avLst/>
          </a:prstGeom>
          <a:noFill/>
        </p:spPr>
        <p:txBody>
          <a:bodyPr wrap="none" rtlCol="0">
            <a:spAutoFit/>
          </a:bodyPr>
          <a:lstStyle/>
          <a:p>
            <a:r>
              <a:rPr lang="en-US" sz="3600" dirty="0"/>
              <a:t>Game Physics - Introduction</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454391"/>
            <a:ext cx="8635041" cy="5201424"/>
          </a:xfrm>
          <a:prstGeom prst="rect">
            <a:avLst/>
          </a:prstGeom>
          <a:noFill/>
        </p:spPr>
        <p:txBody>
          <a:bodyPr wrap="square" rtlCol="0">
            <a:spAutoFit/>
          </a:bodyPr>
          <a:lstStyle/>
          <a:p>
            <a:endParaRPr lang="en-US" sz="2000" b="1" dirty="0"/>
          </a:p>
          <a:p>
            <a:endParaRPr lang="en-US" sz="2400" dirty="0"/>
          </a:p>
          <a:p>
            <a:pPr marL="285750" indent="-285750">
              <a:buFont typeface="Arial" panose="020B0604020202020204" pitchFamily="34" charset="0"/>
              <a:buChar char="•"/>
            </a:pPr>
            <a:r>
              <a:rPr lang="en-US" sz="2400" dirty="0"/>
              <a:t>Game Physics try to simulate “real-world” behavior using the laws of physics – Newtons Laws of Motion</a:t>
            </a:r>
          </a:p>
          <a:p>
            <a:pPr marL="285750" indent="-285750">
              <a:buFont typeface="Arial" panose="020B0604020202020204" pitchFamily="34" charset="0"/>
              <a:buChar char="•"/>
            </a:pPr>
            <a:r>
              <a:rPr lang="en-US" sz="2400" dirty="0"/>
              <a:t>Game Simulations are not “exact” and we often provide optimizations that provide a results that looks good but also must run in real-time for game play.</a:t>
            </a:r>
          </a:p>
          <a:p>
            <a:pPr marL="285750" indent="-285750">
              <a:buFont typeface="Arial" panose="020B0604020202020204" pitchFamily="34" charset="0"/>
              <a:buChar char="•"/>
            </a:pPr>
            <a:r>
              <a:rPr lang="en-US" sz="2400" dirty="0"/>
              <a:t> A Physics Engine is a component in a game engine (or game engine “middleware”) that provides functionality for doing physics in games.</a:t>
            </a:r>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4712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31199" y="383574"/>
            <a:ext cx="8598444" cy="646331"/>
          </a:xfrm>
          <a:prstGeom prst="rect">
            <a:avLst/>
          </a:prstGeom>
          <a:noFill/>
        </p:spPr>
        <p:txBody>
          <a:bodyPr wrap="none" rtlCol="0">
            <a:spAutoFit/>
          </a:bodyPr>
          <a:lstStyle/>
          <a:p>
            <a:r>
              <a:rPr lang="en-US" sz="3600" dirty="0"/>
              <a:t>Game Physics – Types of Physical Simulations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2372325" y="706740"/>
            <a:ext cx="8635041" cy="7232749"/>
          </a:xfrm>
          <a:prstGeom prst="rect">
            <a:avLst/>
          </a:prstGeom>
          <a:noFill/>
        </p:spPr>
        <p:txBody>
          <a:bodyPr wrap="square" rtlCol="0">
            <a:spAutoFit/>
          </a:bodyPr>
          <a:lstStyle/>
          <a:p>
            <a:endParaRPr lang="en-US" sz="2000" b="1" dirty="0"/>
          </a:p>
          <a:p>
            <a:endParaRPr lang="en-US" sz="2400" dirty="0"/>
          </a:p>
          <a:p>
            <a:pPr marL="285750" indent="-285750">
              <a:buFont typeface="Arial" panose="020B0604020202020204" pitchFamily="34" charset="0"/>
              <a:buChar char="•"/>
            </a:pPr>
            <a:r>
              <a:rPr lang="en-US" sz="2000" dirty="0"/>
              <a:t>Rigid Body </a:t>
            </a:r>
          </a:p>
          <a:p>
            <a:pPr marL="742950" lvl="1" indent="-285750">
              <a:buFont typeface="Arial" panose="020B0604020202020204" pitchFamily="34" charset="0"/>
              <a:buChar char="•"/>
            </a:pPr>
            <a:r>
              <a:rPr lang="en-US" sz="2000" dirty="0"/>
              <a:t>Simulates motion/collision between non-deformable rigid bodies  (classic example:  bowling pins/bowling ball</a:t>
            </a:r>
          </a:p>
          <a:p>
            <a:pPr marL="285750" indent="-285750">
              <a:buFont typeface="Arial" panose="020B0604020202020204" pitchFamily="34" charset="0"/>
              <a:buChar char="•"/>
            </a:pPr>
            <a:r>
              <a:rPr lang="en-US" sz="2000" dirty="0"/>
              <a:t>Soft Body </a:t>
            </a:r>
          </a:p>
          <a:p>
            <a:pPr marL="742950" lvl="1" indent="-285750">
              <a:buFont typeface="Arial" panose="020B0604020202020204" pitchFamily="34" charset="0"/>
              <a:buChar char="•"/>
            </a:pPr>
            <a:r>
              <a:rPr lang="en-US" sz="2000" dirty="0"/>
              <a:t>Simulates motion/collision between soft bodies.  An example would be cloth.</a:t>
            </a:r>
          </a:p>
          <a:p>
            <a:pPr marL="285750" indent="-285750">
              <a:buFont typeface="Arial" panose="020B0604020202020204" pitchFamily="34" charset="0"/>
              <a:buChar char="•"/>
            </a:pPr>
            <a:r>
              <a:rPr lang="en-US" sz="2000" dirty="0"/>
              <a:t> Rag Doll</a:t>
            </a:r>
          </a:p>
          <a:p>
            <a:pPr marL="742950" lvl="1" indent="-285750">
              <a:buFont typeface="Arial" panose="020B0604020202020204" pitchFamily="34" charset="0"/>
              <a:buChar char="•"/>
            </a:pPr>
            <a:r>
              <a:rPr lang="en-US" sz="2000" dirty="0"/>
              <a:t>Simulates the dynamics of a living body (typically Human)</a:t>
            </a:r>
          </a:p>
          <a:p>
            <a:pPr marL="742950" lvl="1" indent="-285750">
              <a:buFont typeface="Arial" panose="020B0604020202020204" pitchFamily="34" charset="0"/>
              <a:buChar char="•"/>
            </a:pPr>
            <a:r>
              <a:rPr lang="en-US" sz="2000" dirty="0">
                <a:hlinkClick r:id="rId3"/>
              </a:rPr>
              <a:t>http://www.sidefx.com/docs/houdini/crowds/ragdoll.html</a:t>
            </a:r>
            <a:endParaRPr lang="en-US" sz="2000" dirty="0"/>
          </a:p>
          <a:p>
            <a:pPr marL="285750" indent="-285750">
              <a:buFont typeface="Arial" panose="020B0604020202020204" pitchFamily="34" charset="0"/>
              <a:buChar char="•"/>
            </a:pPr>
            <a:r>
              <a:rPr lang="en-US" sz="2000" dirty="0"/>
              <a:t>Water/Ocean</a:t>
            </a:r>
          </a:p>
          <a:p>
            <a:pPr marL="742950" lvl="1" indent="-285750">
              <a:buFont typeface="Arial" panose="020B0604020202020204" pitchFamily="34" charset="0"/>
              <a:buChar char="•"/>
            </a:pPr>
            <a:r>
              <a:rPr lang="en-US" sz="2000" dirty="0"/>
              <a:t>Simulates water (although real-time solutions are challenging!)</a:t>
            </a:r>
          </a:p>
          <a:p>
            <a:pPr marL="742950" lvl="1" indent="-285750">
              <a:buFont typeface="Arial" panose="020B0604020202020204" pitchFamily="34" charset="0"/>
              <a:buChar char="•"/>
            </a:pPr>
            <a:r>
              <a:rPr lang="en-US" sz="2000" dirty="0">
                <a:hlinkClick r:id="rId4"/>
              </a:rPr>
              <a:t>https://vimeo.com/user51856450</a:t>
            </a:r>
            <a:endParaRPr lang="en-US" sz="2000" dirty="0"/>
          </a:p>
          <a:p>
            <a:pPr marL="285750" indent="-285750">
              <a:buFont typeface="Arial" panose="020B0604020202020204" pitchFamily="34" charset="0"/>
              <a:buChar char="•"/>
            </a:pPr>
            <a:r>
              <a:rPr lang="en-US" sz="2000" dirty="0"/>
              <a:t>Hair/Fur</a:t>
            </a:r>
          </a:p>
          <a:p>
            <a:pPr marL="742950" lvl="1" indent="-285750">
              <a:buFont typeface="Arial" panose="020B0604020202020204" pitchFamily="34" charset="0"/>
              <a:buChar char="•"/>
            </a:pPr>
            <a:r>
              <a:rPr lang="en-US" sz="2000" dirty="0"/>
              <a:t>True simulation of hair/fur – sometimes “faked” with particles or dynamics on a joint chain (skeleton).</a:t>
            </a:r>
          </a:p>
          <a:p>
            <a:pPr marL="742950" lvl="1" indent="-285750">
              <a:buFont typeface="Arial" panose="020B0604020202020204" pitchFamily="34" charset="0"/>
              <a:buChar char="•"/>
            </a:pPr>
            <a:endParaRPr lang="en-US" sz="2400" dirty="0"/>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97839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7" end="7"/>
                                            </p:txEl>
                                          </p:spTgt>
                                        </p:tgtEl>
                                        <p:attrNameLst>
                                          <p:attrName>style.visibility</p:attrName>
                                        </p:attrNameLst>
                                      </p:cBhvr>
                                      <p:to>
                                        <p:strVal val="visible"/>
                                      </p:to>
                                    </p:set>
                                    <p:animEffect transition="in" filter="fade">
                                      <p:cBhvr>
                                        <p:cTn id="32" dur="500"/>
                                        <p:tgtEl>
                                          <p:spTgt spid="8">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animEffect transition="in" filter="fade">
                                      <p:cBhvr>
                                        <p:cTn id="37" dur="500"/>
                                        <p:tgtEl>
                                          <p:spTgt spid="8">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9" end="9"/>
                                            </p:txEl>
                                          </p:spTgt>
                                        </p:tgtEl>
                                        <p:attrNameLst>
                                          <p:attrName>style.visibility</p:attrName>
                                        </p:attrNameLst>
                                      </p:cBhvr>
                                      <p:to>
                                        <p:strVal val="visible"/>
                                      </p:to>
                                    </p:set>
                                    <p:animEffect transition="in" filter="fade">
                                      <p:cBhvr>
                                        <p:cTn id="42" dur="500"/>
                                        <p:tgtEl>
                                          <p:spTgt spid="8">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animEffect transition="in" filter="fade">
                                      <p:cBhvr>
                                        <p:cTn id="47" dur="500"/>
                                        <p:tgtEl>
                                          <p:spTgt spid="8">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11" end="11"/>
                                            </p:txEl>
                                          </p:spTgt>
                                        </p:tgtEl>
                                        <p:attrNameLst>
                                          <p:attrName>style.visibility</p:attrName>
                                        </p:attrNameLst>
                                      </p:cBhvr>
                                      <p:to>
                                        <p:strVal val="visible"/>
                                      </p:to>
                                    </p:set>
                                    <p:animEffect transition="in" filter="fade">
                                      <p:cBhvr>
                                        <p:cTn id="52" dur="500"/>
                                        <p:tgtEl>
                                          <p:spTgt spid="8">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
                                            <p:txEl>
                                              <p:pRg st="12" end="12"/>
                                            </p:txEl>
                                          </p:spTgt>
                                        </p:tgtEl>
                                        <p:attrNameLst>
                                          <p:attrName>style.visibility</p:attrName>
                                        </p:attrNameLst>
                                      </p:cBhvr>
                                      <p:to>
                                        <p:strVal val="visible"/>
                                      </p:to>
                                    </p:set>
                                    <p:animEffect transition="in" filter="fade">
                                      <p:cBhvr>
                                        <p:cTn id="57" dur="500"/>
                                        <p:tgtEl>
                                          <p:spTgt spid="8">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
                                            <p:txEl>
                                              <p:pRg st="13" end="13"/>
                                            </p:txEl>
                                          </p:spTgt>
                                        </p:tgtEl>
                                        <p:attrNameLst>
                                          <p:attrName>style.visibility</p:attrName>
                                        </p:attrNameLst>
                                      </p:cBhvr>
                                      <p:to>
                                        <p:strVal val="visible"/>
                                      </p:to>
                                    </p:set>
                                    <p:animEffect transition="in" filter="fade">
                                      <p:cBhvr>
                                        <p:cTn id="62" dur="500"/>
                                        <p:tgtEl>
                                          <p:spTgt spid="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331650" y="182429"/>
            <a:ext cx="5621282" cy="584775"/>
          </a:xfrm>
          <a:prstGeom prst="rect">
            <a:avLst/>
          </a:prstGeom>
          <a:noFill/>
        </p:spPr>
        <p:txBody>
          <a:bodyPr wrap="none" rtlCol="0">
            <a:spAutoFit/>
          </a:bodyPr>
          <a:lstStyle/>
          <a:p>
            <a:r>
              <a:rPr lang="en-US" sz="3200" dirty="0"/>
              <a:t>Game Physics  - Cloth Simulation</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33" name="TextBox 32">
            <a:extLst>
              <a:ext uri="{FF2B5EF4-FFF2-40B4-BE49-F238E27FC236}">
                <a16:creationId xmlns:a16="http://schemas.microsoft.com/office/drawing/2014/main" id="{D5655725-D7E1-4559-B840-B6C22D500E7B}"/>
              </a:ext>
            </a:extLst>
          </p:cNvPr>
          <p:cNvSpPr txBox="1"/>
          <p:nvPr/>
        </p:nvSpPr>
        <p:spPr>
          <a:xfrm>
            <a:off x="590518" y="2546113"/>
            <a:ext cx="5505482"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t>Stuart Little</a:t>
            </a:r>
          </a:p>
          <a:p>
            <a:pPr marL="742950" lvl="1" indent="-285750">
              <a:buFont typeface="Arial" panose="020B0604020202020204" pitchFamily="34" charset="0"/>
              <a:buChar char="•"/>
            </a:pPr>
            <a:r>
              <a:rPr lang="en-US" sz="2000" dirty="0"/>
              <a:t>Sony </a:t>
            </a:r>
            <a:r>
              <a:rPr lang="en-US" sz="2000" dirty="0" err="1"/>
              <a:t>ImageWorks</a:t>
            </a:r>
            <a:r>
              <a:rPr lang="en-US" sz="2000" dirty="0"/>
              <a:t> + Alias Maya</a:t>
            </a:r>
          </a:p>
          <a:p>
            <a:pPr marL="742950" lvl="1" indent="-285750">
              <a:buFont typeface="Arial" panose="020B0604020202020204" pitchFamily="34" charset="0"/>
              <a:buChar char="•"/>
            </a:pPr>
            <a:r>
              <a:rPr lang="en-US" sz="2000" dirty="0"/>
              <a:t>Cloth Simulation done in Maya</a:t>
            </a:r>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p:txBody>
      </p:sp>
      <p:pic>
        <p:nvPicPr>
          <p:cNvPr id="35" name="Picture 34" descr="A picture containing small, car, little, person&#10;&#10;Description generated with very high confidence">
            <a:extLst>
              <a:ext uri="{FF2B5EF4-FFF2-40B4-BE49-F238E27FC236}">
                <a16:creationId xmlns:a16="http://schemas.microsoft.com/office/drawing/2014/main" id="{2E546FB3-BCD0-4B22-885A-BD487C11B9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8750" y="1990432"/>
            <a:ext cx="6029325" cy="3542230"/>
          </a:xfrm>
          <a:prstGeom prst="rect">
            <a:avLst/>
          </a:prstGeom>
        </p:spPr>
      </p:pic>
    </p:spTree>
    <p:extLst>
      <p:ext uri="{BB962C8B-B14F-4D97-AF65-F5344CB8AC3E}">
        <p14:creationId xmlns:p14="http://schemas.microsoft.com/office/powerpoint/2010/main" val="3890757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405364" y="706740"/>
            <a:ext cx="8598444" cy="646331"/>
          </a:xfrm>
          <a:prstGeom prst="rect">
            <a:avLst/>
          </a:prstGeom>
          <a:noFill/>
        </p:spPr>
        <p:txBody>
          <a:bodyPr wrap="none" rtlCol="0">
            <a:spAutoFit/>
          </a:bodyPr>
          <a:lstStyle/>
          <a:p>
            <a:r>
              <a:rPr lang="en-US" sz="3600" dirty="0"/>
              <a:t>Game Physics – Types of Physical Simulations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2060922" y="1029905"/>
            <a:ext cx="8635041" cy="7048083"/>
          </a:xfrm>
          <a:prstGeom prst="rect">
            <a:avLst/>
          </a:prstGeom>
          <a:noFill/>
        </p:spPr>
        <p:txBody>
          <a:bodyPr wrap="square" rtlCol="0">
            <a:spAutoFit/>
          </a:bodyPr>
          <a:lstStyle/>
          <a:p>
            <a:endParaRPr lang="en-US" sz="2000" b="1" dirty="0"/>
          </a:p>
          <a:p>
            <a:endParaRPr lang="en-US" sz="2400" dirty="0"/>
          </a:p>
          <a:p>
            <a:pPr marL="285750" indent="-285750">
              <a:buFont typeface="Arial" panose="020B0604020202020204" pitchFamily="34" charset="0"/>
              <a:buChar char="•"/>
            </a:pPr>
            <a:r>
              <a:rPr lang="en-US" sz="2400" dirty="0"/>
              <a:t>Particle</a:t>
            </a:r>
          </a:p>
          <a:p>
            <a:pPr marL="742950" lvl="1" indent="-285750">
              <a:buFont typeface="Arial" panose="020B0604020202020204" pitchFamily="34" charset="0"/>
              <a:buChar char="•"/>
            </a:pPr>
            <a:r>
              <a:rPr lang="en-US" sz="2400" dirty="0"/>
              <a:t> Simulation of particle motion with forces (ex: gravity, drag). Many uses:</a:t>
            </a:r>
          </a:p>
          <a:p>
            <a:pPr marL="1200150" lvl="2" indent="-285750">
              <a:buFont typeface="Arial" panose="020B0604020202020204" pitchFamily="34" charset="0"/>
              <a:buChar char="•"/>
            </a:pPr>
            <a:r>
              <a:rPr lang="en-US" sz="2400" dirty="0"/>
              <a:t>Explosions, Fire, Flocking, Laser Beams</a:t>
            </a:r>
          </a:p>
          <a:p>
            <a:pPr marL="1200150" lvl="2" indent="-285750">
              <a:buFont typeface="Arial" panose="020B0604020202020204" pitchFamily="34" charset="0"/>
              <a:buChar char="•"/>
            </a:pPr>
            <a:r>
              <a:rPr lang="en-US" sz="2400" dirty="0"/>
              <a:t>Can be made fast with lower particle counts</a:t>
            </a:r>
          </a:p>
          <a:p>
            <a:pPr marL="1200150" lvl="2" indent="-285750">
              <a:buFont typeface="Arial" panose="020B0604020202020204" pitchFamily="34" charset="0"/>
              <a:buChar char="•"/>
            </a:pPr>
            <a:r>
              <a:rPr lang="en-US" sz="2400" dirty="0"/>
              <a:t>Relatively Simple to Implement</a:t>
            </a:r>
          </a:p>
          <a:p>
            <a:pPr marL="1200150" lvl="2" indent="-285750">
              <a:buFont typeface="Arial" panose="020B0604020202020204" pitchFamily="34" charset="0"/>
              <a:buChar char="•"/>
            </a:pPr>
            <a:r>
              <a:rPr lang="en-US" sz="2400" dirty="0"/>
              <a:t>We will implement a simple particle engine in this class.</a:t>
            </a:r>
          </a:p>
          <a:p>
            <a:pPr marL="1200150" lvl="2" indent="-285750">
              <a:buFont typeface="Arial" panose="020B0604020202020204" pitchFamily="34" charset="0"/>
              <a:buChar char="•"/>
            </a:pPr>
            <a:r>
              <a:rPr lang="en-US" sz="2400" dirty="0"/>
              <a:t>Some demo examples (VIMEO)</a:t>
            </a:r>
          </a:p>
          <a:p>
            <a:pPr marL="1657350" lvl="3" indent="-285750">
              <a:buFont typeface="Arial" panose="020B0604020202020204" pitchFamily="34" charset="0"/>
              <a:buChar char="•"/>
            </a:pPr>
            <a:r>
              <a:rPr lang="en-US" sz="2000" dirty="0">
                <a:hlinkClick r:id="rId3"/>
              </a:rPr>
              <a:t>https://vimeo.com/192281670</a:t>
            </a:r>
            <a:endParaRPr lang="en-US" sz="2000" dirty="0"/>
          </a:p>
          <a:p>
            <a:pPr marL="1657350" lvl="3" indent="-285750">
              <a:buFont typeface="Arial" panose="020B0604020202020204" pitchFamily="34" charset="0"/>
              <a:buChar char="•"/>
            </a:pPr>
            <a:r>
              <a:rPr lang="en-US" sz="2000" dirty="0">
                <a:hlinkClick r:id="rId4"/>
              </a:rPr>
              <a:t>https://vimeo.com/192289026</a:t>
            </a:r>
            <a:endParaRPr lang="en-US" sz="2000" dirty="0"/>
          </a:p>
          <a:p>
            <a:pPr marL="1657350" lvl="3" indent="-285750">
              <a:buFont typeface="Arial" panose="020B0604020202020204" pitchFamily="34" charset="0"/>
              <a:buChar char="•"/>
            </a:pPr>
            <a:r>
              <a:rPr lang="en-US" sz="2000" dirty="0">
                <a:hlinkClick r:id="rId5"/>
              </a:rPr>
              <a:t>https://vimeo.com/187251471</a:t>
            </a:r>
            <a:endParaRPr lang="en-US" sz="2000" dirty="0"/>
          </a:p>
          <a:p>
            <a:pPr lvl="3"/>
            <a:endParaRPr lang="en-US" sz="2400" dirty="0"/>
          </a:p>
          <a:p>
            <a:pPr lvl="1"/>
            <a:endParaRPr lang="en-US" sz="2400" dirty="0"/>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63369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7" end="7"/>
                                            </p:txEl>
                                          </p:spTgt>
                                        </p:tgtEl>
                                        <p:attrNameLst>
                                          <p:attrName>style.visibility</p:attrName>
                                        </p:attrNameLst>
                                      </p:cBhvr>
                                      <p:to>
                                        <p:strVal val="visible"/>
                                      </p:to>
                                    </p:set>
                                    <p:animEffect transition="in" filter="fade">
                                      <p:cBhvr>
                                        <p:cTn id="32" dur="500"/>
                                        <p:tgtEl>
                                          <p:spTgt spid="8">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animEffect transition="in" filter="fade">
                                      <p:cBhvr>
                                        <p:cTn id="37" dur="500"/>
                                        <p:tgtEl>
                                          <p:spTgt spid="8">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9" end="9"/>
                                            </p:txEl>
                                          </p:spTgt>
                                        </p:tgtEl>
                                        <p:attrNameLst>
                                          <p:attrName>style.visibility</p:attrName>
                                        </p:attrNameLst>
                                      </p:cBhvr>
                                      <p:to>
                                        <p:strVal val="visible"/>
                                      </p:to>
                                    </p:set>
                                    <p:animEffect transition="in" filter="fade">
                                      <p:cBhvr>
                                        <p:cTn id="42" dur="500"/>
                                        <p:tgtEl>
                                          <p:spTgt spid="8">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animEffect transition="in" filter="fade">
                                      <p:cBhvr>
                                        <p:cTn id="47" dur="500"/>
                                        <p:tgtEl>
                                          <p:spTgt spid="8">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11" end="11"/>
                                            </p:txEl>
                                          </p:spTgt>
                                        </p:tgtEl>
                                        <p:attrNameLst>
                                          <p:attrName>style.visibility</p:attrName>
                                        </p:attrNameLst>
                                      </p:cBhvr>
                                      <p:to>
                                        <p:strVal val="visible"/>
                                      </p:to>
                                    </p:set>
                                    <p:animEffect transition="in" filter="fade">
                                      <p:cBhvr>
                                        <p:cTn id="52" dur="500"/>
                                        <p:tgtEl>
                                          <p:spTgt spid="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405364" y="706740"/>
            <a:ext cx="8554265" cy="646331"/>
          </a:xfrm>
          <a:prstGeom prst="rect">
            <a:avLst/>
          </a:prstGeom>
          <a:noFill/>
        </p:spPr>
        <p:txBody>
          <a:bodyPr wrap="none" rtlCol="0">
            <a:spAutoFit/>
          </a:bodyPr>
          <a:lstStyle/>
          <a:p>
            <a:r>
              <a:rPr lang="en-US" sz="3600" dirty="0"/>
              <a:t>Ballistic Motion – Basic Particle Mathematics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2136471" y="1160777"/>
            <a:ext cx="8635041" cy="6309420"/>
          </a:xfrm>
          <a:prstGeom prst="rect">
            <a:avLst/>
          </a:prstGeom>
          <a:noFill/>
        </p:spPr>
        <p:txBody>
          <a:bodyPr wrap="square" rtlCol="0">
            <a:spAutoFit/>
          </a:bodyPr>
          <a:lstStyle/>
          <a:p>
            <a:endParaRPr lang="en-US" sz="2000" b="1" dirty="0"/>
          </a:p>
          <a:p>
            <a:endParaRPr lang="en-US" sz="2400" dirty="0"/>
          </a:p>
          <a:p>
            <a:pPr marL="285750" indent="-285750">
              <a:buFont typeface="Arial" panose="020B0604020202020204" pitchFamily="34" charset="0"/>
              <a:buChar char="•"/>
            </a:pPr>
            <a:r>
              <a:rPr lang="en-US" sz="2400" b="1" dirty="0">
                <a:solidFill>
                  <a:schemeClr val="accent4"/>
                </a:solidFill>
              </a:rPr>
              <a:t>Velocity</a:t>
            </a:r>
            <a:r>
              <a:rPr lang="en-US" sz="2400" dirty="0"/>
              <a:t> is the direction an object position changes over time. It’s a vector.</a:t>
            </a:r>
          </a:p>
          <a:p>
            <a:pPr marL="285750" indent="-285750">
              <a:buFont typeface="Arial" panose="020B0604020202020204" pitchFamily="34" charset="0"/>
              <a:buChar char="•"/>
            </a:pPr>
            <a:r>
              <a:rPr lang="en-US" sz="2400" b="1" dirty="0">
                <a:solidFill>
                  <a:schemeClr val="accent4"/>
                </a:solidFill>
              </a:rPr>
              <a:t>Speed</a:t>
            </a:r>
            <a:r>
              <a:rPr lang="en-US" sz="2400" dirty="0"/>
              <a:t> is a scalar.  We can denote speed by the magnitude or length of the velocity vector.</a:t>
            </a:r>
          </a:p>
          <a:p>
            <a:pPr marL="285750" indent="-285750">
              <a:buFont typeface="Arial" panose="020B0604020202020204" pitchFamily="34" charset="0"/>
              <a:buChar char="•"/>
            </a:pPr>
            <a:r>
              <a:rPr lang="en-US" sz="2400" b="1" dirty="0">
                <a:solidFill>
                  <a:schemeClr val="accent4"/>
                </a:solidFill>
              </a:rPr>
              <a:t>Acceleration</a:t>
            </a:r>
            <a:r>
              <a:rPr lang="en-US" sz="2400" dirty="0"/>
              <a:t> is the mount of change in velocity over time. Acceleration is vector. </a:t>
            </a:r>
          </a:p>
          <a:p>
            <a:pPr marL="285750" indent="-285750">
              <a:buFont typeface="Arial" panose="020B0604020202020204" pitchFamily="34" charset="0"/>
              <a:buChar char="•"/>
            </a:pPr>
            <a:r>
              <a:rPr lang="en-US" sz="2400" dirty="0"/>
              <a:t>In a particle engine, given the acceleration of particle, the velocity and position of a particle is updated by the engine each time step (ex: once every frame).</a:t>
            </a:r>
          </a:p>
          <a:p>
            <a:pPr marL="285750" indent="-285750">
              <a:buFont typeface="Arial" panose="020B0604020202020204" pitchFamily="34" charset="0"/>
              <a:buChar char="•"/>
            </a:pPr>
            <a:r>
              <a:rPr lang="en-US" sz="2400" dirty="0"/>
              <a:t>Acceleration and other external forces are provided  (typically as vectors)</a:t>
            </a:r>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39482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405364" y="706740"/>
            <a:ext cx="7247818" cy="646331"/>
          </a:xfrm>
          <a:prstGeom prst="rect">
            <a:avLst/>
          </a:prstGeom>
          <a:noFill/>
        </p:spPr>
        <p:txBody>
          <a:bodyPr wrap="none" rtlCol="0">
            <a:spAutoFit/>
          </a:bodyPr>
          <a:lstStyle/>
          <a:p>
            <a:r>
              <a:rPr lang="en-US" sz="3600" dirty="0"/>
              <a:t>Ballistics – Basic Particle Mathematics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FCBBA6-3D6E-4193-A526-C1CC6FA761FF}"/>
                  </a:ext>
                </a:extLst>
              </p:cNvPr>
              <p:cNvSpPr txBox="1"/>
              <p:nvPr/>
            </p:nvSpPr>
            <p:spPr>
              <a:xfrm>
                <a:off x="1951913" y="982937"/>
                <a:ext cx="9440337" cy="7786747"/>
              </a:xfrm>
              <a:prstGeom prst="rect">
                <a:avLst/>
              </a:prstGeom>
              <a:noFill/>
            </p:spPr>
            <p:txBody>
              <a:bodyPr wrap="square" rtlCol="0">
                <a:spAutoFit/>
              </a:bodyPr>
              <a:lstStyle/>
              <a:p>
                <a:endParaRPr lang="en-US" sz="2000" b="1" dirty="0"/>
              </a:p>
              <a:p>
                <a:endParaRPr lang="en-US" sz="2400" dirty="0"/>
              </a:p>
              <a:p>
                <a:pPr marL="285750" indent="-285750">
                  <a:buFont typeface="Arial" panose="020B0604020202020204" pitchFamily="34" charset="0"/>
                  <a:buChar char="•"/>
                </a:pPr>
                <a:r>
                  <a:rPr lang="en-US" sz="2400" dirty="0">
                    <a:solidFill>
                      <a:schemeClr val="accent4"/>
                    </a:solidFill>
                  </a:rPr>
                  <a:t>Velocity</a:t>
                </a:r>
                <a:r>
                  <a:rPr lang="en-US" sz="2400" dirty="0"/>
                  <a:t> can be expressed as a derivative of the position over time:</a:t>
                </a:r>
                <a:br>
                  <a:rPr lang="en-US" sz="2400" dirty="0"/>
                </a:br>
                <a:endParaRPr lang="en-US" sz="2400" dirty="0"/>
              </a:p>
              <a:p>
                <a:pPr marL="742950" lvl="1" indent="-285750">
                  <a:buFont typeface="Arial" panose="020B0604020202020204" pitchFamily="34" charset="0"/>
                  <a:buChar char="•"/>
                </a:pPr>
                <a14:m>
                  <m:oMath xmlns:m="http://schemas.openxmlformats.org/officeDocument/2006/math">
                    <m:func>
                      <m:funcPr>
                        <m:ctrlPr>
                          <a:rPr lang="pt-BR" sz="2400" b="0" i="1" smtClean="0">
                            <a:latin typeface="Cambria Math" panose="02040503050406030204" pitchFamily="18" charset="0"/>
                          </a:rPr>
                        </m:ctrlPr>
                      </m:funcPr>
                      <m:fName>
                        <m:limLow>
                          <m:limLowPr>
                            <m:ctrlPr>
                              <a:rPr lang="pt-BR" sz="2400" b="0" i="1" smtClean="0">
                                <a:latin typeface="Cambria Math" panose="02040503050406030204" pitchFamily="18" charset="0"/>
                              </a:rPr>
                            </m:ctrlPr>
                          </m:limLowPr>
                          <m:e>
                            <m:r>
                              <m:rPr>
                                <m:sty m:val="p"/>
                              </m:rPr>
                              <a:rPr lang="pt-BR" sz="2400" b="0" i="0" smtClean="0">
                                <a:latin typeface="Cambria Math" panose="02040503050406030204" pitchFamily="18" charset="0"/>
                              </a:rPr>
                              <m:t>lim</m:t>
                            </m:r>
                          </m:e>
                          <m:lim>
                            <m:r>
                              <a:rPr lang="pt-BR"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pt-BR" sz="2400" b="0" i="1" smtClean="0">
                                <a:latin typeface="Cambria Math" panose="02040503050406030204" pitchFamily="18" charset="0"/>
                              </a:rPr>
                              <m:t>→</m:t>
                            </m:r>
                            <m:r>
                              <a:rPr lang="en-US" sz="2400" b="0" i="1" smtClean="0">
                                <a:latin typeface="Cambria Math" panose="02040503050406030204" pitchFamily="18" charset="0"/>
                              </a:rPr>
                              <m:t>0</m:t>
                            </m:r>
                          </m:lim>
                        </m:limLow>
                      </m:fName>
                      <m:e>
                        <m:r>
                          <a:rPr lang="pt-BR"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𝑇</m:t>
                        </m:r>
                      </m:e>
                    </m:func>
                  </m:oMath>
                </a14:m>
                <a:r>
                  <a:rPr lang="en-US" sz="2400" b="0" dirty="0"/>
                  <a:t>   -or- </a:t>
                </a:r>
              </a:p>
              <a:p>
                <a:pPr marL="742950" lvl="1" indent="-285750">
                  <a:buFont typeface="Arial" panose="020B0604020202020204" pitchFamily="34" charset="0"/>
                  <a:buChar char="•"/>
                </a:pPr>
                <a:r>
                  <a:rPr lang="en-US" sz="2400" dirty="0" err="1"/>
                  <a:t>dp</a:t>
                </a:r>
                <a:r>
                  <a:rPr lang="en-US" sz="2400" dirty="0"/>
                  <a:t>/</a:t>
                </a:r>
                <a:r>
                  <a:rPr lang="en-US" sz="2400" dirty="0" err="1"/>
                  <a:t>dt</a:t>
                </a:r>
                <a:br>
                  <a:rPr lang="en-US" sz="2400" dirty="0"/>
                </a:br>
                <a:endParaRPr lang="en-US" sz="2400" dirty="0"/>
              </a:p>
              <a:p>
                <a:pPr marL="285750" indent="-285750">
                  <a:buFont typeface="Arial" panose="020B0604020202020204" pitchFamily="34" charset="0"/>
                  <a:buChar char="•"/>
                </a:pPr>
                <a:r>
                  <a:rPr lang="en-US" sz="2400" dirty="0"/>
                  <a:t>Integration is the inverse of the derivative, If we integrate velocity we can get back position (at each time interval)</a:t>
                </a:r>
                <a:br>
                  <a:rPr lang="en-US" sz="2400" dirty="0"/>
                </a:br>
                <a:endParaRPr lang="en-US" sz="2400" dirty="0"/>
              </a:p>
              <a:p>
                <a:pPr marL="742950" lvl="1" indent="-285750">
                  <a:buFont typeface="Arial" panose="020B0604020202020204" pitchFamily="34" charset="0"/>
                  <a:buChar char="•"/>
                </a:pPr>
                <a:r>
                  <a:rPr lang="en-US" sz="2400" dirty="0">
                    <a:solidFill>
                      <a:schemeClr val="accent4"/>
                    </a:solidFill>
                  </a:rPr>
                  <a:t>p’ = p + </a:t>
                </a:r>
                <a:r>
                  <a:rPr lang="en-US" sz="2400" dirty="0" err="1">
                    <a:solidFill>
                      <a:schemeClr val="accent4"/>
                    </a:solidFill>
                  </a:rPr>
                  <a:t>vt</a:t>
                </a:r>
                <a:r>
                  <a:rPr lang="en-US" sz="2400" dirty="0"/>
                  <a:t>       (p and v are vectors)</a:t>
                </a:r>
              </a:p>
              <a:p>
                <a:pPr marL="742950" lvl="1" indent="-285750">
                  <a:buFont typeface="Arial" panose="020B0604020202020204" pitchFamily="34" charset="0"/>
                  <a:buChar char="•"/>
                </a:pPr>
                <a:endParaRPr lang="en-US" sz="2400" dirty="0"/>
              </a:p>
              <a:p>
                <a:r>
                  <a:rPr lang="en-US" sz="2000" dirty="0"/>
                  <a:t>*Where p is the particles position (x, y, z) and p’ is it’s updated position over the time interval t, given velocity v.</a:t>
                </a:r>
              </a:p>
              <a:p>
                <a:pPr marL="285750" indent="-285750">
                  <a:buFont typeface="Arial" panose="020B0604020202020204" pitchFamily="34" charset="0"/>
                  <a:buChar char="•"/>
                </a:pPr>
                <a:endParaRPr lang="en-US" sz="2400" dirty="0"/>
              </a:p>
              <a:p>
                <a:pPr marL="742950" lvl="1" indent="-285750">
                  <a:buFont typeface="Arial" panose="020B0604020202020204" pitchFamily="34" charset="0"/>
                  <a:buChar char="•"/>
                </a:pPr>
                <a:endParaRPr lang="en-US" sz="2400" dirty="0"/>
              </a:p>
              <a:p>
                <a:pPr lvl="1"/>
                <a:endParaRPr lang="en-US" sz="2400" dirty="0"/>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mc:Choice>
        <mc:Fallback xmlns="">
          <p:sp>
            <p:nvSpPr>
              <p:cNvPr id="8" name="TextBox 7">
                <a:extLst>
                  <a:ext uri="{FF2B5EF4-FFF2-40B4-BE49-F238E27FC236}">
                    <a16:creationId xmlns:a16="http://schemas.microsoft.com/office/drawing/2014/main" id="{57FCBBA6-3D6E-4193-A526-C1CC6FA761FF}"/>
                  </a:ext>
                </a:extLst>
              </p:cNvPr>
              <p:cNvSpPr txBox="1">
                <a:spLocks noRot="1" noChangeAspect="1" noMove="1" noResize="1" noEditPoints="1" noAdjustHandles="1" noChangeArrowheads="1" noChangeShapeType="1" noTextEdit="1"/>
              </p:cNvSpPr>
              <p:nvPr/>
            </p:nvSpPr>
            <p:spPr>
              <a:xfrm>
                <a:off x="1951913" y="982937"/>
                <a:ext cx="9440337" cy="7786747"/>
              </a:xfrm>
              <a:prstGeom prst="rect">
                <a:avLst/>
              </a:prstGeom>
              <a:blipFill>
                <a:blip r:embed="rId3"/>
                <a:stretch>
                  <a:fillRect l="-839"/>
                </a:stretch>
              </a:blipFill>
            </p:spPr>
            <p:txBody>
              <a:bodyPr/>
              <a:lstStyle/>
              <a:p>
                <a:r>
                  <a:rPr lang="en-US">
                    <a:noFill/>
                  </a:rPr>
                  <a:t> </a:t>
                </a:r>
              </a:p>
            </p:txBody>
          </p:sp>
        </mc:Fallback>
      </mc:AlternateContent>
    </p:spTree>
    <p:extLst>
      <p:ext uri="{BB962C8B-B14F-4D97-AF65-F5344CB8AC3E}">
        <p14:creationId xmlns:p14="http://schemas.microsoft.com/office/powerpoint/2010/main" val="171200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405364" y="706740"/>
            <a:ext cx="7247818" cy="646331"/>
          </a:xfrm>
          <a:prstGeom prst="rect">
            <a:avLst/>
          </a:prstGeom>
          <a:noFill/>
        </p:spPr>
        <p:txBody>
          <a:bodyPr wrap="none" rtlCol="0">
            <a:spAutoFit/>
          </a:bodyPr>
          <a:lstStyle/>
          <a:p>
            <a:r>
              <a:rPr lang="en-US" sz="3600" dirty="0"/>
              <a:t>Ballistics – Basic Particle Mathematics</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FCBBA6-3D6E-4193-A526-C1CC6FA761FF}"/>
                  </a:ext>
                </a:extLst>
              </p:cNvPr>
              <p:cNvSpPr txBox="1"/>
              <p:nvPr/>
            </p:nvSpPr>
            <p:spPr>
              <a:xfrm>
                <a:off x="1951913" y="982937"/>
                <a:ext cx="9440337" cy="7663636"/>
              </a:xfrm>
              <a:prstGeom prst="rect">
                <a:avLst/>
              </a:prstGeom>
              <a:noFill/>
            </p:spPr>
            <p:txBody>
              <a:bodyPr wrap="square" rtlCol="0">
                <a:spAutoFit/>
              </a:bodyPr>
              <a:lstStyle/>
              <a:p>
                <a:endParaRPr lang="en-US" sz="2000" b="1" dirty="0"/>
              </a:p>
              <a:p>
                <a:endParaRPr lang="en-US" sz="2400" dirty="0"/>
              </a:p>
              <a:p>
                <a:pPr marL="285750" indent="-285750">
                  <a:buFont typeface="Arial" panose="020B0604020202020204" pitchFamily="34" charset="0"/>
                  <a:buChar char="•"/>
                </a:pPr>
                <a:r>
                  <a:rPr lang="en-US" sz="2400" dirty="0">
                    <a:solidFill>
                      <a:schemeClr val="accent4"/>
                    </a:solidFill>
                  </a:rPr>
                  <a:t>Acceleration</a:t>
                </a:r>
                <a:r>
                  <a:rPr lang="en-US" sz="2400" dirty="0"/>
                  <a:t> can be expressed as a derivative of the velocity over time:</a:t>
                </a:r>
                <a:br>
                  <a:rPr lang="en-US" sz="2400" dirty="0"/>
                </a:br>
                <a:endParaRPr lang="en-US" sz="2400" dirty="0"/>
              </a:p>
              <a:p>
                <a:pPr marL="742950" lvl="1" indent="-285750">
                  <a:buFont typeface="Arial" panose="020B0604020202020204" pitchFamily="34" charset="0"/>
                  <a:buChar char="•"/>
                </a:pPr>
                <a14:m>
                  <m:oMath xmlns:m="http://schemas.openxmlformats.org/officeDocument/2006/math">
                    <m:func>
                      <m:funcPr>
                        <m:ctrlPr>
                          <a:rPr lang="pt-BR" sz="2400" b="0" i="1" smtClean="0">
                            <a:latin typeface="Cambria Math" panose="02040503050406030204" pitchFamily="18" charset="0"/>
                          </a:rPr>
                        </m:ctrlPr>
                      </m:funcPr>
                      <m:fName>
                        <m:limLow>
                          <m:limLowPr>
                            <m:ctrlPr>
                              <a:rPr lang="pt-BR" sz="2400" b="0" i="1" smtClean="0">
                                <a:latin typeface="Cambria Math" panose="02040503050406030204" pitchFamily="18" charset="0"/>
                              </a:rPr>
                            </m:ctrlPr>
                          </m:limLowPr>
                          <m:e>
                            <m:r>
                              <m:rPr>
                                <m:sty m:val="p"/>
                              </m:rPr>
                              <a:rPr lang="pt-BR" sz="2400" b="0" i="0" smtClean="0">
                                <a:latin typeface="Cambria Math" panose="02040503050406030204" pitchFamily="18" charset="0"/>
                              </a:rPr>
                              <m:t>lim</m:t>
                            </m:r>
                          </m:e>
                          <m:lim>
                            <m:r>
                              <a:rPr lang="pt-BR"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pt-BR" sz="2400" b="0" i="1" smtClean="0">
                                <a:latin typeface="Cambria Math" panose="02040503050406030204" pitchFamily="18" charset="0"/>
                              </a:rPr>
                              <m:t>→</m:t>
                            </m:r>
                            <m:r>
                              <a:rPr lang="en-US" sz="2400" b="0" i="1" smtClean="0">
                                <a:latin typeface="Cambria Math" panose="02040503050406030204" pitchFamily="18" charset="0"/>
                              </a:rPr>
                              <m:t>0</m:t>
                            </m:r>
                          </m:lim>
                        </m:limLow>
                      </m:fName>
                      <m:e>
                        <m:r>
                          <a:rPr lang="pt-BR"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𝑣</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𝑇</m:t>
                        </m:r>
                      </m:e>
                    </m:func>
                  </m:oMath>
                </a14:m>
                <a:r>
                  <a:rPr lang="en-US" sz="2400" b="0" dirty="0"/>
                  <a:t>   -or-</a:t>
                </a:r>
              </a:p>
              <a:p>
                <a:pPr marL="742950" lvl="1" indent="-285750">
                  <a:buFont typeface="Arial" panose="020B0604020202020204" pitchFamily="34" charset="0"/>
                  <a:buChar char="•"/>
                </a:pPr>
                <a:r>
                  <a:rPr lang="en-US" sz="2400" dirty="0"/>
                  <a:t>dv/</a:t>
                </a:r>
                <a:r>
                  <a:rPr lang="en-US" sz="2400" dirty="0" err="1"/>
                  <a:t>dt</a:t>
                </a:r>
                <a:br>
                  <a:rPr lang="en-US" sz="2400" dirty="0"/>
                </a:br>
                <a:endParaRPr lang="en-US" sz="2400" dirty="0"/>
              </a:p>
              <a:p>
                <a:pPr marL="285750" indent="-285750">
                  <a:buFont typeface="Arial" panose="020B0604020202020204" pitchFamily="34" charset="0"/>
                  <a:buChar char="•"/>
                </a:pPr>
                <a:r>
                  <a:rPr lang="en-US" sz="2400" dirty="0"/>
                  <a:t>Integration is the inverse of the derivative, If we integrate acceleration we can get back velocity.</a:t>
                </a:r>
                <a:br>
                  <a:rPr lang="en-US" sz="2400" dirty="0"/>
                </a:br>
                <a:endParaRPr lang="en-US" sz="2400" dirty="0"/>
              </a:p>
              <a:p>
                <a:pPr marL="742950" lvl="1" indent="-285750">
                  <a:buFont typeface="Arial" panose="020B0604020202020204" pitchFamily="34" charset="0"/>
                  <a:buChar char="•"/>
                </a:pPr>
                <a:r>
                  <a:rPr lang="en-US" sz="2400" dirty="0">
                    <a:solidFill>
                      <a:schemeClr val="accent4"/>
                    </a:solidFill>
                  </a:rPr>
                  <a:t>v’ = v + at</a:t>
                </a:r>
                <a:r>
                  <a:rPr lang="en-US" sz="2400" dirty="0"/>
                  <a:t>       (v and a are vectors)</a:t>
                </a:r>
              </a:p>
              <a:p>
                <a:pPr marL="742950" lvl="1" indent="-285750">
                  <a:buFont typeface="Arial" panose="020B0604020202020204" pitchFamily="34" charset="0"/>
                  <a:buChar char="•"/>
                </a:pPr>
                <a:endParaRPr lang="en-US" sz="2400" dirty="0"/>
              </a:p>
              <a:p>
                <a:r>
                  <a:rPr lang="en-US" sz="2000" dirty="0"/>
                  <a:t>*Where v is the particles velocity (</a:t>
                </a:r>
                <a:r>
                  <a:rPr lang="en-US" sz="2000" dirty="0" err="1"/>
                  <a:t>v.x</a:t>
                </a:r>
                <a:r>
                  <a:rPr lang="en-US" sz="2000" dirty="0"/>
                  <a:t>, </a:t>
                </a:r>
                <a:r>
                  <a:rPr lang="en-US" sz="2000" dirty="0" err="1"/>
                  <a:t>v.y</a:t>
                </a:r>
                <a:r>
                  <a:rPr lang="en-US" sz="2000" dirty="0"/>
                  <a:t>, </a:t>
                </a:r>
                <a:r>
                  <a:rPr lang="en-US" sz="2000" dirty="0" err="1"/>
                  <a:t>v.zz</a:t>
                </a:r>
                <a:r>
                  <a:rPr lang="en-US" sz="2000" dirty="0"/>
                  <a:t>) and v’ is it’s updated velocity over the time interval t, given acceleration a.</a:t>
                </a:r>
              </a:p>
              <a:p>
                <a:pPr marL="285750" indent="-285750">
                  <a:buFont typeface="Arial" panose="020B0604020202020204" pitchFamily="34" charset="0"/>
                  <a:buChar char="•"/>
                </a:pPr>
                <a:endParaRPr lang="en-US" sz="2400" dirty="0"/>
              </a:p>
              <a:p>
                <a:pPr marL="742950" lvl="1" indent="-285750">
                  <a:buFont typeface="Arial" panose="020B0604020202020204" pitchFamily="34" charset="0"/>
                  <a:buChar char="•"/>
                </a:pPr>
                <a:endParaRPr lang="en-US" sz="2400" dirty="0"/>
              </a:p>
              <a:p>
                <a:pPr lvl="1"/>
                <a:endParaRPr lang="en-US" sz="2400" dirty="0"/>
              </a:p>
              <a:p>
                <a:pPr lvl="1"/>
                <a:endParaRPr lang="en-US" sz="2400" dirty="0"/>
              </a:p>
              <a:p>
                <a:pPr lvl="1"/>
                <a:br>
                  <a:rPr lang="en-US" dirty="0"/>
                </a:br>
                <a:endParaRPr lang="en-US" dirty="0"/>
              </a:p>
              <a:p>
                <a:endParaRPr lang="en-US" dirty="0"/>
              </a:p>
              <a:p>
                <a:pPr marL="285750" indent="-285750">
                  <a:buFont typeface="Arial" panose="020B0604020202020204" pitchFamily="34" charset="0"/>
                  <a:buChar char="•"/>
                </a:pPr>
                <a:endParaRPr lang="en-US" dirty="0"/>
              </a:p>
            </p:txBody>
          </p:sp>
        </mc:Choice>
        <mc:Fallback xmlns="">
          <p:sp>
            <p:nvSpPr>
              <p:cNvPr id="8" name="TextBox 7">
                <a:extLst>
                  <a:ext uri="{FF2B5EF4-FFF2-40B4-BE49-F238E27FC236}">
                    <a16:creationId xmlns:a16="http://schemas.microsoft.com/office/drawing/2014/main" id="{57FCBBA6-3D6E-4193-A526-C1CC6FA761FF}"/>
                  </a:ext>
                </a:extLst>
              </p:cNvPr>
              <p:cNvSpPr txBox="1">
                <a:spLocks noRot="1" noChangeAspect="1" noMove="1" noResize="1" noEditPoints="1" noAdjustHandles="1" noChangeArrowheads="1" noChangeShapeType="1" noTextEdit="1"/>
              </p:cNvSpPr>
              <p:nvPr/>
            </p:nvSpPr>
            <p:spPr>
              <a:xfrm>
                <a:off x="1951913" y="982937"/>
                <a:ext cx="9440337" cy="7663636"/>
              </a:xfrm>
              <a:prstGeom prst="rect">
                <a:avLst/>
              </a:prstGeom>
              <a:blipFill>
                <a:blip r:embed="rId3"/>
                <a:stretch>
                  <a:fillRect l="-839" r="-904"/>
                </a:stretch>
              </a:blipFill>
            </p:spPr>
            <p:txBody>
              <a:bodyPr/>
              <a:lstStyle/>
              <a:p>
                <a:r>
                  <a:rPr lang="en-US">
                    <a:noFill/>
                  </a:rPr>
                  <a:t> </a:t>
                </a:r>
              </a:p>
            </p:txBody>
          </p:sp>
        </mc:Fallback>
      </mc:AlternateContent>
    </p:spTree>
    <p:extLst>
      <p:ext uri="{BB962C8B-B14F-4D97-AF65-F5344CB8AC3E}">
        <p14:creationId xmlns:p14="http://schemas.microsoft.com/office/powerpoint/2010/main" val="3054697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4491935" cy="646331"/>
          </a:xfrm>
          <a:prstGeom prst="rect">
            <a:avLst/>
          </a:prstGeom>
          <a:noFill/>
        </p:spPr>
        <p:txBody>
          <a:bodyPr wrap="none" rtlCol="0">
            <a:spAutoFit/>
          </a:bodyPr>
          <a:lstStyle/>
          <a:p>
            <a:r>
              <a:rPr lang="en-US" sz="3600" dirty="0"/>
              <a:t>Basic Particle Structure</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5755422"/>
          </a:xfrm>
          <a:prstGeom prst="rect">
            <a:avLst/>
          </a:prstGeom>
          <a:noFill/>
        </p:spPr>
        <p:txBody>
          <a:bodyPr wrap="square" rtlCol="0">
            <a:spAutoFit/>
          </a:bodyPr>
          <a:lstStyle/>
          <a:p>
            <a:r>
              <a:rPr lang="en-US" sz="2000" dirty="0"/>
              <a:t>Class Particle   {</a:t>
            </a:r>
          </a:p>
          <a:p>
            <a:r>
              <a:rPr lang="en-US" sz="2000" dirty="0"/>
              <a:t>   </a:t>
            </a:r>
          </a:p>
          <a:p>
            <a:r>
              <a:rPr lang="en-US" sz="2000" dirty="0"/>
              <a:t>      ofVec3f   position;           // position of the particle in world space</a:t>
            </a:r>
          </a:p>
          <a:p>
            <a:endParaRPr lang="en-US" sz="2000" dirty="0"/>
          </a:p>
          <a:p>
            <a:r>
              <a:rPr lang="en-US" sz="2000" dirty="0"/>
              <a:t>      ofVec3f    velocity;          // current velocity of particle</a:t>
            </a:r>
          </a:p>
          <a:p>
            <a:endParaRPr lang="en-US" sz="2000" dirty="0"/>
          </a:p>
          <a:p>
            <a:r>
              <a:rPr lang="en-US" sz="2000" dirty="0"/>
              <a:t>      ofVec3f     accel;              //  current acceleration of particle</a:t>
            </a:r>
          </a:p>
          <a:p>
            <a:endParaRPr lang="en-US" sz="2000" dirty="0"/>
          </a:p>
          <a:p>
            <a:r>
              <a:rPr lang="en-US" sz="2000" dirty="0"/>
              <a:t>      float          damping;        // damping</a:t>
            </a:r>
          </a:p>
          <a:p>
            <a:r>
              <a:rPr lang="en-US" sz="2000" dirty="0"/>
              <a:t>      float           mass;              // mass</a:t>
            </a:r>
          </a:p>
          <a:p>
            <a:r>
              <a:rPr lang="en-US" sz="2000" dirty="0"/>
              <a:t>}</a:t>
            </a:r>
          </a:p>
          <a:p>
            <a:endParaRPr lang="en-US" sz="2000" b="1" dirty="0"/>
          </a:p>
          <a:p>
            <a:pPr marL="342900" indent="-342900">
              <a:buFont typeface="Arial" panose="020B0604020202020204" pitchFamily="34" charset="0"/>
              <a:buChar char="•"/>
            </a:pPr>
            <a:r>
              <a:rPr lang="en-US" sz="2000" dirty="0"/>
              <a:t>Speed is the magnitude of velocity, so we won’t keep an extra element</a:t>
            </a:r>
          </a:p>
          <a:p>
            <a:pPr marL="342900" indent="-342900">
              <a:buFont typeface="Arial" panose="020B0604020202020204" pitchFamily="34" charset="0"/>
              <a:buChar char="•"/>
            </a:pPr>
            <a:r>
              <a:rPr lang="en-US" dirty="0"/>
              <a:t>Even though we may use particles in 2D or 3D, we will do all of our calculations in 3D world space.  It is not that expensive to carry the extra component and our code will work in both 2D and 3D games.</a:t>
            </a:r>
          </a:p>
          <a:p>
            <a:pPr marL="342900" indent="-342900">
              <a:buFont typeface="Arial" panose="020B0604020202020204" pitchFamily="34" charset="0"/>
              <a:buChar char="•"/>
            </a:pPr>
            <a:r>
              <a:rPr lang="en-US" dirty="0"/>
              <a:t>We try to keep our particle object very lightweight as we may have many of them.</a:t>
            </a:r>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610757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4491935" cy="646331"/>
          </a:xfrm>
          <a:prstGeom prst="rect">
            <a:avLst/>
          </a:prstGeom>
          <a:noFill/>
        </p:spPr>
        <p:txBody>
          <a:bodyPr wrap="none" rtlCol="0">
            <a:spAutoFit/>
          </a:bodyPr>
          <a:lstStyle/>
          <a:p>
            <a:r>
              <a:rPr lang="en-US" sz="3600" dirty="0"/>
              <a:t>Basic Particle Structure</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1658250" y="1102578"/>
            <a:ext cx="8635041" cy="3077766"/>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000" dirty="0">
                <a:solidFill>
                  <a:schemeClr val="accent4"/>
                </a:solidFill>
              </a:rPr>
              <a:t>Damping</a:t>
            </a:r>
          </a:p>
          <a:p>
            <a:pPr marL="800100" lvl="1" indent="-342900">
              <a:buFont typeface="Arial" panose="020B0604020202020204" pitchFamily="34" charset="0"/>
              <a:buChar char="•"/>
            </a:pPr>
            <a:r>
              <a:rPr lang="en-US" sz="2000" dirty="0"/>
              <a:t>Provides “drag” in the system so particles don’t move forever.</a:t>
            </a:r>
          </a:p>
          <a:p>
            <a:pPr marL="800100" lvl="1" indent="-342900">
              <a:buFont typeface="Arial" panose="020B0604020202020204" pitchFamily="34" charset="0"/>
              <a:buChar char="•"/>
            </a:pPr>
            <a:r>
              <a:rPr lang="en-US" sz="2000" dirty="0"/>
              <a:t>At each time step, removes a small amount of velocity.</a:t>
            </a:r>
          </a:p>
          <a:p>
            <a:pPr marL="800100" lvl="1" indent="-342900">
              <a:buFont typeface="Arial" panose="020B0604020202020204" pitchFamily="34" charset="0"/>
              <a:buChar char="•"/>
            </a:pPr>
            <a:r>
              <a:rPr lang="en-US" sz="2000" dirty="0"/>
              <a:t>We could implement drag as an external force, but for now, let’s add it to the particle to add some stability to the calculations. We will see how this is done.</a:t>
            </a:r>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2882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500"/>
                                        <p:tgtEl>
                                          <p:spTgt spid="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500"/>
                                        <p:tgtEl>
                                          <p:spTgt spid="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5FBB94-AEE0-4759-9E11-E7868675D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426" y="6361740"/>
            <a:ext cx="2161880" cy="404610"/>
          </a:xfrm>
          <a:prstGeom prst="rect">
            <a:avLst/>
          </a:prstGeom>
        </p:spPr>
      </p:pic>
      <p:sp>
        <p:nvSpPr>
          <p:cNvPr id="10" name="TextBox 9">
            <a:extLst>
              <a:ext uri="{FF2B5EF4-FFF2-40B4-BE49-F238E27FC236}">
                <a16:creationId xmlns:a16="http://schemas.microsoft.com/office/drawing/2014/main" id="{7C9B27AF-92CA-4D1D-8F10-74C40A13D979}"/>
              </a:ext>
            </a:extLst>
          </p:cNvPr>
          <p:cNvSpPr txBox="1"/>
          <p:nvPr/>
        </p:nvSpPr>
        <p:spPr>
          <a:xfrm>
            <a:off x="514421" y="329236"/>
            <a:ext cx="2563009" cy="646331"/>
          </a:xfrm>
          <a:prstGeom prst="rect">
            <a:avLst/>
          </a:prstGeom>
          <a:noFill/>
        </p:spPr>
        <p:txBody>
          <a:bodyPr wrap="none" rtlCol="0">
            <a:spAutoFit/>
          </a:bodyPr>
          <a:lstStyle/>
          <a:p>
            <a:r>
              <a:rPr lang="en-US" sz="3600" dirty="0"/>
              <a:t>Next Lecture</a:t>
            </a:r>
          </a:p>
        </p:txBody>
      </p:sp>
      <p:sp>
        <p:nvSpPr>
          <p:cNvPr id="2" name="Footer Placeholder 1">
            <a:extLst>
              <a:ext uri="{FF2B5EF4-FFF2-40B4-BE49-F238E27FC236}">
                <a16:creationId xmlns:a16="http://schemas.microsoft.com/office/drawing/2014/main" id="{F6E79908-AFDD-4778-8DAF-50591C36ACE0}"/>
              </a:ext>
            </a:extLst>
          </p:cNvPr>
          <p:cNvSpPr>
            <a:spLocks noGrp="1"/>
          </p:cNvSpPr>
          <p:nvPr>
            <p:ph type="ftr" sz="quarter" idx="11"/>
          </p:nvPr>
        </p:nvSpPr>
        <p:spPr/>
        <p:txBody>
          <a:bodyPr/>
          <a:lstStyle/>
          <a:p>
            <a:r>
              <a:rPr lang="en-US"/>
              <a:t>copyright © 2017 Kevin M. Smith</a:t>
            </a:r>
          </a:p>
        </p:txBody>
      </p:sp>
      <p:sp>
        <p:nvSpPr>
          <p:cNvPr id="8" name="TextBox 7">
            <a:extLst>
              <a:ext uri="{FF2B5EF4-FFF2-40B4-BE49-F238E27FC236}">
                <a16:creationId xmlns:a16="http://schemas.microsoft.com/office/drawing/2014/main" id="{57FCBBA6-3D6E-4193-A526-C1CC6FA761FF}"/>
              </a:ext>
            </a:extLst>
          </p:cNvPr>
          <p:cNvSpPr txBox="1"/>
          <p:nvPr/>
        </p:nvSpPr>
        <p:spPr>
          <a:xfrm>
            <a:off x="2471982" y="1822464"/>
            <a:ext cx="8635041" cy="1692771"/>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endParaRPr lang="en-US" dirty="0"/>
          </a:p>
          <a:p>
            <a:pPr marL="285750" indent="-285750">
              <a:buFont typeface="Arial" panose="020B0604020202020204" pitchFamily="34" charset="0"/>
              <a:buChar char="•"/>
            </a:pPr>
            <a:r>
              <a:rPr lang="en-US" sz="2400" dirty="0"/>
              <a:t>Building a Simple Integrator  (using gravity as an acceleration)</a:t>
            </a:r>
          </a:p>
          <a:p>
            <a:pPr marL="285750" indent="-285750">
              <a:buFont typeface="Arial" panose="020B0604020202020204" pitchFamily="34" charset="0"/>
              <a:buChar char="•"/>
            </a:pPr>
            <a:r>
              <a:rPr lang="en-US" sz="2400" dirty="0"/>
              <a:t>Simple 3D object trajectories (dynamic)</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524358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864</TotalTime>
  <Words>774</Words>
  <Application>Microsoft Office PowerPoint</Application>
  <PresentationFormat>Widescreen</PresentationFormat>
  <Paragraphs>137</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Cambria Math</vt:lpstr>
      <vt:lpstr>Office Theme</vt:lpstr>
      <vt:lpstr>CS 134 Computer Game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235 User Interface Design</dc:title>
  <dc:creator>Kevin Smith</dc:creator>
  <cp:lastModifiedBy>Kevin Smith</cp:lastModifiedBy>
  <cp:revision>107</cp:revision>
  <dcterms:created xsi:type="dcterms:W3CDTF">2017-08-23T16:49:40Z</dcterms:created>
  <dcterms:modified xsi:type="dcterms:W3CDTF">2018-09-24T00:51:45Z</dcterms:modified>
</cp:coreProperties>
</file>