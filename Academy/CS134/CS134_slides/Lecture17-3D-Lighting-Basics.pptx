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sldIdLst>
    <p:sldId id="395" r:id="rId2"/>
    <p:sldId id="367" r:id="rId3"/>
    <p:sldId id="396" r:id="rId4"/>
    <p:sldId id="409" r:id="rId5"/>
    <p:sldId id="421" r:id="rId6"/>
    <p:sldId id="410" r:id="rId7"/>
    <p:sldId id="425" r:id="rId8"/>
    <p:sldId id="426" r:id="rId9"/>
    <p:sldId id="427" r:id="rId10"/>
    <p:sldId id="413" r:id="rId11"/>
    <p:sldId id="422" r:id="rId12"/>
    <p:sldId id="423" r:id="rId13"/>
    <p:sldId id="424" r:id="rId14"/>
    <p:sldId id="414" r:id="rId15"/>
    <p:sldId id="428" r:id="rId16"/>
    <p:sldId id="429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3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8" autoAdjust="0"/>
    <p:restoredTop sz="95137" autoAdjust="0"/>
  </p:normalViewPr>
  <p:slideViewPr>
    <p:cSldViewPr snapToGrid="0">
      <p:cViewPr varScale="1">
        <p:scale>
          <a:sx n="108" d="100"/>
          <a:sy n="108" d="100"/>
        </p:scale>
        <p:origin x="44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Development (UE4)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Development (UE4)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2/5/2019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2/5/2019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nvidia.com/publication/efficient-sparse-voxel-octre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cs.umd.edu/~hjs/pubs/Samettfcgc88-ocr.pdf" TargetMode="External"/><Relationship Id="rId4" Type="http://schemas.openxmlformats.org/officeDocument/2006/relationships/hyperlink" Target="http://physbam.stanford.edu/~fedkiw/papers/stanford2004-02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 – 3D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1397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138120" y="2215011"/>
            <a:ext cx="828399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More on Octree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Big Viking Games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Lecture: CG Lighting  (OpenGL)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In-Class Exercise – 3 Point Lighting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73188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/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6395525" y="2763496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88027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77922" y="202145"/>
            <a:ext cx="9324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Habitat, Montreal – Architect: Moshe </a:t>
            </a:r>
            <a:r>
              <a:rPr lang="en-US" sz="4000" dirty="0" err="1"/>
              <a:t>Safdie</a:t>
            </a:r>
            <a:endParaRPr 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19" name="Picture 18" descr="A large building&#10;&#10;Description generated with very high confidence">
            <a:extLst>
              <a:ext uri="{FF2B5EF4-FFF2-40B4-BE49-F238E27FC236}">
                <a16:creationId xmlns:a16="http://schemas.microsoft.com/office/drawing/2014/main" id="{B4160820-693E-429B-BBFF-24219049A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093" y="1200058"/>
            <a:ext cx="8865813" cy="480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5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533516" y="203871"/>
            <a:ext cx="7647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Computer Generated Design using L-Systems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6994" y="6206925"/>
            <a:ext cx="4114800" cy="365125"/>
          </a:xfrm>
        </p:spPr>
        <p:txBody>
          <a:bodyPr/>
          <a:lstStyle/>
          <a:p>
            <a:r>
              <a:rPr lang="en-US" dirty="0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4C7D6-1F23-4A08-81DE-CA37CADCF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32" y="1014320"/>
            <a:ext cx="8591456" cy="4829359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32E32EA4-C835-4AE9-8804-F55858FA596B}"/>
              </a:ext>
            </a:extLst>
          </p:cNvPr>
          <p:cNvSpPr txBox="1">
            <a:spLocks/>
          </p:cNvSpPr>
          <p:nvPr/>
        </p:nvSpPr>
        <p:spPr>
          <a:xfrm>
            <a:off x="1696570" y="576540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Image: Kevin M. Smith – generated using L-Systems in Houdini</a:t>
            </a:r>
          </a:p>
        </p:txBody>
      </p:sp>
    </p:spTree>
    <p:extLst>
      <p:ext uri="{BB962C8B-B14F-4D97-AF65-F5344CB8AC3E}">
        <p14:creationId xmlns:p14="http://schemas.microsoft.com/office/powerpoint/2010/main" val="280605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892688" y="242128"/>
            <a:ext cx="6239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More on Octree Visualization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9" name="Picture 38" descr="A close up of a beach&#10;&#10;Description generated with high confidence">
            <a:extLst>
              <a:ext uri="{FF2B5EF4-FFF2-40B4-BE49-F238E27FC236}">
                <a16:creationId xmlns:a16="http://schemas.microsoft.com/office/drawing/2014/main" id="{A3AC29C6-9F25-4889-8463-ECFE1A1C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59" y="923738"/>
            <a:ext cx="9657977" cy="543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543780" y="563007"/>
            <a:ext cx="31044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Octree Papers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980536" y="1857543"/>
            <a:ext cx="8815464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hlinkClick r:id="rId3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http://research.nvidia.com/publication/efficient-sparse-voxel-octrees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http://physbam.stanford.edu/~fedkiw/papers/stanford2004-02.pdf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http://www.cs.umd.edu/~hjs/pubs/Samettfcgc88-ocr.pdf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 </a:t>
            </a:r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76608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38600" y="587721"/>
            <a:ext cx="4044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CG Lighting - Intro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91152" y="1876078"/>
            <a:ext cx="5704848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Lighting is an important component of CGI, especially in games</a:t>
            </a:r>
            <a:endParaRPr lang="en-US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Provides realism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Helps to tell add to the narrative and tell the story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Mood/Atmosphere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Control visibility of objects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Establish time of day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Weather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Interior/Exterior</a:t>
            </a:r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6A2CD3-A233-4D78-BFE3-AED62271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21" y="1989635"/>
            <a:ext cx="5932844" cy="321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2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38600" y="587721"/>
            <a:ext cx="4044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CG Lighting - Intro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91152" y="1876078"/>
            <a:ext cx="5704848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Lighting is an important component of CGI, especially in games</a:t>
            </a:r>
            <a:endParaRPr lang="en-US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Provides realism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Helps to tell add to the narrative and tell the story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Mood/Atmosphere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Control visibility of objects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Establish time of day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Weather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Interior/Exterior</a:t>
            </a:r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6A2CD3-A233-4D78-BFE3-AED62271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21" y="1989635"/>
            <a:ext cx="5932844" cy="3218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C26F5-7A7C-41E4-856C-BD7694CE64FD}"/>
              </a:ext>
            </a:extLst>
          </p:cNvPr>
          <p:cNvSpPr txBox="1"/>
          <p:nvPr/>
        </p:nvSpPr>
        <p:spPr>
          <a:xfrm>
            <a:off x="6357551" y="5381368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Scene from game: </a:t>
            </a:r>
            <a:r>
              <a:rPr lang="en-US" sz="1200" dirty="0"/>
              <a:t>EVOLVE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813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74652" y="661861"/>
            <a:ext cx="5278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CG Lighting -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946732" y="2203423"/>
            <a:ext cx="485584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Point 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Light emanates from all directions from a single 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Simplest type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1B448-0B71-4CD2-8E00-1C0BCB0A8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043113"/>
            <a:ext cx="30289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74652" y="661861"/>
            <a:ext cx="5278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CG Lighting -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946732" y="2203423"/>
            <a:ext cx="485584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Directional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Light travels in one direction as if it is emitted from an infinite plane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An </a:t>
            </a:r>
            <a:r>
              <a:rPr lang="en-US" sz="2000" dirty="0">
                <a:solidFill>
                  <a:schemeClr val="accent5"/>
                </a:solidFill>
              </a:rPr>
              <a:t>area light </a:t>
            </a:r>
            <a:r>
              <a:rPr lang="en-US" sz="2000" dirty="0"/>
              <a:t>is a type of directional that is emitted from a finite size plane.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 some systems an area light can emit from a circle or other shape.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E1E16-7AE5-42F4-82E0-96763884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17" y="2055999"/>
            <a:ext cx="35814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3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74652" y="661861"/>
            <a:ext cx="5278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CG Lighting -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946732" y="2203423"/>
            <a:ext cx="485584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Spot 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Specialized type of </a:t>
            </a:r>
            <a:r>
              <a:rPr lang="en-US" sz="2000" dirty="0">
                <a:solidFill>
                  <a:schemeClr val="accent5"/>
                </a:solidFill>
              </a:rPr>
              <a:t>Point 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Instead of ray emanating from all directions, a spotlight’s ray are constrained by a </a:t>
            </a:r>
            <a:r>
              <a:rPr lang="en-US" sz="2000" dirty="0">
                <a:solidFill>
                  <a:schemeClr val="accent5"/>
                </a:solidFill>
              </a:rPr>
              <a:t>cone.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cone has different parameters to let you adjust size and angle.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35EA2-DACA-43A7-BFE7-8E2BD461D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13" y="2203423"/>
            <a:ext cx="3124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74652" y="661861"/>
            <a:ext cx="5278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CG Lighting -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946732" y="2203423"/>
            <a:ext cx="485584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Ambient 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Light already present in the scene that illuminates all objects.</a:t>
            </a:r>
            <a:endParaRPr lang="en-US" sz="20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example, if one turns out all the lights in a room, there is still some ambient light in the room.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Ambient light is light provided to all objects without adding any other additional lights.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Has no direction or location</a:t>
            </a:r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17A3B-3C4B-4C25-9E23-3B1E7CD2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65" y="2203423"/>
            <a:ext cx="32004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9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932066" y="525936"/>
            <a:ext cx="7812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Lights:  Positioning and Transforming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430660" y="1647478"/>
            <a:ext cx="8815464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Positioning/Transformation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Lights can be moved to any location (X, Y, Z)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Moving an ambient light around in the scene should have no effect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 Easy to see effect of moving spotlights, point lights and area/directional lights.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Lights can be rotated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Most commonly done with spot light and area/directional lights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Rotating a point light/ambient light will not have any effect unless the point light has a cutoff (which makes it a spotlight).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Lights can be scaled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Can do with a spotlight to scale size of cone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Can do with an area light to scale size of emission plane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49588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740118" y="587720"/>
            <a:ext cx="45268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Lights:  C++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739579" y="2055251"/>
            <a:ext cx="8815464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OpenGL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Ex:  </a:t>
            </a:r>
            <a:r>
              <a:rPr lang="en-US" sz="2000" dirty="0" err="1"/>
              <a:t>glEnable</a:t>
            </a:r>
            <a:r>
              <a:rPr lang="en-US" sz="2000" dirty="0"/>
              <a:t>(GL_LIGHTING),   </a:t>
            </a:r>
            <a:r>
              <a:rPr lang="en-US" sz="2000" dirty="0" err="1"/>
              <a:t>glEnable</a:t>
            </a:r>
            <a:r>
              <a:rPr lang="en-US" sz="2000" dirty="0"/>
              <a:t>(GL_LIGHT0);</a:t>
            </a:r>
            <a:endParaRPr lang="en-US" sz="6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OpenFrameworks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ofLight</a:t>
            </a:r>
            <a:r>
              <a:rPr lang="en-US" sz="2000" dirty="0"/>
              <a:t> 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Object-oriented layer on top of OpenGL – make OpenGL lighting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With both </a:t>
            </a:r>
            <a:r>
              <a:rPr lang="en-US" sz="2000" dirty="0" err="1"/>
              <a:t>ofLight</a:t>
            </a:r>
            <a:r>
              <a:rPr lang="en-US" sz="2000" dirty="0"/>
              <a:t> and OpenGL, you can have up to 8 lights turned on in the scene.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 will use </a:t>
            </a:r>
            <a:r>
              <a:rPr lang="en-US" sz="2000" dirty="0" err="1"/>
              <a:t>ofLight</a:t>
            </a:r>
            <a:r>
              <a:rPr lang="en-US" sz="2000" dirty="0"/>
              <a:t> for class examples as it is a more </a:t>
            </a:r>
            <a:r>
              <a:rPr lang="en-US" sz="2000" i="1" dirty="0"/>
              <a:t>friendly</a:t>
            </a:r>
            <a:r>
              <a:rPr lang="en-US" sz="2000" dirty="0"/>
              <a:t> interface.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28074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932066" y="525936"/>
            <a:ext cx="85479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Lights:  Common Attributes for All 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430660" y="1647478"/>
            <a:ext cx="881546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Specular Highlight Color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color of the “bright spot” reflected off of a shiny/reflective object: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Specular Highlights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0B65C-475E-43F6-B22C-7BDA5956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59" y="3120596"/>
            <a:ext cx="2200275" cy="22479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812928-6028-46F7-AEBF-DA07175D395F}"/>
              </a:ext>
            </a:extLst>
          </p:cNvPr>
          <p:cNvCxnSpPr>
            <a:cxnSpLocks/>
          </p:cNvCxnSpPr>
          <p:nvPr/>
        </p:nvCxnSpPr>
        <p:spPr>
          <a:xfrm>
            <a:off x="4226011" y="3651422"/>
            <a:ext cx="2347784" cy="32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70AA8-2273-4B08-8F9D-DAE26E9D5AD6}"/>
              </a:ext>
            </a:extLst>
          </p:cNvPr>
          <p:cNvCxnSpPr>
            <a:cxnSpLocks/>
          </p:cNvCxnSpPr>
          <p:nvPr/>
        </p:nvCxnSpPr>
        <p:spPr>
          <a:xfrm>
            <a:off x="4275438" y="3637143"/>
            <a:ext cx="2730843" cy="7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4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932066" y="525936"/>
            <a:ext cx="85479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Lights:  Common Attributes for All 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430660" y="1647478"/>
            <a:ext cx="881546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Ambient Color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color that is reflected by an object when it is illuminated by ambient light.  The color of the object when it has no direct, point or spotlights on it.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812928-6028-46F7-AEBF-DA07175D395F}"/>
              </a:ext>
            </a:extLst>
          </p:cNvPr>
          <p:cNvCxnSpPr>
            <a:cxnSpLocks/>
          </p:cNvCxnSpPr>
          <p:nvPr/>
        </p:nvCxnSpPr>
        <p:spPr>
          <a:xfrm>
            <a:off x="4226011" y="3651422"/>
            <a:ext cx="2347784" cy="32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70AA8-2273-4B08-8F9D-DAE26E9D5AD6}"/>
              </a:ext>
            </a:extLst>
          </p:cNvPr>
          <p:cNvCxnSpPr>
            <a:cxnSpLocks/>
          </p:cNvCxnSpPr>
          <p:nvPr/>
        </p:nvCxnSpPr>
        <p:spPr>
          <a:xfrm>
            <a:off x="4275438" y="3637143"/>
            <a:ext cx="2730843" cy="7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F1F6ADB-7533-44AD-9354-E9213741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374" y="2919927"/>
            <a:ext cx="3771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8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932066" y="525936"/>
            <a:ext cx="85479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Lights:  Common Attributes for All 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430660" y="1647478"/>
            <a:ext cx="8815464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Diffuse Color – the color that the object reflects when it is illuminated.  The true color of an object is it’s diffuse color when reflected by a pure white light.</a:t>
            </a:r>
            <a:endParaRPr lang="en-US" sz="2000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812928-6028-46F7-AEBF-DA07175D395F}"/>
              </a:ext>
            </a:extLst>
          </p:cNvPr>
          <p:cNvCxnSpPr>
            <a:cxnSpLocks/>
          </p:cNvCxnSpPr>
          <p:nvPr/>
        </p:nvCxnSpPr>
        <p:spPr>
          <a:xfrm>
            <a:off x="4226011" y="3651422"/>
            <a:ext cx="2347784" cy="32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70AA8-2273-4B08-8F9D-DAE26E9D5AD6}"/>
              </a:ext>
            </a:extLst>
          </p:cNvPr>
          <p:cNvCxnSpPr>
            <a:cxnSpLocks/>
          </p:cNvCxnSpPr>
          <p:nvPr/>
        </p:nvCxnSpPr>
        <p:spPr>
          <a:xfrm>
            <a:off x="4275438" y="3637143"/>
            <a:ext cx="2730843" cy="7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F1F6ADB-7533-44AD-9354-E9213741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374" y="2919927"/>
            <a:ext cx="3771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932066" y="525936"/>
            <a:ext cx="4799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Materials and Lighting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430660" y="1647478"/>
            <a:ext cx="8815464" cy="911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The </a:t>
            </a:r>
            <a:r>
              <a:rPr lang="en-US" sz="2400" dirty="0">
                <a:solidFill>
                  <a:schemeClr val="accent5"/>
                </a:solidFill>
              </a:rPr>
              <a:t>Lighting Model </a:t>
            </a:r>
            <a:r>
              <a:rPr lang="en-US" sz="2400" dirty="0"/>
              <a:t>is a function/interaction of the attributes of </a:t>
            </a:r>
            <a:r>
              <a:rPr lang="en-US" sz="2400" dirty="0">
                <a:solidFill>
                  <a:schemeClr val="accent5"/>
                </a:solidFill>
              </a:rPr>
              <a:t>both the Light and the Materials </a:t>
            </a:r>
            <a:r>
              <a:rPr lang="en-US" sz="2400" dirty="0"/>
              <a:t>on the object being illuminated.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final image you see will be computed using a combination of the Light properties and Material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Materials also have these properties: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Specular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Diffuse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Ambient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Emissive Color  -  self illuminating color (color with no lighting)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Shininess – affects specular highlights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i="1" dirty="0" err="1"/>
              <a:t>ofMaterial</a:t>
            </a:r>
            <a:r>
              <a:rPr lang="en-US" sz="2000" dirty="0"/>
              <a:t> class allows control of these attributes and you can apply materials to objects in OF using this class.  (will show example)</a:t>
            </a:r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50374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34558" y="643325"/>
            <a:ext cx="45293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Lighting:  An Artform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399768" y="2184997"/>
            <a:ext cx="8815464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art of lighting a scene is a hybrid artistic/technical profession and requires a lot of creativity and skill.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CG “Lighter” is a career path/specialty you will find in the film an games industry.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can take many years to develop the skills to necessary to create a high quality lighting environment for a game.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Lighters also tend to work with Materials and Shaders.</a:t>
            </a:r>
            <a:endParaRPr lang="en-US" sz="2000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69968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593153" y="634355"/>
            <a:ext cx="6517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Lighting:  The 3 – Point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67979" y="1505376"/>
            <a:ext cx="5223454" cy="978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a basic lighting setup (3 lights) that most lighters learn early in their education.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Usually used to light characters or a small number of objects in a closeup or medium camera shot.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Stage/Theatrical Lighting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Consists of 3  Lights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Key Light </a:t>
            </a:r>
            <a:r>
              <a:rPr lang="en-US" sz="2000" dirty="0"/>
              <a:t>– provides main source of light off the front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Fill Light </a:t>
            </a:r>
            <a:r>
              <a:rPr lang="en-US" sz="2000" dirty="0"/>
              <a:t>– usually placed a little lower than key. Balances or “fills in” some shadows created by the key light.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Back Light or Rim Light</a:t>
            </a:r>
            <a:r>
              <a:rPr lang="en-US" sz="2000" dirty="0"/>
              <a:t> – adds a halo around object.</a:t>
            </a:r>
            <a:endParaRPr lang="en-US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6501D-5395-4D9F-B864-C81B086B9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69" y="1940011"/>
            <a:ext cx="4080720" cy="30830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17D9EB-7EB3-4A9A-98BD-B16B2730E2B5}"/>
              </a:ext>
            </a:extLst>
          </p:cNvPr>
          <p:cNvSpPr txBox="1"/>
          <p:nvPr/>
        </p:nvSpPr>
        <p:spPr>
          <a:xfrm>
            <a:off x="6708812" y="5023022"/>
            <a:ext cx="181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Wikipedia</a:t>
            </a:r>
          </a:p>
        </p:txBody>
      </p:sp>
    </p:spTree>
    <p:extLst>
      <p:ext uri="{BB962C8B-B14F-4D97-AF65-F5344CB8AC3E}">
        <p14:creationId xmlns:p14="http://schemas.microsoft.com/office/powerpoint/2010/main" val="299683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028377" y="527212"/>
            <a:ext cx="83919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Lighting:  Examples of 3 – Point Lighting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11" name="Picture 10" descr="A person wearing a suit and tie&#10;&#10;Description generated with very high confidence">
            <a:extLst>
              <a:ext uri="{FF2B5EF4-FFF2-40B4-BE49-F238E27FC236}">
                <a16:creationId xmlns:a16="http://schemas.microsoft.com/office/drawing/2014/main" id="{35E8572A-B59F-4A37-A57E-3A8645BA7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11" y="1692648"/>
            <a:ext cx="5418230" cy="3040716"/>
          </a:xfrm>
          <a:prstGeom prst="rect">
            <a:avLst/>
          </a:prstGeom>
        </p:spPr>
      </p:pic>
      <p:pic>
        <p:nvPicPr>
          <p:cNvPr id="13" name="Picture 12" descr="A person wearing a suit and hat&#10;&#10;Description generated with very high confidence">
            <a:extLst>
              <a:ext uri="{FF2B5EF4-FFF2-40B4-BE49-F238E27FC236}">
                <a16:creationId xmlns:a16="http://schemas.microsoft.com/office/drawing/2014/main" id="{6CFCC16F-AA68-4C3D-B639-3D60A815F7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614" y="1885809"/>
            <a:ext cx="5074389" cy="26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3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593153" y="634355"/>
            <a:ext cx="6452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Lighting:  Examples of Lighting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person looking at the camera&#10;&#10;Description generated with very high confidence">
            <a:extLst>
              <a:ext uri="{FF2B5EF4-FFF2-40B4-BE49-F238E27FC236}">
                <a16:creationId xmlns:a16="http://schemas.microsoft.com/office/drawing/2014/main" id="{B97315AC-FE9D-41E7-AA5D-14E35DCAA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420" y="1890711"/>
            <a:ext cx="3152775" cy="2390775"/>
          </a:xfrm>
          <a:prstGeom prst="rect">
            <a:avLst/>
          </a:prstGeom>
        </p:spPr>
      </p:pic>
      <p:pic>
        <p:nvPicPr>
          <p:cNvPr id="6" name="Picture 5" descr="A person looking at the camera&#10;&#10;Description generated with very high confidence">
            <a:extLst>
              <a:ext uri="{FF2B5EF4-FFF2-40B4-BE49-F238E27FC236}">
                <a16:creationId xmlns:a16="http://schemas.microsoft.com/office/drawing/2014/main" id="{02C96E9E-C27C-44D7-892F-648910611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05" y="1890711"/>
            <a:ext cx="4375589" cy="3311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F392B7-FBC2-47B2-944F-E58A808F85DD}"/>
              </a:ext>
            </a:extLst>
          </p:cNvPr>
          <p:cNvSpPr txBox="1"/>
          <p:nvPr/>
        </p:nvSpPr>
        <p:spPr>
          <a:xfrm>
            <a:off x="6603474" y="5131557"/>
            <a:ext cx="5164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Dramatic: Not much fill…back lighting has color</a:t>
            </a:r>
          </a:p>
        </p:txBody>
      </p:sp>
    </p:spTree>
    <p:extLst>
      <p:ext uri="{BB962C8B-B14F-4D97-AF65-F5344CB8AC3E}">
        <p14:creationId xmlns:p14="http://schemas.microsoft.com/office/powerpoint/2010/main" val="643232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593153" y="634355"/>
            <a:ext cx="73120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Lighting:  Class Exercise – Lets Play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67979" y="1258241"/>
            <a:ext cx="5223454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Get Source files in lighting101.zip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 sure to put model files (</a:t>
            </a:r>
            <a:r>
              <a:rPr lang="en-US" sz="2000" dirty="0" err="1"/>
              <a:t>obj</a:t>
            </a:r>
            <a:r>
              <a:rPr lang="en-US" sz="2000" dirty="0"/>
              <a:t> and </a:t>
            </a:r>
            <a:r>
              <a:rPr lang="en-US" sz="2000" dirty="0" err="1"/>
              <a:t>mtl</a:t>
            </a:r>
            <a:r>
              <a:rPr lang="en-US" sz="2000" dirty="0"/>
              <a:t>) in bin/data/geo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Modify some of the lighting parameters in the code. See what it does.  Move the lights around a little at a time to change reflections.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Change material attributes on ground plane. See the effect.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 3-4 sliders to control attributes of each light to make the process easier.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Submit your best image of the scene to the gallery provided.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	</a:t>
            </a: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473-C577-44D8-8554-29D109FC9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112" y="1890584"/>
            <a:ext cx="4035029" cy="31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3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7338</TotalTime>
  <Words>1286</Words>
  <Application>Microsoft Office PowerPoint</Application>
  <PresentationFormat>Widescreen</PresentationFormat>
  <Paragraphs>360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CS 134 Computer Game Design – 3D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318</cp:revision>
  <dcterms:created xsi:type="dcterms:W3CDTF">2017-08-23T16:49:40Z</dcterms:created>
  <dcterms:modified xsi:type="dcterms:W3CDTF">2019-02-06T05:09:00Z</dcterms:modified>
</cp:coreProperties>
</file>