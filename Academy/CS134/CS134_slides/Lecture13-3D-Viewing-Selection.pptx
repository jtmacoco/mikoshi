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395" r:id="rId2"/>
    <p:sldId id="396" r:id="rId3"/>
    <p:sldId id="380" r:id="rId4"/>
    <p:sldId id="425" r:id="rId5"/>
    <p:sldId id="413" r:id="rId6"/>
    <p:sldId id="414" r:id="rId7"/>
    <p:sldId id="412" r:id="rId8"/>
    <p:sldId id="387" r:id="rId9"/>
    <p:sldId id="388" r:id="rId10"/>
    <p:sldId id="390" r:id="rId11"/>
    <p:sldId id="389" r:id="rId12"/>
    <p:sldId id="423" r:id="rId13"/>
    <p:sldId id="391" r:id="rId14"/>
    <p:sldId id="39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5137" autoAdjust="0"/>
  </p:normalViewPr>
  <p:slideViewPr>
    <p:cSldViewPr snapToGrid="0">
      <p:cViewPr varScale="1">
        <p:scale>
          <a:sx n="94" d="100"/>
          <a:sy n="94" d="100"/>
        </p:scale>
        <p:origin x="102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Game Engine Development (UE4)</a:t>
          </a:r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Development (UE4)</a:t>
          </a:r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568556" y="1266238"/>
        <a:ext cx="1178100" cy="689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DBC6-8DD5-4638-B8BC-C63A633FE3E1}" type="datetime1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5707A-BAD7-4B16-889B-31FF47A88D51}" type="datetime1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B99-49E1-4789-B9E2-498AF910EA8D}" type="datetime1">
              <a:rPr lang="en-US" smtClean="0"/>
              <a:t>4/8/2021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CDBB-D8F7-4CE0-87E5-7722E9C2C070}" type="datetime1">
              <a:rPr lang="en-US" smtClean="0"/>
              <a:t>4/8/2021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78107-59B5-4925-A842-07FDFD58D56A}" type="datetime1">
              <a:rPr lang="en-US" smtClean="0"/>
              <a:t>4/8/2021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2D56-548C-48E3-A944-2D3414120EEB}" type="datetime1">
              <a:rPr lang="en-US" smtClean="0"/>
              <a:t>4/8/2021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FD48-0BC6-4EEB-A3C1-13290987431E}" type="datetime1">
              <a:rPr lang="en-US" smtClean="0"/>
              <a:t>4/8/2021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58C4-80B7-4F9D-9D35-88222D1720C3}" type="datetime1">
              <a:rPr lang="en-US" smtClean="0"/>
              <a:t>4/8/2021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0C0-70BA-434F-A8BB-A0AC09ABAD10}" type="datetime1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9E02-A66A-4CA8-B35F-45ED22EF8E6D}" type="datetime1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41F-E6EA-42C7-8935-3930FA83E734}" type="datetime1">
              <a:rPr lang="en-US" smtClean="0"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youtube.com/watch?v=JLPiMl8XUKU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ltimerendering.com/intersection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990863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 – 3D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/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BFEFC1-FA58-438E-9082-B0FAB6FDEA50}"/>
              </a:ext>
            </a:extLst>
          </p:cNvPr>
          <p:cNvSpPr/>
          <p:nvPr/>
        </p:nvSpPr>
        <p:spPr>
          <a:xfrm>
            <a:off x="6395525" y="2763496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88027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BCCD33-7738-4702-AA9C-278C51B22060}"/>
              </a:ext>
            </a:extLst>
          </p:cNvPr>
          <p:cNvSpPr txBox="1"/>
          <p:nvPr/>
        </p:nvSpPr>
        <p:spPr>
          <a:xfrm>
            <a:off x="1069910" y="1343608"/>
            <a:ext cx="447870" cy="466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https://sjsu.instructure.com/images/play_overlay.png">
            <a:hlinkClick r:id="rId4"/>
            <a:extLst>
              <a:ext uri="{FF2B5EF4-FFF2-40B4-BE49-F238E27FC236}">
                <a16:creationId xmlns:a16="http://schemas.microsoft.com/office/drawing/2014/main" id="{4AD68CF1-18D2-420D-AF7D-C12495F2C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588" y="228600"/>
            <a:ext cx="1333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1150C-C5E2-4AD1-A67C-6D432998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A9681-2F97-4C5C-973D-BFBBBE46E5D5}"/>
              </a:ext>
            </a:extLst>
          </p:cNvPr>
          <p:cNvSpPr txBox="1"/>
          <p:nvPr/>
        </p:nvSpPr>
        <p:spPr>
          <a:xfrm>
            <a:off x="3240488" y="1863891"/>
            <a:ext cx="5524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C0D134-AC1F-4809-ABCB-A1F99ABD9534}"/>
              </a:ext>
            </a:extLst>
          </p:cNvPr>
          <p:cNvSpPr/>
          <p:nvPr/>
        </p:nvSpPr>
        <p:spPr>
          <a:xfrm>
            <a:off x="3240488" y="2694888"/>
            <a:ext cx="8393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i="1" dirty="0"/>
              <a:t>“Eighty percent of success is showing up.”</a:t>
            </a:r>
            <a:endParaRPr lang="en-US" sz="32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2C330-521F-41A6-AE74-4FA4D3734E60}"/>
              </a:ext>
            </a:extLst>
          </p:cNvPr>
          <p:cNvSpPr txBox="1"/>
          <p:nvPr/>
        </p:nvSpPr>
        <p:spPr>
          <a:xfrm>
            <a:off x="3240488" y="3687679"/>
            <a:ext cx="1378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Woody Allen</a:t>
            </a:r>
          </a:p>
        </p:txBody>
      </p:sp>
    </p:spTree>
    <p:extLst>
      <p:ext uri="{BB962C8B-B14F-4D97-AF65-F5344CB8AC3E}">
        <p14:creationId xmlns:p14="http://schemas.microsoft.com/office/powerpoint/2010/main" val="342609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28985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3D Selection 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386264" y="2551252"/>
            <a:ext cx="881546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3D Selection ( “picking”)  is a good place to start learning 3D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 We learn about cameras, spaces, transformations, geometry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 Learn how to interact with objects in the 3D world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00901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51335" y="747319"/>
            <a:ext cx="8878905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Pinhole Camera  (primitive photography)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386264" y="2551252"/>
            <a:ext cx="881546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F52E37-8445-47BE-AB13-E4AF6974E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5040" y="2076323"/>
            <a:ext cx="5110480" cy="348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1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79977" y="627735"/>
            <a:ext cx="73569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View Frustum (3D Camera Model)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7607" y="1857888"/>
            <a:ext cx="5453096" cy="701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Clip planes are “adjustable”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Viewport is in front of near clip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Camera can move freely in space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Rotate, translate, scale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frustum angle is the FOV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Objects that are not in the frustum</a:t>
            </a:r>
          </a:p>
          <a:p>
            <a:pPr lvl="1"/>
            <a:r>
              <a:rPr lang="en-US" sz="2400" dirty="0"/>
              <a:t>     are not rendered/drawn (typically). </a:t>
            </a:r>
          </a:p>
          <a:p>
            <a:pPr lvl="1"/>
            <a:endParaRPr lang="en-US" sz="2400" dirty="0"/>
          </a:p>
          <a:p>
            <a:pPr lvl="1"/>
            <a:r>
              <a:rPr lang="en-US" sz="2000" i="1" dirty="0"/>
              <a:t>*openFrameworks camera supports</a:t>
            </a:r>
          </a:p>
          <a:p>
            <a:pPr lvl="1"/>
            <a:r>
              <a:rPr lang="en-US" sz="2000" i="1" dirty="0"/>
              <a:t>   all of these elements.</a:t>
            </a:r>
          </a:p>
          <a:p>
            <a:pPr lvl="2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5A8238-F4FC-4134-8D47-89099A08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793" y="1591804"/>
            <a:ext cx="6162109" cy="43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2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79977" y="627735"/>
            <a:ext cx="6819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View Frustum (with View Plane)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7607" y="1857888"/>
            <a:ext cx="5064848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View Plane is “in front of” the near clipping plane.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think of it like a “view finder” in a camera.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2D projection of the 3D scene .</a:t>
            </a:r>
          </a:p>
          <a:p>
            <a:pPr lvl="1"/>
            <a:r>
              <a:rPr lang="en-US" sz="2400" dirty="0"/>
              <a:t>  </a:t>
            </a:r>
          </a:p>
          <a:p>
            <a:pPr lvl="1"/>
            <a:endParaRPr lang="en-US" sz="2400" dirty="0"/>
          </a:p>
          <a:p>
            <a:pPr lvl="1"/>
            <a:r>
              <a:rPr lang="en-US" sz="2000" i="1" dirty="0"/>
              <a:t>*openFrameworks camera supports</a:t>
            </a:r>
          </a:p>
          <a:p>
            <a:pPr lvl="1"/>
            <a:r>
              <a:rPr lang="en-US" sz="2000" i="1" dirty="0"/>
              <a:t>   all of these elements.</a:t>
            </a:r>
          </a:p>
          <a:p>
            <a:pPr lvl="2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0E44A7-F942-41CC-B0AC-84673C085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703" y="1546067"/>
            <a:ext cx="6162109" cy="43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1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278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004174" y="1755855"/>
            <a:ext cx="7456913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What are some “things” that can be selected 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Entire </a:t>
            </a:r>
            <a:r>
              <a:rPr lang="en-US" sz="2000" i="1" dirty="0"/>
              <a:t>Object</a:t>
            </a:r>
            <a:r>
              <a:rPr lang="en-US" sz="2000" dirty="0"/>
              <a:t>  - ex: character rig, complete model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Part of an </a:t>
            </a:r>
            <a:r>
              <a:rPr lang="en-US" sz="2000" i="1" dirty="0"/>
              <a:t>Object</a:t>
            </a:r>
            <a:r>
              <a:rPr lang="en-US" sz="2000" dirty="0"/>
              <a:t> hierarchy – ex: wheel of a car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Visible objects in 3D are typically represented by Geometry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Geometry – ex: polygons, NURBS surfaces, SUBD surfaces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Geometry – we can select: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Faces  (Polygon models)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Edges (Polygon models)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Vertices or Points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Control Vertices (for surfaces)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0421-39B8-42AE-9192-2F5A0C06132E}"/>
              </a:ext>
            </a:extLst>
          </p:cNvPr>
          <p:cNvSpPr txBox="1"/>
          <p:nvPr/>
        </p:nvSpPr>
        <p:spPr>
          <a:xfrm>
            <a:off x="2440502" y="5347664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Maya demo</a:t>
            </a:r>
          </a:p>
        </p:txBody>
      </p:sp>
    </p:spTree>
    <p:extLst>
      <p:ext uri="{BB962C8B-B14F-4D97-AF65-F5344CB8AC3E}">
        <p14:creationId xmlns:p14="http://schemas.microsoft.com/office/powerpoint/2010/main" val="332766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278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401983" y="2416810"/>
            <a:ext cx="7775527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Three very different mechanisms for 3D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 selection (related to ray tracing)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Screen-space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Hardware Selection (ex: OpenGL)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668728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051450" y="677162"/>
            <a:ext cx="3645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Ray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-199589" y="1555329"/>
            <a:ext cx="6096851" cy="9294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Start with Mouse position in screen coordinates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 to a ray (having position and direction)</a:t>
            </a:r>
          </a:p>
          <a:p>
            <a:pPr lvl="1"/>
            <a:r>
              <a:rPr lang="en-US" sz="2000" dirty="0"/>
              <a:t>       in world space.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Check if ray intersects object (if yes, then selected)</a:t>
            </a:r>
          </a:p>
          <a:p>
            <a:pPr lvl="1"/>
            <a:r>
              <a:rPr lang="en-US" sz="2000" dirty="0"/>
              <a:t>   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General solution, hardware/device independence.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Disadvantages: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ray intersection testing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scene level optimization to make it go fast.  (space partitioning algorithm)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i="1" dirty="0"/>
              <a:t>*openFrameworks camera supports</a:t>
            </a:r>
          </a:p>
          <a:p>
            <a:pPr lvl="1"/>
            <a:r>
              <a:rPr lang="en-US" sz="2000" i="1" dirty="0"/>
              <a:t>   all of these elements.</a:t>
            </a:r>
          </a:p>
          <a:p>
            <a:pPr lvl="2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A100CB-DFB1-4A32-B57A-0C63D55D1652}"/>
              </a:ext>
            </a:extLst>
          </p:cNvPr>
          <p:cNvSpPr txBox="1"/>
          <p:nvPr/>
        </p:nvSpPr>
        <p:spPr>
          <a:xfrm>
            <a:off x="6252519" y="3120081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screen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C3D4C96-3B64-400E-A43C-4E97B4C1B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454" y="2022148"/>
            <a:ext cx="59055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D18DBD-5B69-4DFC-A4D8-B8B6785FC7E6}"/>
              </a:ext>
            </a:extLst>
          </p:cNvPr>
          <p:cNvSpPr txBox="1"/>
          <p:nvPr/>
        </p:nvSpPr>
        <p:spPr>
          <a:xfrm>
            <a:off x="7984537" y="2634326"/>
            <a:ext cx="605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Screen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8EB11A-7869-4C9E-B9D3-831B4690AE10}"/>
              </a:ext>
            </a:extLst>
          </p:cNvPr>
          <p:cNvSpPr txBox="1"/>
          <p:nvPr/>
        </p:nvSpPr>
        <p:spPr>
          <a:xfrm>
            <a:off x="6515100" y="2746903"/>
            <a:ext cx="96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Mouse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C010C8-2CF4-4EF6-954A-2FD1199B9B5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802418" y="2772826"/>
            <a:ext cx="182119" cy="79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67641C-7E0C-47B7-9943-5B35E69AA9B1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483288" y="2885403"/>
            <a:ext cx="235938" cy="863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6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3645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Ray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836419" y="2058551"/>
            <a:ext cx="7537987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400" dirty="0"/>
              <a:t>Ray intersection Testing – A Few Example Algorithms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Ray-sphere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Ray-plane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Ray-box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Ray-cylinder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Ray-cone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Very well studied area from field of Ray Tracing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Amazing site: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http://www.realtimerendering.com/intersections.html</a:t>
            </a:r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05332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6388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Two Other Selection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764674" y="2256599"/>
            <a:ext cx="9042732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We will not use in this class for 3D but worth mentioning..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Screen-space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Hardware Selection (ex: OpenGL)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68485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55414" y="675309"/>
            <a:ext cx="4948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Screen Space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811429" y="1798245"/>
            <a:ext cx="8045664" cy="56630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To Test if a 3D Point is selected in Screen space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 the value of the 3D point to 2D Point in Screen 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Compute the 2D distance of the point to the mouse point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If   d  &lt;  delta (a predetermined distance), we deem it to be selected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Simple to implement/code  for simple objects (like points)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be optimized using 2D partitioning  (box or sphere tree)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Doesn’t handle general geometric intersection.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Z-depth to select occluded objects.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be slow for “heavy” objects with a lot of vertices/points.</a:t>
            </a:r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75961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55414" y="675309"/>
            <a:ext cx="42480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Hardware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161052" y="1771352"/>
            <a:ext cx="7931723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3D Hardware Selection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Uses the Graphics API/GPU to select/pick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Example:  OpenGL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OpenGL requires a separate selection test rendering pass where</a:t>
            </a:r>
          </a:p>
          <a:p>
            <a:pPr lvl="2"/>
            <a:r>
              <a:rPr lang="en-US" dirty="0"/>
              <a:t>     each object/primitive is tagged with an unique ID.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OpenGL returns a test of ID’s that intersect with a mouse ray</a:t>
            </a:r>
          </a:p>
          <a:p>
            <a:pPr lvl="2"/>
            <a:r>
              <a:rPr lang="en-US" dirty="0"/>
              <a:t>      or sub-frustum.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Can be fast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Fairly easy to implement in OpenGL for simple scenes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Disadvantages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API-Dependent  (requires OpenGL or similar API that supports it)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Requires render selection pass  (like color selection method we used)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May not address selection of all 3D object types in a general way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412668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813</Words>
  <Application>Microsoft Office PowerPoint</Application>
  <PresentationFormat>Widescreen</PresentationFormat>
  <Paragraphs>202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CS 134 Computer Game Design – 3D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293</cp:revision>
  <dcterms:created xsi:type="dcterms:W3CDTF">2017-08-23T16:49:40Z</dcterms:created>
  <dcterms:modified xsi:type="dcterms:W3CDTF">2021-04-08T17:11:18Z</dcterms:modified>
</cp:coreProperties>
</file>