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4"/>
  </p:notesMasterIdLst>
  <p:sldIdLst>
    <p:sldId id="395" r:id="rId2"/>
    <p:sldId id="367" r:id="rId3"/>
    <p:sldId id="396" r:id="rId4"/>
    <p:sldId id="400" r:id="rId5"/>
    <p:sldId id="407" r:id="rId6"/>
    <p:sldId id="408" r:id="rId7"/>
    <p:sldId id="409" r:id="rId8"/>
    <p:sldId id="410" r:id="rId9"/>
    <p:sldId id="411" r:id="rId10"/>
    <p:sldId id="412" r:id="rId11"/>
    <p:sldId id="413" r:id="rId12"/>
    <p:sldId id="41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89" autoAdjust="0"/>
    <p:restoredTop sz="95137" autoAdjust="0"/>
  </p:normalViewPr>
  <p:slideViewPr>
    <p:cSldViewPr snapToGrid="0">
      <p:cViewPr varScale="1">
        <p:scale>
          <a:sx n="130" d="100"/>
          <a:sy n="130" d="100"/>
        </p:scale>
        <p:origin x="156" y="9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23" d="100"/>
          <a:sy n="123" d="100"/>
        </p:scale>
        <p:origin x="4122" y="11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E6C2A8-2747-4294-A578-3E60BC72699C}" type="doc">
      <dgm:prSet loTypeId="urn:microsoft.com/office/officeart/2005/8/layout/process1" loCatId="process" qsTypeId="urn:microsoft.com/office/officeart/2005/8/quickstyle/simple1" qsCatId="simple" csTypeId="urn:microsoft.com/office/officeart/2005/8/colors/colorful5" csCatId="colorful" phldr="1"/>
      <dgm:spPr/>
    </dgm:pt>
    <dgm:pt modelId="{7F4B5FFF-9ED3-467E-9F08-56224C0F0A7F}">
      <dgm:prSet phldrT="[Text]" custT="1"/>
      <dgm:spPr/>
      <dgm:t>
        <a:bodyPr/>
        <a:lstStyle/>
        <a:p>
          <a:r>
            <a:rPr lang="en-US" sz="1100" dirty="0"/>
            <a:t>Physics and Simulation</a:t>
          </a:r>
        </a:p>
      </dgm:t>
    </dgm:pt>
    <dgm:pt modelId="{C8A8C85B-5DBC-4826-B79B-1827F17A1C87}" type="parTrans" cxnId="{59951FFD-F138-4D68-9127-248155DB05BC}">
      <dgm:prSet/>
      <dgm:spPr/>
      <dgm:t>
        <a:bodyPr/>
        <a:lstStyle/>
        <a:p>
          <a:endParaRPr lang="en-US"/>
        </a:p>
      </dgm:t>
    </dgm:pt>
    <dgm:pt modelId="{7CE53D13-2F1E-4334-8FCF-7819053F807A}" type="sibTrans" cxnId="{59951FFD-F138-4D68-9127-248155DB05BC}">
      <dgm:prSet/>
      <dgm:spPr/>
      <dgm:t>
        <a:bodyPr/>
        <a:lstStyle/>
        <a:p>
          <a:endParaRPr lang="en-US"/>
        </a:p>
      </dgm:t>
    </dgm:pt>
    <dgm:pt modelId="{D4F4622E-522E-42E2-9325-882BA587A43A}">
      <dgm:prSet phldrT="[Text]" custT="1"/>
      <dgm:spPr/>
      <dgm:t>
        <a:bodyPr/>
        <a:lstStyle/>
        <a:p>
          <a:r>
            <a:rPr lang="en-US" sz="1100" dirty="0"/>
            <a:t>3D Game Design</a:t>
          </a:r>
        </a:p>
      </dgm:t>
    </dgm:pt>
    <dgm:pt modelId="{12D438F1-16F0-4289-9C29-07BB8C8DEA4E}" type="parTrans" cxnId="{9B3C77B5-5FC6-4633-9644-197BB5B7C090}">
      <dgm:prSet/>
      <dgm:spPr/>
      <dgm:t>
        <a:bodyPr/>
        <a:lstStyle/>
        <a:p>
          <a:endParaRPr lang="en-US"/>
        </a:p>
      </dgm:t>
    </dgm:pt>
    <dgm:pt modelId="{F2442B81-00C0-4435-B316-F3582779B651}" type="sibTrans" cxnId="{9B3C77B5-5FC6-4633-9644-197BB5B7C090}">
      <dgm:prSet/>
      <dgm:spPr/>
      <dgm:t>
        <a:bodyPr/>
        <a:lstStyle/>
        <a:p>
          <a:endParaRPr lang="en-US"/>
        </a:p>
      </dgm:t>
    </dgm:pt>
    <dgm:pt modelId="{5018D890-AAFD-472E-9302-54A99927D2F2}">
      <dgm:prSet phldrT="[Text]" custT="1"/>
      <dgm:spPr/>
      <dgm:t>
        <a:bodyPr/>
        <a:lstStyle/>
        <a:p>
          <a:r>
            <a:rPr lang="en-US" sz="1100" dirty="0"/>
            <a:t>Game Engine Development (UE4)</a:t>
          </a:r>
        </a:p>
      </dgm:t>
    </dgm:pt>
    <dgm:pt modelId="{C68B5517-D6E9-4E6C-9F66-1ECAE0112F55}" type="parTrans" cxnId="{E791144E-EF76-402C-9A5E-4A713FB35D0B}">
      <dgm:prSet/>
      <dgm:spPr/>
      <dgm:t>
        <a:bodyPr/>
        <a:lstStyle/>
        <a:p>
          <a:endParaRPr lang="en-US"/>
        </a:p>
      </dgm:t>
    </dgm:pt>
    <dgm:pt modelId="{75B7678E-C7D0-4C36-8814-68FB15AA7C15}" type="sibTrans" cxnId="{E791144E-EF76-402C-9A5E-4A713FB35D0B}">
      <dgm:prSet/>
      <dgm:spPr/>
      <dgm:t>
        <a:bodyPr/>
        <a:lstStyle/>
        <a:p>
          <a:endParaRPr lang="en-US"/>
        </a:p>
      </dgm:t>
    </dgm:pt>
    <dgm:pt modelId="{028A8B19-4191-4E76-9454-D83DBC41B6F4}">
      <dgm:prSet phldrT="[Text]" custT="1"/>
      <dgm:spPr/>
      <dgm:t>
        <a:bodyPr/>
        <a:lstStyle/>
        <a:p>
          <a:r>
            <a:rPr lang="en-US" sz="1100" dirty="0"/>
            <a:t>Team Project</a:t>
          </a:r>
        </a:p>
      </dgm:t>
    </dgm:pt>
    <dgm:pt modelId="{DF0BABC2-F8A9-42CD-A0F1-ADFF9CFA12E7}" type="parTrans" cxnId="{99DC17BD-EA48-409D-8014-D4F4A34E2DB2}">
      <dgm:prSet/>
      <dgm:spPr/>
      <dgm:t>
        <a:bodyPr/>
        <a:lstStyle/>
        <a:p>
          <a:endParaRPr lang="en-US"/>
        </a:p>
      </dgm:t>
    </dgm:pt>
    <dgm:pt modelId="{D8184D79-403A-484F-A3B2-E8AFE6EAB0DE}" type="sibTrans" cxnId="{99DC17BD-EA48-409D-8014-D4F4A34E2DB2}">
      <dgm:prSet/>
      <dgm:spPr/>
      <dgm:t>
        <a:bodyPr/>
        <a:lstStyle/>
        <a:p>
          <a:endParaRPr lang="en-US"/>
        </a:p>
      </dgm:t>
    </dgm:pt>
    <dgm:pt modelId="{629C9996-1516-4DD1-93F0-210EC0081A28}">
      <dgm:prSet phldrT="[Text]" custT="1"/>
      <dgm:spPr/>
      <dgm:t>
        <a:bodyPr/>
        <a:lstStyle/>
        <a:p>
          <a:r>
            <a:rPr lang="en-US" sz="1100" dirty="0"/>
            <a:t>2D Game Design</a:t>
          </a:r>
        </a:p>
      </dgm:t>
    </dgm:pt>
    <dgm:pt modelId="{BC85CDFF-CF68-43B6-9065-A20E84409B67}" type="sibTrans" cxnId="{1C5903B3-06E9-477C-BAAF-FE6A078B705F}">
      <dgm:prSet/>
      <dgm:spPr/>
      <dgm:t>
        <a:bodyPr/>
        <a:lstStyle/>
        <a:p>
          <a:endParaRPr lang="en-US"/>
        </a:p>
      </dgm:t>
    </dgm:pt>
    <dgm:pt modelId="{EDB9C1ED-567D-413B-8E5D-7BBB68CF638E}" type="parTrans" cxnId="{1C5903B3-06E9-477C-BAAF-FE6A078B705F}">
      <dgm:prSet/>
      <dgm:spPr/>
      <dgm:t>
        <a:bodyPr/>
        <a:lstStyle/>
        <a:p>
          <a:endParaRPr lang="en-US"/>
        </a:p>
      </dgm:t>
    </dgm:pt>
    <dgm:pt modelId="{7E787B9E-F68A-4726-AD47-A41529D72F7A}">
      <dgm:prSet phldrT="[Text]" custT="1"/>
      <dgm:spPr/>
      <dgm:t>
        <a:bodyPr/>
        <a:lstStyle/>
        <a:p>
          <a:r>
            <a:rPr lang="en-US" sz="1100" dirty="0"/>
            <a:t>Introduction to Game Engines</a:t>
          </a:r>
        </a:p>
      </dgm:t>
    </dgm:pt>
    <dgm:pt modelId="{20A36317-A207-4A58-B8F2-9C7A040AEAC2}" type="sibTrans" cxnId="{43B89582-B31F-4149-8680-7DF2F5ACBFFF}">
      <dgm:prSet/>
      <dgm:spPr/>
      <dgm:t>
        <a:bodyPr/>
        <a:lstStyle/>
        <a:p>
          <a:endParaRPr lang="en-US"/>
        </a:p>
      </dgm:t>
    </dgm:pt>
    <dgm:pt modelId="{131A7A07-DA4A-469D-B68E-6F212B635694}" type="parTrans" cxnId="{43B89582-B31F-4149-8680-7DF2F5ACBFFF}">
      <dgm:prSet/>
      <dgm:spPr/>
      <dgm:t>
        <a:bodyPr/>
        <a:lstStyle/>
        <a:p>
          <a:endParaRPr lang="en-US"/>
        </a:p>
      </dgm:t>
    </dgm:pt>
    <dgm:pt modelId="{EE241DB9-664A-4755-BD9A-A47EB96DD90E}" type="pres">
      <dgm:prSet presAssocID="{D1E6C2A8-2747-4294-A578-3E60BC72699C}" presName="Name0" presStyleCnt="0">
        <dgm:presLayoutVars>
          <dgm:dir/>
          <dgm:resizeHandles val="exact"/>
        </dgm:presLayoutVars>
      </dgm:prSet>
      <dgm:spPr/>
    </dgm:pt>
    <dgm:pt modelId="{98610125-610F-4440-81CC-D81E7A28C4B6}" type="pres">
      <dgm:prSet presAssocID="{7E787B9E-F68A-4726-AD47-A41529D72F7A}" presName="node" presStyleLbl="node1" presStyleIdx="0" presStyleCnt="6">
        <dgm:presLayoutVars>
          <dgm:bulletEnabled val="1"/>
        </dgm:presLayoutVars>
      </dgm:prSet>
      <dgm:spPr/>
    </dgm:pt>
    <dgm:pt modelId="{10F89025-5263-4F54-A62C-3353C3189BAB}" type="pres">
      <dgm:prSet presAssocID="{20A36317-A207-4A58-B8F2-9C7A040AEAC2}" presName="sibTrans" presStyleLbl="sibTrans2D1" presStyleIdx="0" presStyleCnt="5"/>
      <dgm:spPr/>
    </dgm:pt>
    <dgm:pt modelId="{A0AB54E4-A336-4934-AACD-A2A8D60C157A}" type="pres">
      <dgm:prSet presAssocID="{20A36317-A207-4A58-B8F2-9C7A040AEAC2}" presName="connectorText" presStyleLbl="sibTrans2D1" presStyleIdx="0" presStyleCnt="5"/>
      <dgm:spPr/>
    </dgm:pt>
    <dgm:pt modelId="{77A6D4E2-F93D-46CA-AC6C-C7A1C1E347E3}" type="pres">
      <dgm:prSet presAssocID="{629C9996-1516-4DD1-93F0-210EC0081A28}" presName="node" presStyleLbl="node1" presStyleIdx="1" presStyleCnt="6">
        <dgm:presLayoutVars>
          <dgm:bulletEnabled val="1"/>
        </dgm:presLayoutVars>
      </dgm:prSet>
      <dgm:spPr/>
    </dgm:pt>
    <dgm:pt modelId="{F5F18F9E-6630-4259-9DFB-993D7969FA98}" type="pres">
      <dgm:prSet presAssocID="{BC85CDFF-CF68-43B6-9065-A20E84409B67}" presName="sibTrans" presStyleLbl="sibTrans2D1" presStyleIdx="1" presStyleCnt="5"/>
      <dgm:spPr/>
    </dgm:pt>
    <dgm:pt modelId="{AE995AEC-51BE-4AE1-9901-273464BC5FD7}" type="pres">
      <dgm:prSet presAssocID="{BC85CDFF-CF68-43B6-9065-A20E84409B67}" presName="connectorText" presStyleLbl="sibTrans2D1" presStyleIdx="1" presStyleCnt="5"/>
      <dgm:spPr/>
    </dgm:pt>
    <dgm:pt modelId="{48713530-359F-4B24-AD8E-90F5CA1E5B8A}" type="pres">
      <dgm:prSet presAssocID="{7F4B5FFF-9ED3-467E-9F08-56224C0F0A7F}" presName="node" presStyleLbl="node1" presStyleIdx="2" presStyleCnt="6">
        <dgm:presLayoutVars>
          <dgm:bulletEnabled val="1"/>
        </dgm:presLayoutVars>
      </dgm:prSet>
      <dgm:spPr/>
    </dgm:pt>
    <dgm:pt modelId="{00191EE8-DED7-4FD3-90EA-E6EDEBC6E0E2}" type="pres">
      <dgm:prSet presAssocID="{7CE53D13-2F1E-4334-8FCF-7819053F807A}" presName="sibTrans" presStyleLbl="sibTrans2D1" presStyleIdx="2" presStyleCnt="5"/>
      <dgm:spPr/>
    </dgm:pt>
    <dgm:pt modelId="{C2749609-6B32-41C5-9D20-70B086BA6C75}" type="pres">
      <dgm:prSet presAssocID="{7CE53D13-2F1E-4334-8FCF-7819053F807A}" presName="connectorText" presStyleLbl="sibTrans2D1" presStyleIdx="2" presStyleCnt="5"/>
      <dgm:spPr/>
    </dgm:pt>
    <dgm:pt modelId="{D6E9322D-7193-4E11-99DF-55341D827C99}" type="pres">
      <dgm:prSet presAssocID="{D4F4622E-522E-42E2-9325-882BA587A43A}" presName="node" presStyleLbl="node1" presStyleIdx="3" presStyleCnt="6">
        <dgm:presLayoutVars>
          <dgm:bulletEnabled val="1"/>
        </dgm:presLayoutVars>
      </dgm:prSet>
      <dgm:spPr/>
    </dgm:pt>
    <dgm:pt modelId="{20F28471-F34B-4756-9517-8F3AE9BAB6F8}" type="pres">
      <dgm:prSet presAssocID="{F2442B81-00C0-4435-B316-F3582779B651}" presName="sibTrans" presStyleLbl="sibTrans2D1" presStyleIdx="3" presStyleCnt="5"/>
      <dgm:spPr/>
    </dgm:pt>
    <dgm:pt modelId="{729AA94F-516C-49C1-B401-25B4BBC4C87C}" type="pres">
      <dgm:prSet presAssocID="{F2442B81-00C0-4435-B316-F3582779B651}" presName="connectorText" presStyleLbl="sibTrans2D1" presStyleIdx="3" presStyleCnt="5"/>
      <dgm:spPr/>
    </dgm:pt>
    <dgm:pt modelId="{A9D034FE-9DDE-4F35-892B-9063091DF9E6}" type="pres">
      <dgm:prSet presAssocID="{5018D890-AAFD-472E-9302-54A99927D2F2}" presName="node" presStyleLbl="node1" presStyleIdx="4" presStyleCnt="6">
        <dgm:presLayoutVars>
          <dgm:bulletEnabled val="1"/>
        </dgm:presLayoutVars>
      </dgm:prSet>
      <dgm:spPr/>
    </dgm:pt>
    <dgm:pt modelId="{F709AAD4-A9EB-4186-88EA-9D3D10BAD85F}" type="pres">
      <dgm:prSet presAssocID="{75B7678E-C7D0-4C36-8814-68FB15AA7C15}" presName="sibTrans" presStyleLbl="sibTrans2D1" presStyleIdx="4" presStyleCnt="5"/>
      <dgm:spPr/>
    </dgm:pt>
    <dgm:pt modelId="{10CC3819-6135-4BBA-A380-2EF33B1D6B2E}" type="pres">
      <dgm:prSet presAssocID="{75B7678E-C7D0-4C36-8814-68FB15AA7C15}" presName="connectorText" presStyleLbl="sibTrans2D1" presStyleIdx="4" presStyleCnt="5"/>
      <dgm:spPr/>
    </dgm:pt>
    <dgm:pt modelId="{B00F87D7-9E7F-4BAE-B409-6C0C48291B75}" type="pres">
      <dgm:prSet presAssocID="{028A8B19-4191-4E76-9454-D83DBC41B6F4}" presName="node" presStyleLbl="node1" presStyleIdx="5" presStyleCnt="6">
        <dgm:presLayoutVars>
          <dgm:bulletEnabled val="1"/>
        </dgm:presLayoutVars>
      </dgm:prSet>
      <dgm:spPr/>
    </dgm:pt>
  </dgm:ptLst>
  <dgm:cxnLst>
    <dgm:cxn modelId="{0FAD7C00-9515-42C1-8889-692E99739B1D}" type="presOf" srcId="{7CE53D13-2F1E-4334-8FCF-7819053F807A}" destId="{00191EE8-DED7-4FD3-90EA-E6EDEBC6E0E2}" srcOrd="0" destOrd="0" presId="urn:microsoft.com/office/officeart/2005/8/layout/process1"/>
    <dgm:cxn modelId="{38130F02-ED4C-4534-858A-EEC006413E5D}" type="presOf" srcId="{629C9996-1516-4DD1-93F0-210EC0081A28}" destId="{77A6D4E2-F93D-46CA-AC6C-C7A1C1E347E3}" srcOrd="0" destOrd="0" presId="urn:microsoft.com/office/officeart/2005/8/layout/process1"/>
    <dgm:cxn modelId="{97A4D207-126B-4A30-9CDC-D8A900EDB80B}" type="presOf" srcId="{75B7678E-C7D0-4C36-8814-68FB15AA7C15}" destId="{10CC3819-6135-4BBA-A380-2EF33B1D6B2E}" srcOrd="1" destOrd="0" presId="urn:microsoft.com/office/officeart/2005/8/layout/process1"/>
    <dgm:cxn modelId="{FD6FBE2B-B8C9-4CE7-829A-13E356681BB6}" type="presOf" srcId="{F2442B81-00C0-4435-B316-F3582779B651}" destId="{20F28471-F34B-4756-9517-8F3AE9BAB6F8}" srcOrd="0" destOrd="0" presId="urn:microsoft.com/office/officeart/2005/8/layout/process1"/>
    <dgm:cxn modelId="{E775FF2C-0089-4C18-AAB9-E18412CF5B0B}" type="presOf" srcId="{BC85CDFF-CF68-43B6-9065-A20E84409B67}" destId="{F5F18F9E-6630-4259-9DFB-993D7969FA98}" srcOrd="0" destOrd="0" presId="urn:microsoft.com/office/officeart/2005/8/layout/process1"/>
    <dgm:cxn modelId="{F1864F3F-078C-4EF2-A234-6459774A7495}" type="presOf" srcId="{D4F4622E-522E-42E2-9325-882BA587A43A}" destId="{D6E9322D-7193-4E11-99DF-55341D827C99}" srcOrd="0" destOrd="0" presId="urn:microsoft.com/office/officeart/2005/8/layout/process1"/>
    <dgm:cxn modelId="{F061DE67-415E-480B-BD1A-6FE6FBE9B91D}" type="presOf" srcId="{7F4B5FFF-9ED3-467E-9F08-56224C0F0A7F}" destId="{48713530-359F-4B24-AD8E-90F5CA1E5B8A}" srcOrd="0" destOrd="0" presId="urn:microsoft.com/office/officeart/2005/8/layout/process1"/>
    <dgm:cxn modelId="{E791144E-EF76-402C-9A5E-4A713FB35D0B}" srcId="{D1E6C2A8-2747-4294-A578-3E60BC72699C}" destId="{5018D890-AAFD-472E-9302-54A99927D2F2}" srcOrd="4" destOrd="0" parTransId="{C68B5517-D6E9-4E6C-9F66-1ECAE0112F55}" sibTransId="{75B7678E-C7D0-4C36-8814-68FB15AA7C15}"/>
    <dgm:cxn modelId="{6D144672-D7C8-4E24-B5A9-313829689552}" type="presOf" srcId="{5018D890-AAFD-472E-9302-54A99927D2F2}" destId="{A9D034FE-9DDE-4F35-892B-9063091DF9E6}" srcOrd="0" destOrd="0" presId="urn:microsoft.com/office/officeart/2005/8/layout/process1"/>
    <dgm:cxn modelId="{D1417059-D349-4183-BAB9-137E81344DF4}" type="presOf" srcId="{75B7678E-C7D0-4C36-8814-68FB15AA7C15}" destId="{F709AAD4-A9EB-4186-88EA-9D3D10BAD85F}" srcOrd="0" destOrd="0" presId="urn:microsoft.com/office/officeart/2005/8/layout/process1"/>
    <dgm:cxn modelId="{D26D4A7A-69F6-49B8-80AD-10EE754C7276}" type="presOf" srcId="{BC85CDFF-CF68-43B6-9065-A20E84409B67}" destId="{AE995AEC-51BE-4AE1-9901-273464BC5FD7}" srcOrd="1" destOrd="0" presId="urn:microsoft.com/office/officeart/2005/8/layout/process1"/>
    <dgm:cxn modelId="{43B89582-B31F-4149-8680-7DF2F5ACBFFF}" srcId="{D1E6C2A8-2747-4294-A578-3E60BC72699C}" destId="{7E787B9E-F68A-4726-AD47-A41529D72F7A}" srcOrd="0" destOrd="0" parTransId="{131A7A07-DA4A-469D-B68E-6F212B635694}" sibTransId="{20A36317-A207-4A58-B8F2-9C7A040AEAC2}"/>
    <dgm:cxn modelId="{C3865392-7FEE-4C29-B07C-5179D9E4B558}" type="presOf" srcId="{7CE53D13-2F1E-4334-8FCF-7819053F807A}" destId="{C2749609-6B32-41C5-9D20-70B086BA6C75}" srcOrd="1" destOrd="0" presId="urn:microsoft.com/office/officeart/2005/8/layout/process1"/>
    <dgm:cxn modelId="{6D36BDAF-49F0-49F1-A1F4-5FE8CED45AED}" type="presOf" srcId="{7E787B9E-F68A-4726-AD47-A41529D72F7A}" destId="{98610125-610F-4440-81CC-D81E7A28C4B6}" srcOrd="0" destOrd="0" presId="urn:microsoft.com/office/officeart/2005/8/layout/process1"/>
    <dgm:cxn modelId="{1C5903B3-06E9-477C-BAAF-FE6A078B705F}" srcId="{D1E6C2A8-2747-4294-A578-3E60BC72699C}" destId="{629C9996-1516-4DD1-93F0-210EC0081A28}" srcOrd="1" destOrd="0" parTransId="{EDB9C1ED-567D-413B-8E5D-7BBB68CF638E}" sibTransId="{BC85CDFF-CF68-43B6-9065-A20E84409B67}"/>
    <dgm:cxn modelId="{9B3C77B5-5FC6-4633-9644-197BB5B7C090}" srcId="{D1E6C2A8-2747-4294-A578-3E60BC72699C}" destId="{D4F4622E-522E-42E2-9325-882BA587A43A}" srcOrd="3" destOrd="0" parTransId="{12D438F1-16F0-4289-9C29-07BB8C8DEA4E}" sibTransId="{F2442B81-00C0-4435-B316-F3582779B651}"/>
    <dgm:cxn modelId="{99DC17BD-EA48-409D-8014-D4F4A34E2DB2}" srcId="{D1E6C2A8-2747-4294-A578-3E60BC72699C}" destId="{028A8B19-4191-4E76-9454-D83DBC41B6F4}" srcOrd="5" destOrd="0" parTransId="{DF0BABC2-F8A9-42CD-A0F1-ADFF9CFA12E7}" sibTransId="{D8184D79-403A-484F-A3B2-E8AFE6EAB0DE}"/>
    <dgm:cxn modelId="{66A9E0D2-602B-4FD9-A9FF-6E9B691503B2}" type="presOf" srcId="{028A8B19-4191-4E76-9454-D83DBC41B6F4}" destId="{B00F87D7-9E7F-4BAE-B409-6C0C48291B75}" srcOrd="0" destOrd="0" presId="urn:microsoft.com/office/officeart/2005/8/layout/process1"/>
    <dgm:cxn modelId="{8AF961D8-ED52-4747-93B1-9DDDEC16D787}" type="presOf" srcId="{20A36317-A207-4A58-B8F2-9C7A040AEAC2}" destId="{10F89025-5263-4F54-A62C-3353C3189BAB}" srcOrd="0" destOrd="0" presId="urn:microsoft.com/office/officeart/2005/8/layout/process1"/>
    <dgm:cxn modelId="{924CE9E8-1BC6-4054-944C-F553F103F0C2}" type="presOf" srcId="{D1E6C2A8-2747-4294-A578-3E60BC72699C}" destId="{EE241DB9-664A-4755-BD9A-A47EB96DD90E}" srcOrd="0" destOrd="0" presId="urn:microsoft.com/office/officeart/2005/8/layout/process1"/>
    <dgm:cxn modelId="{AF3EF2EA-CC0B-4909-BF69-F81F38D58DFD}" type="presOf" srcId="{20A36317-A207-4A58-B8F2-9C7A040AEAC2}" destId="{A0AB54E4-A336-4934-AACD-A2A8D60C157A}" srcOrd="1" destOrd="0" presId="urn:microsoft.com/office/officeart/2005/8/layout/process1"/>
    <dgm:cxn modelId="{CB8EA2F1-00F7-41CF-8BA7-00543129BDC0}" type="presOf" srcId="{F2442B81-00C0-4435-B316-F3582779B651}" destId="{729AA94F-516C-49C1-B401-25B4BBC4C87C}" srcOrd="1" destOrd="0" presId="urn:microsoft.com/office/officeart/2005/8/layout/process1"/>
    <dgm:cxn modelId="{59951FFD-F138-4D68-9127-248155DB05BC}" srcId="{D1E6C2A8-2747-4294-A578-3E60BC72699C}" destId="{7F4B5FFF-9ED3-467E-9F08-56224C0F0A7F}" srcOrd="2" destOrd="0" parTransId="{C8A8C85B-5DBC-4826-B79B-1827F17A1C87}" sibTransId="{7CE53D13-2F1E-4334-8FCF-7819053F807A}"/>
    <dgm:cxn modelId="{67687466-2CC7-4219-ACBC-C682EF01AD53}" type="presParOf" srcId="{EE241DB9-664A-4755-BD9A-A47EB96DD90E}" destId="{98610125-610F-4440-81CC-D81E7A28C4B6}" srcOrd="0" destOrd="0" presId="urn:microsoft.com/office/officeart/2005/8/layout/process1"/>
    <dgm:cxn modelId="{067B4648-9F28-4B8E-9BA9-1D0D3D61B3D0}" type="presParOf" srcId="{EE241DB9-664A-4755-BD9A-A47EB96DD90E}" destId="{10F89025-5263-4F54-A62C-3353C3189BAB}" srcOrd="1" destOrd="0" presId="urn:microsoft.com/office/officeart/2005/8/layout/process1"/>
    <dgm:cxn modelId="{E8CC6C95-2DC5-471C-AE26-415E1939504E}" type="presParOf" srcId="{10F89025-5263-4F54-A62C-3353C3189BAB}" destId="{A0AB54E4-A336-4934-AACD-A2A8D60C157A}" srcOrd="0" destOrd="0" presId="urn:microsoft.com/office/officeart/2005/8/layout/process1"/>
    <dgm:cxn modelId="{FA878378-E582-4EB8-B772-DC8DD469F1B1}" type="presParOf" srcId="{EE241DB9-664A-4755-BD9A-A47EB96DD90E}" destId="{77A6D4E2-F93D-46CA-AC6C-C7A1C1E347E3}" srcOrd="2" destOrd="0" presId="urn:microsoft.com/office/officeart/2005/8/layout/process1"/>
    <dgm:cxn modelId="{7559F5CC-05C1-4085-9C57-F1D7ED95701E}" type="presParOf" srcId="{EE241DB9-664A-4755-BD9A-A47EB96DD90E}" destId="{F5F18F9E-6630-4259-9DFB-993D7969FA98}" srcOrd="3" destOrd="0" presId="urn:microsoft.com/office/officeart/2005/8/layout/process1"/>
    <dgm:cxn modelId="{C40299B4-D8CE-452E-B887-416BFB580C54}" type="presParOf" srcId="{F5F18F9E-6630-4259-9DFB-993D7969FA98}" destId="{AE995AEC-51BE-4AE1-9901-273464BC5FD7}" srcOrd="0" destOrd="0" presId="urn:microsoft.com/office/officeart/2005/8/layout/process1"/>
    <dgm:cxn modelId="{EBA963BB-40F9-47DA-82A7-40E6A5445369}" type="presParOf" srcId="{EE241DB9-664A-4755-BD9A-A47EB96DD90E}" destId="{48713530-359F-4B24-AD8E-90F5CA1E5B8A}" srcOrd="4" destOrd="0" presId="urn:microsoft.com/office/officeart/2005/8/layout/process1"/>
    <dgm:cxn modelId="{B9F6EE1C-849D-4D02-B0B8-ACA39867AB20}" type="presParOf" srcId="{EE241DB9-664A-4755-BD9A-A47EB96DD90E}" destId="{00191EE8-DED7-4FD3-90EA-E6EDEBC6E0E2}" srcOrd="5" destOrd="0" presId="urn:microsoft.com/office/officeart/2005/8/layout/process1"/>
    <dgm:cxn modelId="{8B07C9AD-79B2-440C-BD6C-A72583E2D314}" type="presParOf" srcId="{00191EE8-DED7-4FD3-90EA-E6EDEBC6E0E2}" destId="{C2749609-6B32-41C5-9D20-70B086BA6C75}" srcOrd="0" destOrd="0" presId="urn:microsoft.com/office/officeart/2005/8/layout/process1"/>
    <dgm:cxn modelId="{E4D9C973-9995-46DA-ABD7-D518472829EA}" type="presParOf" srcId="{EE241DB9-664A-4755-BD9A-A47EB96DD90E}" destId="{D6E9322D-7193-4E11-99DF-55341D827C99}" srcOrd="6" destOrd="0" presId="urn:microsoft.com/office/officeart/2005/8/layout/process1"/>
    <dgm:cxn modelId="{E16E5F45-6543-4DF4-A9EF-424240AA8897}" type="presParOf" srcId="{EE241DB9-664A-4755-BD9A-A47EB96DD90E}" destId="{20F28471-F34B-4756-9517-8F3AE9BAB6F8}" srcOrd="7" destOrd="0" presId="urn:microsoft.com/office/officeart/2005/8/layout/process1"/>
    <dgm:cxn modelId="{E176BDC8-3F6B-4CFD-BA8C-AC1AA40E3C5F}" type="presParOf" srcId="{20F28471-F34B-4756-9517-8F3AE9BAB6F8}" destId="{729AA94F-516C-49C1-B401-25B4BBC4C87C}" srcOrd="0" destOrd="0" presId="urn:microsoft.com/office/officeart/2005/8/layout/process1"/>
    <dgm:cxn modelId="{5193AEB9-F065-42FB-BBE6-8EFDEC981F9C}" type="presParOf" srcId="{EE241DB9-664A-4755-BD9A-A47EB96DD90E}" destId="{A9D034FE-9DDE-4F35-892B-9063091DF9E6}" srcOrd="8" destOrd="0" presId="urn:microsoft.com/office/officeart/2005/8/layout/process1"/>
    <dgm:cxn modelId="{9AD46F83-4762-4EB4-ADFF-C268AFF97BEB}" type="presParOf" srcId="{EE241DB9-664A-4755-BD9A-A47EB96DD90E}" destId="{F709AAD4-A9EB-4186-88EA-9D3D10BAD85F}" srcOrd="9" destOrd="0" presId="urn:microsoft.com/office/officeart/2005/8/layout/process1"/>
    <dgm:cxn modelId="{A5E85BCC-7085-4DC7-8007-BDC467554287}" type="presParOf" srcId="{F709AAD4-A9EB-4186-88EA-9D3D10BAD85F}" destId="{10CC3819-6135-4BBA-A380-2EF33B1D6B2E}" srcOrd="0" destOrd="0" presId="urn:microsoft.com/office/officeart/2005/8/layout/process1"/>
    <dgm:cxn modelId="{796D8A67-91D2-4146-A37D-03BDF60D13D3}" type="presParOf" srcId="{EE241DB9-664A-4755-BD9A-A47EB96DD90E}" destId="{B00F87D7-9E7F-4BAE-B409-6C0C48291B75}"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610125-610F-4440-81CC-D81E7A28C4B6}">
      <dsp:nvSpPr>
        <dsp:cNvPr id="0" name=""/>
        <dsp:cNvSpPr/>
      </dsp:nvSpPr>
      <dsp:spPr>
        <a:xfrm>
          <a:off x="0" y="1244781"/>
          <a:ext cx="1221014" cy="732608"/>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Introduction to Game Engines</a:t>
          </a:r>
        </a:p>
      </dsp:txBody>
      <dsp:txXfrm>
        <a:off x="21457" y="1266238"/>
        <a:ext cx="1178100" cy="689694"/>
      </dsp:txXfrm>
    </dsp:sp>
    <dsp:sp modelId="{10F89025-5263-4F54-A62C-3353C3189BAB}">
      <dsp:nvSpPr>
        <dsp:cNvPr id="0" name=""/>
        <dsp:cNvSpPr/>
      </dsp:nvSpPr>
      <dsp:spPr>
        <a:xfrm>
          <a:off x="1343115" y="1459679"/>
          <a:ext cx="258855" cy="302811"/>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343115" y="1520241"/>
        <a:ext cx="181199" cy="181687"/>
      </dsp:txXfrm>
    </dsp:sp>
    <dsp:sp modelId="{77A6D4E2-F93D-46CA-AC6C-C7A1C1E347E3}">
      <dsp:nvSpPr>
        <dsp:cNvPr id="0" name=""/>
        <dsp:cNvSpPr/>
      </dsp:nvSpPr>
      <dsp:spPr>
        <a:xfrm>
          <a:off x="1709419" y="1244781"/>
          <a:ext cx="1221014" cy="732608"/>
        </a:xfrm>
        <a:prstGeom prst="roundRect">
          <a:avLst>
            <a:gd name="adj" fmla="val 10000"/>
          </a:avLst>
        </a:prstGeom>
        <a:solidFill>
          <a:schemeClr val="accent5">
            <a:hueOff val="-1351709"/>
            <a:satOff val="-3484"/>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2D Game Design</a:t>
          </a:r>
        </a:p>
      </dsp:txBody>
      <dsp:txXfrm>
        <a:off x="1730876" y="1266238"/>
        <a:ext cx="1178100" cy="689694"/>
      </dsp:txXfrm>
    </dsp:sp>
    <dsp:sp modelId="{F5F18F9E-6630-4259-9DFB-993D7969FA98}">
      <dsp:nvSpPr>
        <dsp:cNvPr id="0" name=""/>
        <dsp:cNvSpPr/>
      </dsp:nvSpPr>
      <dsp:spPr>
        <a:xfrm>
          <a:off x="3052535" y="1459679"/>
          <a:ext cx="258855" cy="302811"/>
        </a:xfrm>
        <a:prstGeom prst="rightArrow">
          <a:avLst>
            <a:gd name="adj1" fmla="val 60000"/>
            <a:gd name="adj2" fmla="val 50000"/>
          </a:avLst>
        </a:prstGeom>
        <a:solidFill>
          <a:schemeClr val="accent5">
            <a:hueOff val="-1689636"/>
            <a:satOff val="-4355"/>
            <a:lumOff val="-294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052535" y="1520241"/>
        <a:ext cx="181199" cy="181687"/>
      </dsp:txXfrm>
    </dsp:sp>
    <dsp:sp modelId="{48713530-359F-4B24-AD8E-90F5CA1E5B8A}">
      <dsp:nvSpPr>
        <dsp:cNvPr id="0" name=""/>
        <dsp:cNvSpPr/>
      </dsp:nvSpPr>
      <dsp:spPr>
        <a:xfrm>
          <a:off x="3418839" y="1244781"/>
          <a:ext cx="1221014" cy="732608"/>
        </a:xfrm>
        <a:prstGeom prst="roundRect">
          <a:avLst>
            <a:gd name="adj" fmla="val 10000"/>
          </a:avLst>
        </a:prstGeom>
        <a:solidFill>
          <a:schemeClr val="accent5">
            <a:hueOff val="-2703417"/>
            <a:satOff val="-6968"/>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Physics and Simulation</a:t>
          </a:r>
        </a:p>
      </dsp:txBody>
      <dsp:txXfrm>
        <a:off x="3440296" y="1266238"/>
        <a:ext cx="1178100" cy="689694"/>
      </dsp:txXfrm>
    </dsp:sp>
    <dsp:sp modelId="{00191EE8-DED7-4FD3-90EA-E6EDEBC6E0E2}">
      <dsp:nvSpPr>
        <dsp:cNvPr id="0" name=""/>
        <dsp:cNvSpPr/>
      </dsp:nvSpPr>
      <dsp:spPr>
        <a:xfrm>
          <a:off x="4761955" y="1459679"/>
          <a:ext cx="258855" cy="302811"/>
        </a:xfrm>
        <a:prstGeom prst="rightArrow">
          <a:avLst>
            <a:gd name="adj1" fmla="val 60000"/>
            <a:gd name="adj2" fmla="val 50000"/>
          </a:avLst>
        </a:prstGeom>
        <a:solidFill>
          <a:schemeClr val="accent5">
            <a:hueOff val="-3379271"/>
            <a:satOff val="-8710"/>
            <a:lumOff val="-588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761955" y="1520241"/>
        <a:ext cx="181199" cy="181687"/>
      </dsp:txXfrm>
    </dsp:sp>
    <dsp:sp modelId="{D6E9322D-7193-4E11-99DF-55341D827C99}">
      <dsp:nvSpPr>
        <dsp:cNvPr id="0" name=""/>
        <dsp:cNvSpPr/>
      </dsp:nvSpPr>
      <dsp:spPr>
        <a:xfrm>
          <a:off x="5128259" y="1244781"/>
          <a:ext cx="1221014" cy="732608"/>
        </a:xfrm>
        <a:prstGeom prst="roundRect">
          <a:avLst>
            <a:gd name="adj" fmla="val 10000"/>
          </a:avLst>
        </a:prstGeom>
        <a:solidFill>
          <a:schemeClr val="accent5">
            <a:hueOff val="-4055126"/>
            <a:satOff val="-10451"/>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3D Game Design</a:t>
          </a:r>
        </a:p>
      </dsp:txBody>
      <dsp:txXfrm>
        <a:off x="5149716" y="1266238"/>
        <a:ext cx="1178100" cy="689694"/>
      </dsp:txXfrm>
    </dsp:sp>
    <dsp:sp modelId="{20F28471-F34B-4756-9517-8F3AE9BAB6F8}">
      <dsp:nvSpPr>
        <dsp:cNvPr id="0" name=""/>
        <dsp:cNvSpPr/>
      </dsp:nvSpPr>
      <dsp:spPr>
        <a:xfrm>
          <a:off x="6471375" y="1459679"/>
          <a:ext cx="258855" cy="302811"/>
        </a:xfrm>
        <a:prstGeom prst="rightArrow">
          <a:avLst>
            <a:gd name="adj1" fmla="val 60000"/>
            <a:gd name="adj2" fmla="val 50000"/>
          </a:avLst>
        </a:prstGeom>
        <a:solidFill>
          <a:schemeClr val="accent5">
            <a:hueOff val="-5068907"/>
            <a:satOff val="-13064"/>
            <a:lumOff val="-882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471375" y="1520241"/>
        <a:ext cx="181199" cy="181687"/>
      </dsp:txXfrm>
    </dsp:sp>
    <dsp:sp modelId="{A9D034FE-9DDE-4F35-892B-9063091DF9E6}">
      <dsp:nvSpPr>
        <dsp:cNvPr id="0" name=""/>
        <dsp:cNvSpPr/>
      </dsp:nvSpPr>
      <dsp:spPr>
        <a:xfrm>
          <a:off x="6837679" y="1244781"/>
          <a:ext cx="1221014" cy="732608"/>
        </a:xfrm>
        <a:prstGeom prst="roundRect">
          <a:avLst>
            <a:gd name="adj" fmla="val 10000"/>
          </a:avLst>
        </a:prstGeom>
        <a:solidFill>
          <a:schemeClr val="accent5">
            <a:hueOff val="-5406834"/>
            <a:satOff val="-13935"/>
            <a:lumOff val="-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Game Engine Development (UE4)</a:t>
          </a:r>
        </a:p>
      </dsp:txBody>
      <dsp:txXfrm>
        <a:off x="6859136" y="1266238"/>
        <a:ext cx="1178100" cy="689694"/>
      </dsp:txXfrm>
    </dsp:sp>
    <dsp:sp modelId="{F709AAD4-A9EB-4186-88EA-9D3D10BAD85F}">
      <dsp:nvSpPr>
        <dsp:cNvPr id="0" name=""/>
        <dsp:cNvSpPr/>
      </dsp:nvSpPr>
      <dsp:spPr>
        <a:xfrm>
          <a:off x="8180795" y="1459679"/>
          <a:ext cx="258855" cy="302811"/>
        </a:xfrm>
        <a:prstGeom prst="rightArrow">
          <a:avLst>
            <a:gd name="adj1" fmla="val 60000"/>
            <a:gd name="adj2" fmla="val 50000"/>
          </a:avLst>
        </a:prstGeom>
        <a:solidFill>
          <a:schemeClr val="accent5">
            <a:hueOff val="-6758543"/>
            <a:satOff val="-17419"/>
            <a:lumOff val="-1176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180795" y="1520241"/>
        <a:ext cx="181199" cy="181687"/>
      </dsp:txXfrm>
    </dsp:sp>
    <dsp:sp modelId="{B00F87D7-9E7F-4BAE-B409-6C0C48291B75}">
      <dsp:nvSpPr>
        <dsp:cNvPr id="0" name=""/>
        <dsp:cNvSpPr/>
      </dsp:nvSpPr>
      <dsp:spPr>
        <a:xfrm>
          <a:off x="8547099" y="1244781"/>
          <a:ext cx="1221014" cy="732608"/>
        </a:xfrm>
        <a:prstGeom prst="roundRect">
          <a:avLst>
            <a:gd name="adj" fmla="val 10000"/>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Team Project</a:t>
          </a:r>
        </a:p>
      </dsp:txBody>
      <dsp:txXfrm>
        <a:off x="8568556" y="1266238"/>
        <a:ext cx="1178100" cy="68969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E81D33-D3DC-4EEE-9841-2A93D98735D4}" type="datetimeFigureOut">
              <a:rPr lang="en-US" smtClean="0"/>
              <a:t>4/19/2020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829C27-AAA8-470D-92FE-57BE00B20D4F}" type="slidenum">
              <a:rPr lang="en-US" smtClean="0"/>
              <a:t>‹#›</a:t>
            </a:fld>
            <a:endParaRPr lang="en-US"/>
          </a:p>
        </p:txBody>
      </p:sp>
    </p:spTree>
    <p:extLst>
      <p:ext uri="{BB962C8B-B14F-4D97-AF65-F5344CB8AC3E}">
        <p14:creationId xmlns:p14="http://schemas.microsoft.com/office/powerpoint/2010/main" val="390011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829C27-AAA8-470D-92FE-57BE00B20D4F}" type="slidenum">
              <a:rPr lang="en-US" smtClean="0"/>
              <a:t>3</a:t>
            </a:fld>
            <a:endParaRPr lang="en-US"/>
          </a:p>
        </p:txBody>
      </p:sp>
    </p:spTree>
    <p:extLst>
      <p:ext uri="{BB962C8B-B14F-4D97-AF65-F5344CB8AC3E}">
        <p14:creationId xmlns:p14="http://schemas.microsoft.com/office/powerpoint/2010/main" val="3214030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EEA14B-7D29-4273-9A4B-3D987F69C975}" type="datetime1">
              <a:rPr lang="en-US" smtClean="0"/>
              <a:t>4/19/2020</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3958223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9ADBC6-8DD5-4638-B8BC-C63A633FE3E1}" type="datetime1">
              <a:rPr lang="en-US" smtClean="0"/>
              <a:t>4/19/2020</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414595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55707A-BAD7-4B16-889B-31FF47A88D51}" type="datetime1">
              <a:rPr lang="en-US" smtClean="0"/>
              <a:t>4/19/2020</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1357855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F9FB99-49E1-4789-B9E2-498AF910EA8D}" type="datetime1">
              <a:rPr lang="en-US" smtClean="0"/>
              <a:t>4/19/2020</a:t>
            </a:fld>
            <a:endParaRPr lang="en-US"/>
          </a:p>
        </p:txBody>
      </p:sp>
      <p:sp>
        <p:nvSpPr>
          <p:cNvPr id="6" name="Footer Placeholder 5"/>
          <p:cNvSpPr>
            <a:spLocks noGrp="1"/>
          </p:cNvSpPr>
          <p:nvPr>
            <p:ph type="ftr" sz="quarter" idx="11"/>
          </p:nvPr>
        </p:nvSpPr>
        <p:spPr/>
        <p:txBody>
          <a:bodyPr/>
          <a:lstStyle/>
          <a:p>
            <a:r>
              <a:rPr lang="en-US"/>
              <a:t>copyright © 2017 Kevin M. Smith</a:t>
            </a:r>
          </a:p>
        </p:txBody>
      </p:sp>
      <p:sp>
        <p:nvSpPr>
          <p:cNvPr id="7" name="Slide Number Placeholder 6"/>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3308222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79CDBB-D8F7-4CE0-87E5-7722E9C2C070}" type="datetime1">
              <a:rPr lang="en-US" smtClean="0"/>
              <a:t>4/19/2020</a:t>
            </a:fld>
            <a:endParaRPr lang="en-US"/>
          </a:p>
        </p:txBody>
      </p:sp>
      <p:sp>
        <p:nvSpPr>
          <p:cNvPr id="8" name="Footer Placeholder 7"/>
          <p:cNvSpPr>
            <a:spLocks noGrp="1"/>
          </p:cNvSpPr>
          <p:nvPr>
            <p:ph type="ftr" sz="quarter" idx="11"/>
          </p:nvPr>
        </p:nvSpPr>
        <p:spPr/>
        <p:txBody>
          <a:bodyPr/>
          <a:lstStyle/>
          <a:p>
            <a:r>
              <a:rPr lang="en-US"/>
              <a:t>copyright © 2017 Kevin M. Smith</a:t>
            </a:r>
          </a:p>
        </p:txBody>
      </p:sp>
      <p:sp>
        <p:nvSpPr>
          <p:cNvPr id="9" name="Slide Number Placeholder 8"/>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1274070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F78107-59B5-4925-A842-07FDFD58D56A}" type="datetime1">
              <a:rPr lang="en-US" smtClean="0"/>
              <a:t>4/19/2020</a:t>
            </a:fld>
            <a:endParaRPr lang="en-US"/>
          </a:p>
        </p:txBody>
      </p:sp>
      <p:sp>
        <p:nvSpPr>
          <p:cNvPr id="4" name="Footer Placeholder 3"/>
          <p:cNvSpPr>
            <a:spLocks noGrp="1"/>
          </p:cNvSpPr>
          <p:nvPr>
            <p:ph type="ftr" sz="quarter" idx="11"/>
          </p:nvPr>
        </p:nvSpPr>
        <p:spPr/>
        <p:txBody>
          <a:bodyPr/>
          <a:lstStyle/>
          <a:p>
            <a:r>
              <a:rPr lang="en-US"/>
              <a:t>copyright © 2017 Kevin M. Smith</a:t>
            </a:r>
          </a:p>
        </p:txBody>
      </p:sp>
      <p:sp>
        <p:nvSpPr>
          <p:cNvPr id="5" name="Slide Number Placeholder 4"/>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477989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82D56-548C-48E3-A944-2D3414120EEB}" type="datetime1">
              <a:rPr lang="en-US" smtClean="0"/>
              <a:t>4/19/2020</a:t>
            </a:fld>
            <a:endParaRPr lang="en-US"/>
          </a:p>
        </p:txBody>
      </p:sp>
      <p:sp>
        <p:nvSpPr>
          <p:cNvPr id="3" name="Footer Placeholder 2"/>
          <p:cNvSpPr>
            <a:spLocks noGrp="1"/>
          </p:cNvSpPr>
          <p:nvPr>
            <p:ph type="ftr" sz="quarter" idx="11"/>
          </p:nvPr>
        </p:nvSpPr>
        <p:spPr/>
        <p:txBody>
          <a:bodyPr/>
          <a:lstStyle/>
          <a:p>
            <a:r>
              <a:rPr lang="en-US"/>
              <a:t>copyright © 2017 Kevin M. Smith</a:t>
            </a:r>
          </a:p>
        </p:txBody>
      </p:sp>
      <p:sp>
        <p:nvSpPr>
          <p:cNvPr id="4" name="Slide Number Placeholder 3"/>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885825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032FD48-0BC6-4EEB-A3C1-13290987431E}" type="datetime1">
              <a:rPr lang="en-US" smtClean="0"/>
              <a:t>4/19/2020</a:t>
            </a:fld>
            <a:endParaRPr lang="en-US"/>
          </a:p>
        </p:txBody>
      </p:sp>
      <p:sp>
        <p:nvSpPr>
          <p:cNvPr id="6" name="Footer Placeholder 5"/>
          <p:cNvSpPr>
            <a:spLocks noGrp="1"/>
          </p:cNvSpPr>
          <p:nvPr>
            <p:ph type="ftr" sz="quarter" idx="11"/>
          </p:nvPr>
        </p:nvSpPr>
        <p:spPr/>
        <p:txBody>
          <a:bodyPr/>
          <a:lstStyle/>
          <a:p>
            <a:r>
              <a:rPr lang="en-US"/>
              <a:t>copyright © 2017 Kevin M. Smith</a:t>
            </a:r>
          </a:p>
        </p:txBody>
      </p:sp>
      <p:sp>
        <p:nvSpPr>
          <p:cNvPr id="7" name="Slide Number Placeholder 6"/>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592474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6A858C4-80B7-4F9D-9D35-88222D1720C3}" type="datetime1">
              <a:rPr lang="en-US" smtClean="0"/>
              <a:t>4/19/2020</a:t>
            </a:fld>
            <a:endParaRPr lang="en-US"/>
          </a:p>
        </p:txBody>
      </p:sp>
      <p:sp>
        <p:nvSpPr>
          <p:cNvPr id="6" name="Footer Placeholder 5"/>
          <p:cNvSpPr>
            <a:spLocks noGrp="1"/>
          </p:cNvSpPr>
          <p:nvPr>
            <p:ph type="ftr" sz="quarter" idx="11"/>
          </p:nvPr>
        </p:nvSpPr>
        <p:spPr/>
        <p:txBody>
          <a:bodyPr/>
          <a:lstStyle/>
          <a:p>
            <a:r>
              <a:rPr lang="en-US"/>
              <a:t>copyright © 2017 Kevin M. Smith</a:t>
            </a:r>
          </a:p>
        </p:txBody>
      </p:sp>
      <p:sp>
        <p:nvSpPr>
          <p:cNvPr id="7" name="Slide Number Placeholder 6"/>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21989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D4A0C0-70BA-434F-A8BB-A0AC09ABAD10}" type="datetime1">
              <a:rPr lang="en-US" smtClean="0"/>
              <a:t>4/19/2020</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3408091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779E02-A66A-4CA8-B35F-45ED22EF8E6D}" type="datetime1">
              <a:rPr lang="en-US" smtClean="0"/>
              <a:t>4/19/2020</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572215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AF241F-E6EA-42C7-8935-3930FA83E734}" type="datetime1">
              <a:rPr lang="en-US" smtClean="0"/>
              <a:t>4/19/2020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 2017 Kevin M. Smith</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47792B-7BF8-4B18-9E81-3A6946432DE1}" type="slidenum">
              <a:rPr lang="en-US" smtClean="0"/>
              <a:t>‹#›</a:t>
            </a:fld>
            <a:endParaRPr lang="en-US"/>
          </a:p>
        </p:txBody>
      </p:sp>
    </p:spTree>
    <p:extLst>
      <p:ext uri="{BB962C8B-B14F-4D97-AF65-F5344CB8AC3E}">
        <p14:creationId xmlns:p14="http://schemas.microsoft.com/office/powerpoint/2010/main" val="3997887326"/>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 up of a logo&#10;&#10;Description generated with very high confidence">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2" name="Title 1">
            <a:extLst>
              <a:ext uri="{FF2B5EF4-FFF2-40B4-BE49-F238E27FC236}">
                <a16:creationId xmlns:a16="http://schemas.microsoft.com/office/drawing/2014/main" id="{BED09DB5-5978-4E0A-9D84-6428949B93E5}"/>
              </a:ext>
            </a:extLst>
          </p:cNvPr>
          <p:cNvSpPr>
            <a:spLocks noGrp="1"/>
          </p:cNvSpPr>
          <p:nvPr>
            <p:ph type="ctrTitle"/>
          </p:nvPr>
        </p:nvSpPr>
        <p:spPr>
          <a:xfrm>
            <a:off x="804671" y="2600324"/>
            <a:ext cx="9908637" cy="3277961"/>
          </a:xfrm>
        </p:spPr>
        <p:txBody>
          <a:bodyPr anchor="t">
            <a:normAutofit/>
          </a:bodyPr>
          <a:lstStyle/>
          <a:p>
            <a:pPr algn="l"/>
            <a:r>
              <a:rPr lang="en-US" sz="5400" dirty="0"/>
              <a:t>CS 134 Computer Game Design – 3D Graphics</a:t>
            </a:r>
          </a:p>
        </p:txBody>
      </p:sp>
      <p:sp>
        <p:nvSpPr>
          <p:cNvPr id="3" name="Subtitle 2">
            <a:extLst>
              <a:ext uri="{FF2B5EF4-FFF2-40B4-BE49-F238E27FC236}">
                <a16:creationId xmlns:a16="http://schemas.microsoft.com/office/drawing/2014/main" id="{36C6AE9A-2BEB-4C56-B297-BC12579D1D8C}"/>
              </a:ext>
            </a:extLst>
          </p:cNvPr>
          <p:cNvSpPr>
            <a:spLocks noGrp="1"/>
          </p:cNvSpPr>
          <p:nvPr>
            <p:ph type="subTitle" idx="1"/>
          </p:nvPr>
        </p:nvSpPr>
        <p:spPr>
          <a:xfrm>
            <a:off x="804672" y="1300450"/>
            <a:ext cx="4167376" cy="1155525"/>
          </a:xfrm>
        </p:spPr>
        <p:txBody>
          <a:bodyPr anchor="b">
            <a:normAutofit/>
          </a:bodyPr>
          <a:lstStyle/>
          <a:p>
            <a:pPr algn="l"/>
            <a:r>
              <a:rPr lang="en-US" sz="2000"/>
              <a:t>Instructor: Kevin M. Smith</a:t>
            </a:r>
          </a:p>
        </p:txBody>
      </p:sp>
      <p:sp>
        <p:nvSpPr>
          <p:cNvPr id="4" name="Footer Placeholder 3">
            <a:extLst>
              <a:ext uri="{FF2B5EF4-FFF2-40B4-BE49-F238E27FC236}">
                <a16:creationId xmlns:a16="http://schemas.microsoft.com/office/drawing/2014/main" id="{93832073-FAC5-49BC-895C-B564209CD2A3}"/>
              </a:ext>
            </a:extLst>
          </p:cNvPr>
          <p:cNvSpPr>
            <a:spLocks noGrp="1"/>
          </p:cNvSpPr>
          <p:nvPr>
            <p:ph type="ftr" sz="quarter" idx="11"/>
          </p:nvPr>
        </p:nvSpPr>
        <p:spPr>
          <a:xfrm>
            <a:off x="804672" y="6356350"/>
            <a:ext cx="4114800" cy="365125"/>
          </a:xfrm>
        </p:spPr>
        <p:txBody>
          <a:bodyPr>
            <a:normAutofit/>
          </a:bodyPr>
          <a:lstStyle/>
          <a:p>
            <a:pPr algn="l">
              <a:lnSpc>
                <a:spcPct val="90000"/>
              </a:lnSpc>
              <a:spcAft>
                <a:spcPts val="600"/>
              </a:spcAft>
            </a:pPr>
            <a:r>
              <a:rPr lang="en-US" sz="900">
                <a:solidFill>
                  <a:schemeClr val="tx1">
                    <a:lumMod val="85000"/>
                  </a:schemeClr>
                </a:solidFill>
              </a:rPr>
              <a:t>copyright © 2017 Kevin M. Smith, content Adapted from Jared Finder’s Slides from CS134 section 1</a:t>
            </a:r>
          </a:p>
        </p:txBody>
      </p:sp>
    </p:spTree>
    <p:extLst>
      <p:ext uri="{BB962C8B-B14F-4D97-AF65-F5344CB8AC3E}">
        <p14:creationId xmlns:p14="http://schemas.microsoft.com/office/powerpoint/2010/main" val="4007547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2226415" y="661861"/>
            <a:ext cx="1397562" cy="707886"/>
          </a:xfrm>
          <a:prstGeom prst="rect">
            <a:avLst/>
          </a:prstGeom>
          <a:noFill/>
        </p:spPr>
        <p:txBody>
          <a:bodyPr wrap="none" rtlCol="0">
            <a:spAutoFit/>
          </a:bodyPr>
          <a:lstStyle/>
          <a:p>
            <a:r>
              <a:rPr lang="en-US" sz="4000" dirty="0"/>
              <a:t>Today</a:t>
            </a:r>
          </a:p>
        </p:txBody>
      </p:sp>
      <p:sp>
        <p:nvSpPr>
          <p:cNvPr id="8" name="TextBox 7">
            <a:extLst>
              <a:ext uri="{FF2B5EF4-FFF2-40B4-BE49-F238E27FC236}">
                <a16:creationId xmlns:a16="http://schemas.microsoft.com/office/drawing/2014/main" id="{2FF4DD00-AD1E-49F6-9F25-ABCE8EFC3EEA}"/>
              </a:ext>
            </a:extLst>
          </p:cNvPr>
          <p:cNvSpPr txBox="1"/>
          <p:nvPr/>
        </p:nvSpPr>
        <p:spPr>
          <a:xfrm>
            <a:off x="2675639" y="2060552"/>
            <a:ext cx="8283999" cy="1477328"/>
          </a:xfrm>
          <a:prstGeom prst="rect">
            <a:avLst/>
          </a:prstGeom>
          <a:noFill/>
        </p:spPr>
        <p:txBody>
          <a:bodyPr wrap="square" rtlCol="0">
            <a:spAutoFit/>
          </a:bodyPr>
          <a:lstStyle/>
          <a:p>
            <a:pPr marL="342900" indent="-342900">
              <a:buFont typeface="Arial" panose="020B0604020202020204" pitchFamily="34" charset="0"/>
              <a:buChar char="•"/>
            </a:pPr>
            <a:r>
              <a:rPr lang="en-US" sz="2800" dirty="0"/>
              <a:t>Lecture: Spatial Partitioning – Using Octrees</a:t>
            </a:r>
          </a:p>
          <a:p>
            <a:pPr marL="342900" indent="-342900">
              <a:buFont typeface="Arial" panose="020B0604020202020204" pitchFamily="34" charset="0"/>
              <a:buChar char="•"/>
            </a:pPr>
            <a:r>
              <a:rPr lang="en-US" sz="2800" dirty="0"/>
              <a:t>In-Class Exercise  - Ray Selection and Bounding Boxes</a:t>
            </a:r>
          </a:p>
          <a:p>
            <a:pPr marL="800100" lvl="1" indent="-342900">
              <a:buFont typeface="Arial" panose="020B0604020202020204" pitchFamily="34" charset="0"/>
              <a:buChar char="•"/>
            </a:pPr>
            <a:endParaRPr lang="en-US" sz="1400" i="1" dirty="0"/>
          </a:p>
          <a:p>
            <a:pPr marL="342900" indent="-342900">
              <a:buFont typeface="Arial" panose="020B0604020202020204" pitchFamily="34" charset="0"/>
              <a:buChar char="•"/>
            </a:pPr>
            <a:endParaRPr lang="en-US" sz="2000" dirty="0"/>
          </a:p>
        </p:txBody>
      </p:sp>
      <p:sp>
        <p:nvSpPr>
          <p:cNvPr id="2" name="Footer Placeholder 1">
            <a:extLst>
              <a:ext uri="{FF2B5EF4-FFF2-40B4-BE49-F238E27FC236}">
                <a16:creationId xmlns:a16="http://schemas.microsoft.com/office/drawing/2014/main" id="{8B2094B6-C095-4DDF-B2F6-AA62CE839A8A}"/>
              </a:ext>
            </a:extLst>
          </p:cNvPr>
          <p:cNvSpPr>
            <a:spLocks noGrp="1"/>
          </p:cNvSpPr>
          <p:nvPr>
            <p:ph type="ftr" sz="quarter" idx="11"/>
          </p:nvPr>
        </p:nvSpPr>
        <p:spPr/>
        <p:txBody>
          <a:bodyPr/>
          <a:lstStyle/>
          <a:p>
            <a:r>
              <a:rPr lang="en-US"/>
              <a:t>copyright © 2017 Kevin M. Smith</a:t>
            </a:r>
          </a:p>
        </p:txBody>
      </p:sp>
    </p:spTree>
    <p:extLst>
      <p:ext uri="{BB962C8B-B14F-4D97-AF65-F5344CB8AC3E}">
        <p14:creationId xmlns:p14="http://schemas.microsoft.com/office/powerpoint/2010/main" val="2731888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3565030" y="572590"/>
            <a:ext cx="4798942" cy="707886"/>
          </a:xfrm>
          <a:prstGeom prst="rect">
            <a:avLst/>
          </a:prstGeom>
          <a:noFill/>
        </p:spPr>
        <p:txBody>
          <a:bodyPr wrap="none" rtlCol="0">
            <a:spAutoFit/>
          </a:bodyPr>
          <a:lstStyle/>
          <a:p>
            <a:r>
              <a:rPr lang="en-US" sz="4000" dirty="0"/>
              <a:t>CS 134 Course Outline</a:t>
            </a:r>
          </a:p>
        </p:txBody>
      </p:sp>
      <p:graphicFrame>
        <p:nvGraphicFramePr>
          <p:cNvPr id="11" name="Diagram 10">
            <a:extLst>
              <a:ext uri="{FF2B5EF4-FFF2-40B4-BE49-F238E27FC236}">
                <a16:creationId xmlns:a16="http://schemas.microsoft.com/office/drawing/2014/main" id="{287CBAA9-3AE7-4EB5-B258-099D2A155FB5}"/>
              </a:ext>
            </a:extLst>
          </p:cNvPr>
          <p:cNvGraphicFramePr/>
          <p:nvPr/>
        </p:nvGraphicFramePr>
        <p:xfrm>
          <a:off x="1374710" y="1946988"/>
          <a:ext cx="9768114" cy="32221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Rectangle 1">
            <a:extLst>
              <a:ext uri="{FF2B5EF4-FFF2-40B4-BE49-F238E27FC236}">
                <a16:creationId xmlns:a16="http://schemas.microsoft.com/office/drawing/2014/main" id="{3BBFEFC1-FA58-438E-9082-B0FAB6FDEA50}"/>
              </a:ext>
            </a:extLst>
          </p:cNvPr>
          <p:cNvSpPr/>
          <p:nvPr/>
        </p:nvSpPr>
        <p:spPr>
          <a:xfrm>
            <a:off x="6395525" y="2763496"/>
            <a:ext cx="1405450" cy="1589154"/>
          </a:xfrm>
          <a:prstGeom prst="rect">
            <a:avLst/>
          </a:prstGeom>
          <a:solidFill>
            <a:schemeClr val="accent1">
              <a:alpha val="16000"/>
            </a:schemeClr>
          </a:solidFill>
          <a:effectLst>
            <a:outerShdw blurRad="50800" dist="50800" dir="5400000" sx="37000" sy="37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A0C1CB47-B354-4FB8-816A-A7C46FA75E7E}"/>
              </a:ext>
            </a:extLst>
          </p:cNvPr>
          <p:cNvSpPr>
            <a:spLocks noGrp="1"/>
          </p:cNvSpPr>
          <p:nvPr>
            <p:ph type="ftr" sz="quarter" idx="11"/>
          </p:nvPr>
        </p:nvSpPr>
        <p:spPr/>
        <p:txBody>
          <a:bodyPr/>
          <a:lstStyle/>
          <a:p>
            <a:r>
              <a:rPr lang="en-US"/>
              <a:t>copyright © 2017 Kevin M. Smith</a:t>
            </a:r>
          </a:p>
        </p:txBody>
      </p:sp>
    </p:spTree>
    <p:extLst>
      <p:ext uri="{BB962C8B-B14F-4D97-AF65-F5344CB8AC3E}">
        <p14:creationId xmlns:p14="http://schemas.microsoft.com/office/powerpoint/2010/main" val="3880279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2226415" y="661861"/>
            <a:ext cx="4120295" cy="707886"/>
          </a:xfrm>
          <a:prstGeom prst="rect">
            <a:avLst/>
          </a:prstGeom>
          <a:noFill/>
        </p:spPr>
        <p:txBody>
          <a:bodyPr wrap="none" rtlCol="0">
            <a:spAutoFit/>
          </a:bodyPr>
          <a:lstStyle/>
          <a:p>
            <a:r>
              <a:rPr lang="en-US" sz="4000" dirty="0"/>
              <a:t>Spatial Partitioning</a:t>
            </a:r>
          </a:p>
        </p:txBody>
      </p:sp>
      <p:sp>
        <p:nvSpPr>
          <p:cNvPr id="8" name="TextBox 7">
            <a:extLst>
              <a:ext uri="{FF2B5EF4-FFF2-40B4-BE49-F238E27FC236}">
                <a16:creationId xmlns:a16="http://schemas.microsoft.com/office/drawing/2014/main" id="{2FF4DD00-AD1E-49F6-9F25-ABCE8EFC3EEA}"/>
              </a:ext>
            </a:extLst>
          </p:cNvPr>
          <p:cNvSpPr txBox="1"/>
          <p:nvPr/>
        </p:nvSpPr>
        <p:spPr>
          <a:xfrm>
            <a:off x="1168441" y="1589920"/>
            <a:ext cx="8815464" cy="8309967"/>
          </a:xfrm>
          <a:prstGeom prst="rect">
            <a:avLst/>
          </a:prstGeom>
          <a:noFill/>
        </p:spPr>
        <p:txBody>
          <a:bodyPr wrap="square" rtlCol="0">
            <a:spAutoFit/>
          </a:bodyPr>
          <a:lstStyle/>
          <a:p>
            <a:pPr marL="342900" indent="-342900">
              <a:buFont typeface="Arial" panose="020B0604020202020204" pitchFamily="34" charset="0"/>
              <a:buChar char="•"/>
            </a:pPr>
            <a:r>
              <a:rPr lang="en-US" sz="2400" dirty="0"/>
              <a:t> Spatial Partitioning</a:t>
            </a:r>
          </a:p>
          <a:p>
            <a:pPr marL="800100" lvl="1" indent="-342900">
              <a:buFont typeface="Arial" panose="020B0604020202020204" pitchFamily="34" charset="0"/>
              <a:buChar char="•"/>
            </a:pPr>
            <a:r>
              <a:rPr lang="en-US" sz="2000" dirty="0"/>
              <a:t>A method to partition (divide up) your scene to enable fast searching for objects. Example Object Types:</a:t>
            </a:r>
          </a:p>
          <a:p>
            <a:pPr marL="1257300" lvl="2" indent="-342900">
              <a:buFont typeface="Arial" panose="020B0604020202020204" pitchFamily="34" charset="0"/>
              <a:buChar char="•"/>
            </a:pPr>
            <a:r>
              <a:rPr lang="en-US" sz="2000" dirty="0"/>
              <a:t>Points</a:t>
            </a:r>
          </a:p>
          <a:p>
            <a:pPr marL="1257300" lvl="2" indent="-342900">
              <a:buFont typeface="Arial" panose="020B0604020202020204" pitchFamily="34" charset="0"/>
              <a:buChar char="•"/>
            </a:pPr>
            <a:r>
              <a:rPr lang="en-US" sz="2000" dirty="0"/>
              <a:t>Polygons</a:t>
            </a:r>
          </a:p>
          <a:p>
            <a:pPr marL="1257300" lvl="2" indent="-342900">
              <a:buFont typeface="Arial" panose="020B0604020202020204" pitchFamily="34" charset="0"/>
              <a:buChar char="•"/>
            </a:pPr>
            <a:r>
              <a:rPr lang="en-US" sz="2000" dirty="0"/>
              <a:t>Higher-Level geometry</a:t>
            </a:r>
          </a:p>
          <a:p>
            <a:pPr marL="800100" lvl="1" indent="-342900">
              <a:buFont typeface="Arial" panose="020B0604020202020204" pitchFamily="34" charset="0"/>
              <a:buChar char="•"/>
            </a:pPr>
            <a:r>
              <a:rPr lang="en-US" sz="2000" dirty="0"/>
              <a:t>Example Workflows</a:t>
            </a:r>
          </a:p>
          <a:p>
            <a:pPr marL="1257300" lvl="2" indent="-342900">
              <a:buFont typeface="Arial" panose="020B0604020202020204" pitchFamily="34" charset="0"/>
              <a:buChar char="•"/>
            </a:pPr>
            <a:r>
              <a:rPr lang="en-US" sz="2000" dirty="0"/>
              <a:t>Selecting points, polygons, geometry (with intersection testing)</a:t>
            </a:r>
          </a:p>
          <a:p>
            <a:pPr marL="1257300" lvl="2" indent="-342900">
              <a:buFont typeface="Arial" panose="020B0604020202020204" pitchFamily="34" charset="0"/>
              <a:buChar char="•"/>
            </a:pPr>
            <a:r>
              <a:rPr lang="en-US" sz="2000" dirty="0"/>
              <a:t>Determine if an object is in close proximity to another object </a:t>
            </a:r>
          </a:p>
          <a:p>
            <a:pPr marL="1257300" lvl="2" indent="-342900">
              <a:buFont typeface="Arial" panose="020B0604020202020204" pitchFamily="34" charset="0"/>
              <a:buChar char="•"/>
            </a:pPr>
            <a:r>
              <a:rPr lang="en-US" sz="2000" dirty="0"/>
              <a:t>Collision Detection</a:t>
            </a:r>
          </a:p>
          <a:p>
            <a:pPr marL="800100" lvl="1" indent="-342900">
              <a:buFont typeface="Arial" panose="020B0604020202020204" pitchFamily="34" charset="0"/>
              <a:buChar char="•"/>
            </a:pPr>
            <a:r>
              <a:rPr lang="en-US" sz="2000" dirty="0"/>
              <a:t>In short:</a:t>
            </a:r>
          </a:p>
          <a:p>
            <a:pPr marL="1257300" lvl="2" indent="-342900">
              <a:buFont typeface="Arial" panose="020B0604020202020204" pitchFamily="34" charset="0"/>
              <a:buChar char="•"/>
            </a:pPr>
            <a:r>
              <a:rPr lang="en-US" sz="2000" dirty="0"/>
              <a:t>Any time you need to search information that is spatially organized, it helps to use spatial partitioning to enable fast searching of that data.</a:t>
            </a:r>
          </a:p>
          <a:p>
            <a:pPr marL="800100" lvl="1" indent="-342900">
              <a:buFont typeface="Arial" panose="020B0604020202020204" pitchFamily="34" charset="0"/>
              <a:buChar char="•"/>
            </a:pPr>
            <a:endParaRPr lang="en-US" sz="2000" dirty="0"/>
          </a:p>
          <a:p>
            <a:pPr marL="1257300" lvl="2"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1600" dirty="0">
              <a:sym typeface="Wingdings" panose="05000000000000000000" pitchFamily="2" charset="2"/>
            </a:endParaRPr>
          </a:p>
          <a:p>
            <a:pPr lvl="1"/>
            <a:endParaRPr lang="en-US" sz="1600" dirty="0"/>
          </a:p>
          <a:p>
            <a:pPr marL="800100" lvl="1" indent="-342900">
              <a:buFont typeface="Arial" panose="020B0604020202020204" pitchFamily="34" charset="0"/>
              <a:buChar char="•"/>
            </a:pPr>
            <a:endParaRPr lang="en-US" sz="1600" dirty="0">
              <a:solidFill>
                <a:schemeClr val="bg1"/>
              </a:solidFill>
            </a:endParaRPr>
          </a:p>
          <a:p>
            <a:pPr marL="800100" lvl="1" indent="-342900">
              <a:buFont typeface="Arial" panose="020B0604020202020204" pitchFamily="34" charset="0"/>
              <a:buChar char="•"/>
            </a:pPr>
            <a:endParaRPr lang="en-US" sz="2000" dirty="0"/>
          </a:p>
          <a:p>
            <a:pPr lvl="1"/>
            <a:endParaRPr lang="en-US" sz="2800" dirty="0"/>
          </a:p>
          <a:p>
            <a:pPr lvl="1"/>
            <a:r>
              <a:rPr lang="en-US" sz="2800" dirty="0"/>
              <a:t>	</a:t>
            </a:r>
          </a:p>
          <a:p>
            <a:pPr marL="342900" indent="-342900">
              <a:buFont typeface="Arial" panose="020B0604020202020204" pitchFamily="34" charset="0"/>
              <a:buChar char="•"/>
            </a:pPr>
            <a:endParaRPr lang="en-US" sz="2800" dirty="0"/>
          </a:p>
          <a:p>
            <a:pPr marL="800100" lvl="1" indent="-342900">
              <a:buFont typeface="Arial" panose="020B0604020202020204" pitchFamily="34" charset="0"/>
              <a:buChar char="•"/>
            </a:pPr>
            <a:endParaRPr lang="en-US" sz="2800" dirty="0"/>
          </a:p>
          <a:p>
            <a:pPr marL="342900" indent="-342900">
              <a:buFont typeface="Arial" panose="020B0604020202020204" pitchFamily="34" charset="0"/>
              <a:buChar char="•"/>
            </a:pPr>
            <a:endParaRPr lang="en-US" sz="1600" dirty="0"/>
          </a:p>
          <a:p>
            <a:pPr marL="800100" lvl="1" indent="-342900">
              <a:buFont typeface="Arial" panose="020B0604020202020204" pitchFamily="34" charset="0"/>
              <a:buChar char="•"/>
            </a:pPr>
            <a:endParaRPr lang="en-US" sz="1400" i="1" dirty="0"/>
          </a:p>
          <a:p>
            <a:pPr marL="342900" indent="-342900">
              <a:buFont typeface="Arial" panose="020B0604020202020204" pitchFamily="34" charset="0"/>
              <a:buChar char="•"/>
            </a:pPr>
            <a:endParaRPr lang="en-US" sz="2000" dirty="0"/>
          </a:p>
        </p:txBody>
      </p:sp>
      <p:sp>
        <p:nvSpPr>
          <p:cNvPr id="2" name="Footer Placeholder 1">
            <a:extLst>
              <a:ext uri="{FF2B5EF4-FFF2-40B4-BE49-F238E27FC236}">
                <a16:creationId xmlns:a16="http://schemas.microsoft.com/office/drawing/2014/main" id="{8B2094B6-C095-4DDF-B2F6-AA62CE839A8A}"/>
              </a:ext>
            </a:extLst>
          </p:cNvPr>
          <p:cNvSpPr>
            <a:spLocks noGrp="1"/>
          </p:cNvSpPr>
          <p:nvPr>
            <p:ph type="ftr" sz="quarter" idx="11"/>
          </p:nvPr>
        </p:nvSpPr>
        <p:spPr/>
        <p:txBody>
          <a:bodyPr/>
          <a:lstStyle/>
          <a:p>
            <a:r>
              <a:rPr lang="en-US"/>
              <a:t>copyright © 2017 Kevin M. Smith</a:t>
            </a:r>
          </a:p>
        </p:txBody>
      </p:sp>
    </p:spTree>
    <p:extLst>
      <p:ext uri="{BB962C8B-B14F-4D97-AF65-F5344CB8AC3E}">
        <p14:creationId xmlns:p14="http://schemas.microsoft.com/office/powerpoint/2010/main" val="2785153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fade">
                                      <p:cBhvr>
                                        <p:cTn id="15" dur="500"/>
                                        <p:tgtEl>
                                          <p:spTgt spid="8">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
                                            <p:txEl>
                                              <p:pRg st="3" end="3"/>
                                            </p:txEl>
                                          </p:spTgt>
                                        </p:tgtEl>
                                        <p:attrNameLst>
                                          <p:attrName>style.visibility</p:attrName>
                                        </p:attrNameLst>
                                      </p:cBhvr>
                                      <p:to>
                                        <p:strVal val="visible"/>
                                      </p:to>
                                    </p:set>
                                    <p:animEffect transition="in" filter="fade">
                                      <p:cBhvr>
                                        <p:cTn id="18" dur="500"/>
                                        <p:tgtEl>
                                          <p:spTgt spid="8">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500"/>
                                        <p:tgtEl>
                                          <p:spTgt spid="8">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fade">
                                      <p:cBhvr>
                                        <p:cTn id="26" dur="500"/>
                                        <p:tgtEl>
                                          <p:spTgt spid="8">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animEffect transition="in" filter="fade">
                                      <p:cBhvr>
                                        <p:cTn id="29" dur="500"/>
                                        <p:tgtEl>
                                          <p:spTgt spid="8">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8">
                                            <p:txEl>
                                              <p:pRg st="7" end="7"/>
                                            </p:txEl>
                                          </p:spTgt>
                                        </p:tgtEl>
                                        <p:attrNameLst>
                                          <p:attrName>style.visibility</p:attrName>
                                        </p:attrNameLst>
                                      </p:cBhvr>
                                      <p:to>
                                        <p:strVal val="visible"/>
                                      </p:to>
                                    </p:set>
                                    <p:animEffect transition="in" filter="fade">
                                      <p:cBhvr>
                                        <p:cTn id="32" dur="500"/>
                                        <p:tgtEl>
                                          <p:spTgt spid="8">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8">
                                            <p:txEl>
                                              <p:pRg st="8" end="8"/>
                                            </p:txEl>
                                          </p:spTgt>
                                        </p:tgtEl>
                                        <p:attrNameLst>
                                          <p:attrName>style.visibility</p:attrName>
                                        </p:attrNameLst>
                                      </p:cBhvr>
                                      <p:to>
                                        <p:strVal val="visible"/>
                                      </p:to>
                                    </p:set>
                                    <p:animEffect transition="in" filter="fade">
                                      <p:cBhvr>
                                        <p:cTn id="35" dur="500"/>
                                        <p:tgtEl>
                                          <p:spTgt spid="8">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8">
                                            <p:txEl>
                                              <p:pRg st="9" end="9"/>
                                            </p:txEl>
                                          </p:spTgt>
                                        </p:tgtEl>
                                        <p:attrNameLst>
                                          <p:attrName>style.visibility</p:attrName>
                                        </p:attrNameLst>
                                      </p:cBhvr>
                                      <p:to>
                                        <p:strVal val="visible"/>
                                      </p:to>
                                    </p:set>
                                    <p:animEffect transition="in" filter="fade">
                                      <p:cBhvr>
                                        <p:cTn id="40" dur="500"/>
                                        <p:tgtEl>
                                          <p:spTgt spid="8">
                                            <p:txEl>
                                              <p:pRg st="9" end="9"/>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8">
                                            <p:txEl>
                                              <p:pRg st="10" end="10"/>
                                            </p:txEl>
                                          </p:spTgt>
                                        </p:tgtEl>
                                        <p:attrNameLst>
                                          <p:attrName>style.visibility</p:attrName>
                                        </p:attrNameLst>
                                      </p:cBhvr>
                                      <p:to>
                                        <p:strVal val="visible"/>
                                      </p:to>
                                    </p:set>
                                    <p:animEffect transition="in" filter="fade">
                                      <p:cBhvr>
                                        <p:cTn id="43"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1583864" y="587720"/>
            <a:ext cx="10066730" cy="707886"/>
          </a:xfrm>
          <a:prstGeom prst="rect">
            <a:avLst/>
          </a:prstGeom>
          <a:noFill/>
        </p:spPr>
        <p:txBody>
          <a:bodyPr wrap="none" rtlCol="0">
            <a:spAutoFit/>
          </a:bodyPr>
          <a:lstStyle/>
          <a:p>
            <a:r>
              <a:rPr lang="en-US" sz="4000" dirty="0"/>
              <a:t>Types of Spatial Partitioning (that we will cover)</a:t>
            </a:r>
          </a:p>
        </p:txBody>
      </p:sp>
      <p:sp>
        <p:nvSpPr>
          <p:cNvPr id="8" name="TextBox 7">
            <a:extLst>
              <a:ext uri="{FF2B5EF4-FFF2-40B4-BE49-F238E27FC236}">
                <a16:creationId xmlns:a16="http://schemas.microsoft.com/office/drawing/2014/main" id="{2FF4DD00-AD1E-49F6-9F25-ABCE8EFC3EEA}"/>
              </a:ext>
            </a:extLst>
          </p:cNvPr>
          <p:cNvSpPr txBox="1"/>
          <p:nvPr/>
        </p:nvSpPr>
        <p:spPr>
          <a:xfrm>
            <a:off x="3627436" y="2473428"/>
            <a:ext cx="8815464" cy="4985980"/>
          </a:xfrm>
          <a:prstGeom prst="rect">
            <a:avLst/>
          </a:prstGeom>
          <a:noFill/>
        </p:spPr>
        <p:txBody>
          <a:bodyPr wrap="square" rtlCol="0">
            <a:spAutoFit/>
          </a:bodyPr>
          <a:lstStyle/>
          <a:p>
            <a:pPr marL="342900" indent="-342900">
              <a:buFont typeface="Arial" panose="020B0604020202020204" pitchFamily="34" charset="0"/>
              <a:buChar char="•"/>
            </a:pPr>
            <a:r>
              <a:rPr lang="en-US" sz="2400" dirty="0"/>
              <a:t>Quadtree  (2D Data)</a:t>
            </a:r>
          </a:p>
          <a:p>
            <a:pPr marL="342900" indent="-342900">
              <a:buFont typeface="Arial" panose="020B0604020202020204" pitchFamily="34" charset="0"/>
              <a:buChar char="•"/>
            </a:pPr>
            <a:r>
              <a:rPr lang="en-US" sz="2400" dirty="0"/>
              <a:t>Octree  (3D Data)</a:t>
            </a:r>
            <a:endParaRPr lang="en-US" sz="2000" dirty="0"/>
          </a:p>
          <a:p>
            <a:pPr marL="800100" lvl="1" indent="-342900">
              <a:buFont typeface="Arial" panose="020B0604020202020204" pitchFamily="34" charset="0"/>
              <a:buChar char="•"/>
            </a:pPr>
            <a:endParaRPr lang="en-US" sz="2000" dirty="0"/>
          </a:p>
          <a:p>
            <a:pPr marL="1257300" lvl="2"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1600" dirty="0">
              <a:sym typeface="Wingdings" panose="05000000000000000000" pitchFamily="2" charset="2"/>
            </a:endParaRPr>
          </a:p>
          <a:p>
            <a:pPr lvl="1"/>
            <a:endParaRPr lang="en-US" sz="1600" dirty="0"/>
          </a:p>
          <a:p>
            <a:pPr marL="800100" lvl="1" indent="-342900">
              <a:buFont typeface="Arial" panose="020B0604020202020204" pitchFamily="34" charset="0"/>
              <a:buChar char="•"/>
            </a:pPr>
            <a:endParaRPr lang="en-US" sz="1600" dirty="0">
              <a:solidFill>
                <a:schemeClr val="bg1"/>
              </a:solidFill>
            </a:endParaRPr>
          </a:p>
          <a:p>
            <a:pPr marL="800100" lvl="1" indent="-342900">
              <a:buFont typeface="Arial" panose="020B0604020202020204" pitchFamily="34" charset="0"/>
              <a:buChar char="•"/>
            </a:pPr>
            <a:endParaRPr lang="en-US" sz="2000" dirty="0"/>
          </a:p>
          <a:p>
            <a:pPr lvl="1"/>
            <a:endParaRPr lang="en-US" sz="2800" dirty="0"/>
          </a:p>
          <a:p>
            <a:pPr lvl="1"/>
            <a:r>
              <a:rPr lang="en-US" sz="2800" dirty="0"/>
              <a:t>	</a:t>
            </a:r>
          </a:p>
          <a:p>
            <a:pPr marL="342900" indent="-342900">
              <a:buFont typeface="Arial" panose="020B0604020202020204" pitchFamily="34" charset="0"/>
              <a:buChar char="•"/>
            </a:pPr>
            <a:endParaRPr lang="en-US" sz="2800" dirty="0"/>
          </a:p>
          <a:p>
            <a:pPr marL="800100" lvl="1" indent="-342900">
              <a:buFont typeface="Arial" panose="020B0604020202020204" pitchFamily="34" charset="0"/>
              <a:buChar char="•"/>
            </a:pPr>
            <a:endParaRPr lang="en-US" sz="2800" dirty="0"/>
          </a:p>
          <a:p>
            <a:pPr marL="342900" indent="-342900">
              <a:buFont typeface="Arial" panose="020B0604020202020204" pitchFamily="34" charset="0"/>
              <a:buChar char="•"/>
            </a:pPr>
            <a:endParaRPr lang="en-US" sz="1600" dirty="0"/>
          </a:p>
          <a:p>
            <a:pPr marL="800100" lvl="1" indent="-342900">
              <a:buFont typeface="Arial" panose="020B0604020202020204" pitchFamily="34" charset="0"/>
              <a:buChar char="•"/>
            </a:pPr>
            <a:endParaRPr lang="en-US" sz="1400" i="1" dirty="0"/>
          </a:p>
          <a:p>
            <a:pPr marL="342900" indent="-342900">
              <a:buFont typeface="Arial" panose="020B0604020202020204" pitchFamily="34" charset="0"/>
              <a:buChar char="•"/>
            </a:pPr>
            <a:endParaRPr lang="en-US" sz="2000" dirty="0"/>
          </a:p>
        </p:txBody>
      </p:sp>
      <p:sp>
        <p:nvSpPr>
          <p:cNvPr id="2" name="Footer Placeholder 1">
            <a:extLst>
              <a:ext uri="{FF2B5EF4-FFF2-40B4-BE49-F238E27FC236}">
                <a16:creationId xmlns:a16="http://schemas.microsoft.com/office/drawing/2014/main" id="{8B2094B6-C095-4DDF-B2F6-AA62CE839A8A}"/>
              </a:ext>
            </a:extLst>
          </p:cNvPr>
          <p:cNvSpPr>
            <a:spLocks noGrp="1"/>
          </p:cNvSpPr>
          <p:nvPr>
            <p:ph type="ftr" sz="quarter" idx="11"/>
          </p:nvPr>
        </p:nvSpPr>
        <p:spPr/>
        <p:txBody>
          <a:bodyPr/>
          <a:lstStyle/>
          <a:p>
            <a:r>
              <a:rPr lang="en-US"/>
              <a:t>copyright © 2017 Kevin M. Smith</a:t>
            </a:r>
          </a:p>
        </p:txBody>
      </p:sp>
    </p:spTree>
    <p:extLst>
      <p:ext uri="{BB962C8B-B14F-4D97-AF65-F5344CB8AC3E}">
        <p14:creationId xmlns:p14="http://schemas.microsoft.com/office/powerpoint/2010/main" val="370901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3251481" y="281624"/>
            <a:ext cx="5027595" cy="707886"/>
          </a:xfrm>
          <a:prstGeom prst="rect">
            <a:avLst/>
          </a:prstGeom>
          <a:noFill/>
        </p:spPr>
        <p:txBody>
          <a:bodyPr wrap="none" rtlCol="0">
            <a:spAutoFit/>
          </a:bodyPr>
          <a:lstStyle/>
          <a:p>
            <a:r>
              <a:rPr lang="en-US" sz="4000" dirty="0"/>
              <a:t>How a Quadtree Works</a:t>
            </a:r>
          </a:p>
        </p:txBody>
      </p:sp>
      <p:sp>
        <p:nvSpPr>
          <p:cNvPr id="2" name="Footer Placeholder 1">
            <a:extLst>
              <a:ext uri="{FF2B5EF4-FFF2-40B4-BE49-F238E27FC236}">
                <a16:creationId xmlns:a16="http://schemas.microsoft.com/office/drawing/2014/main" id="{8B2094B6-C095-4DDF-B2F6-AA62CE839A8A}"/>
              </a:ext>
            </a:extLst>
          </p:cNvPr>
          <p:cNvSpPr>
            <a:spLocks noGrp="1"/>
          </p:cNvSpPr>
          <p:nvPr>
            <p:ph type="ftr" sz="quarter" idx="11"/>
          </p:nvPr>
        </p:nvSpPr>
        <p:spPr/>
        <p:txBody>
          <a:bodyPr/>
          <a:lstStyle/>
          <a:p>
            <a:r>
              <a:rPr lang="en-US"/>
              <a:t>copyright © 2017 Kevin M. Smith</a:t>
            </a:r>
          </a:p>
        </p:txBody>
      </p:sp>
      <p:grpSp>
        <p:nvGrpSpPr>
          <p:cNvPr id="9" name="Group 8">
            <a:extLst>
              <a:ext uri="{FF2B5EF4-FFF2-40B4-BE49-F238E27FC236}">
                <a16:creationId xmlns:a16="http://schemas.microsoft.com/office/drawing/2014/main" id="{484C9104-20CA-4E16-8BF9-A9B8ACCE6C29}"/>
              </a:ext>
            </a:extLst>
          </p:cNvPr>
          <p:cNvGrpSpPr/>
          <p:nvPr/>
        </p:nvGrpSpPr>
        <p:grpSpPr>
          <a:xfrm>
            <a:off x="3401648" y="1319271"/>
            <a:ext cx="4448163" cy="4377557"/>
            <a:chOff x="3132707" y="1238589"/>
            <a:chExt cx="4448163" cy="4377557"/>
          </a:xfrm>
        </p:grpSpPr>
        <p:sp>
          <p:nvSpPr>
            <p:cNvPr id="3" name="Rectangle 2">
              <a:extLst>
                <a:ext uri="{FF2B5EF4-FFF2-40B4-BE49-F238E27FC236}">
                  <a16:creationId xmlns:a16="http://schemas.microsoft.com/office/drawing/2014/main" id="{4801978E-273F-4DB1-ABBE-44066598B7AB}"/>
                </a:ext>
              </a:extLst>
            </p:cNvPr>
            <p:cNvSpPr/>
            <p:nvPr/>
          </p:nvSpPr>
          <p:spPr>
            <a:xfrm>
              <a:off x="3132707" y="1241854"/>
              <a:ext cx="4448163" cy="43742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A0EFB5C-BC79-4382-A793-CB68D389B85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33000"/>
                      </a14:imgEffect>
                    </a14:imgLayer>
                  </a14:imgProps>
                </a:ext>
                <a:ext uri="{28A0092B-C50C-407E-A947-70E740481C1C}">
                  <a14:useLocalDpi xmlns:a14="http://schemas.microsoft.com/office/drawing/2010/main" val="0"/>
                </a:ext>
              </a:extLst>
            </a:blip>
            <a:stretch>
              <a:fillRect/>
            </a:stretch>
          </p:blipFill>
          <p:spPr>
            <a:xfrm>
              <a:off x="3132707" y="1238589"/>
              <a:ext cx="4448163" cy="4377557"/>
            </a:xfrm>
            <a:prstGeom prst="rect">
              <a:avLst/>
            </a:prstGeom>
          </p:spPr>
        </p:pic>
        <p:sp>
          <p:nvSpPr>
            <p:cNvPr id="6" name="Oval 5">
              <a:extLst>
                <a:ext uri="{FF2B5EF4-FFF2-40B4-BE49-F238E27FC236}">
                  <a16:creationId xmlns:a16="http://schemas.microsoft.com/office/drawing/2014/main" id="{247171BD-0351-4F1C-B6F5-955862412860}"/>
                </a:ext>
              </a:extLst>
            </p:cNvPr>
            <p:cNvSpPr/>
            <p:nvPr/>
          </p:nvSpPr>
          <p:spPr>
            <a:xfrm>
              <a:off x="4968688" y="3731559"/>
              <a:ext cx="316005" cy="316005"/>
            </a:xfrm>
            <a:prstGeom prst="ellipse">
              <a:avLst/>
            </a:prstGeom>
            <a:solidFill>
              <a:schemeClr val="accent1">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36186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3399398" y="181842"/>
            <a:ext cx="5027595" cy="707886"/>
          </a:xfrm>
          <a:prstGeom prst="rect">
            <a:avLst/>
          </a:prstGeom>
          <a:noFill/>
        </p:spPr>
        <p:txBody>
          <a:bodyPr wrap="none" rtlCol="0">
            <a:spAutoFit/>
          </a:bodyPr>
          <a:lstStyle/>
          <a:p>
            <a:r>
              <a:rPr lang="en-US" sz="4000" dirty="0"/>
              <a:t>How a Quadtree Works</a:t>
            </a:r>
          </a:p>
        </p:txBody>
      </p:sp>
      <p:sp>
        <p:nvSpPr>
          <p:cNvPr id="2" name="Footer Placeholder 1">
            <a:extLst>
              <a:ext uri="{FF2B5EF4-FFF2-40B4-BE49-F238E27FC236}">
                <a16:creationId xmlns:a16="http://schemas.microsoft.com/office/drawing/2014/main" id="{8B2094B6-C095-4DDF-B2F6-AA62CE839A8A}"/>
              </a:ext>
            </a:extLst>
          </p:cNvPr>
          <p:cNvSpPr>
            <a:spLocks noGrp="1"/>
          </p:cNvSpPr>
          <p:nvPr>
            <p:ph type="ftr" sz="quarter" idx="11"/>
          </p:nvPr>
        </p:nvSpPr>
        <p:spPr/>
        <p:txBody>
          <a:bodyPr/>
          <a:lstStyle/>
          <a:p>
            <a:r>
              <a:rPr lang="en-US"/>
              <a:t>copyright © 2017 Kevin M. Smith</a:t>
            </a:r>
          </a:p>
        </p:txBody>
      </p:sp>
      <p:grpSp>
        <p:nvGrpSpPr>
          <p:cNvPr id="4" name="Group 3">
            <a:extLst>
              <a:ext uri="{FF2B5EF4-FFF2-40B4-BE49-F238E27FC236}">
                <a16:creationId xmlns:a16="http://schemas.microsoft.com/office/drawing/2014/main" id="{3E41DCE1-5A24-4A8F-80C9-F453EABB1CCF}"/>
              </a:ext>
            </a:extLst>
          </p:cNvPr>
          <p:cNvGrpSpPr/>
          <p:nvPr/>
        </p:nvGrpSpPr>
        <p:grpSpPr>
          <a:xfrm>
            <a:off x="4470151" y="1163171"/>
            <a:ext cx="4590926" cy="4531658"/>
            <a:chOff x="2993215" y="1161538"/>
            <a:chExt cx="4590926" cy="4531658"/>
          </a:xfrm>
        </p:grpSpPr>
        <p:pic>
          <p:nvPicPr>
            <p:cNvPr id="5" name="Picture 4">
              <a:extLst>
                <a:ext uri="{FF2B5EF4-FFF2-40B4-BE49-F238E27FC236}">
                  <a16:creationId xmlns:a16="http://schemas.microsoft.com/office/drawing/2014/main" id="{6A0EFB5C-BC79-4382-A793-CB68D389B85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78000"/>
                      </a14:imgEffect>
                    </a14:imgLayer>
                  </a14:imgProps>
                </a:ext>
                <a:ext uri="{28A0092B-C50C-407E-A947-70E740481C1C}">
                  <a14:useLocalDpi xmlns:a14="http://schemas.microsoft.com/office/drawing/2010/main" val="0"/>
                </a:ext>
              </a:extLst>
            </a:blip>
            <a:stretch>
              <a:fillRect/>
            </a:stretch>
          </p:blipFill>
          <p:spPr>
            <a:xfrm>
              <a:off x="3065472" y="1238589"/>
              <a:ext cx="4448163" cy="4377557"/>
            </a:xfrm>
            <a:prstGeom prst="rect">
              <a:avLst/>
            </a:prstGeom>
          </p:spPr>
        </p:pic>
        <p:sp>
          <p:nvSpPr>
            <p:cNvPr id="3" name="Rectangle 2">
              <a:extLst>
                <a:ext uri="{FF2B5EF4-FFF2-40B4-BE49-F238E27FC236}">
                  <a16:creationId xmlns:a16="http://schemas.microsoft.com/office/drawing/2014/main" id="{4801978E-273F-4DB1-ABBE-44066598B7AB}"/>
                </a:ext>
              </a:extLst>
            </p:cNvPr>
            <p:cNvSpPr/>
            <p:nvPr/>
          </p:nvSpPr>
          <p:spPr>
            <a:xfrm>
              <a:off x="2994965" y="1161538"/>
              <a:ext cx="4589176" cy="4531658"/>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247171BD-0351-4F1C-B6F5-955862412860}"/>
                </a:ext>
              </a:extLst>
            </p:cNvPr>
            <p:cNvSpPr/>
            <p:nvPr/>
          </p:nvSpPr>
          <p:spPr>
            <a:xfrm>
              <a:off x="5015753" y="3765177"/>
              <a:ext cx="215153" cy="215153"/>
            </a:xfrm>
            <a:prstGeom prst="ellipse">
              <a:avLst/>
            </a:prstGeom>
            <a:solidFill>
              <a:schemeClr val="accent4">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018D1C5-2747-4660-BDA5-61E5ECA76607}"/>
                </a:ext>
              </a:extLst>
            </p:cNvPr>
            <p:cNvSpPr/>
            <p:nvPr/>
          </p:nvSpPr>
          <p:spPr>
            <a:xfrm>
              <a:off x="2994965" y="1184558"/>
              <a:ext cx="2289729" cy="224444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B76FF0D-9E68-4115-8023-06CA60F35C73}"/>
                </a:ext>
              </a:extLst>
            </p:cNvPr>
            <p:cNvSpPr/>
            <p:nvPr/>
          </p:nvSpPr>
          <p:spPr>
            <a:xfrm>
              <a:off x="5294412" y="1184558"/>
              <a:ext cx="2289729" cy="224444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85A9E56-7E2D-4ACD-ADF3-2DAA2B7C2C02}"/>
                </a:ext>
              </a:extLst>
            </p:cNvPr>
            <p:cNvSpPr/>
            <p:nvPr/>
          </p:nvSpPr>
          <p:spPr>
            <a:xfrm>
              <a:off x="5281194" y="3430764"/>
              <a:ext cx="2289729" cy="224444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438B22C-EAF9-4FD4-9B25-CE4E230CB030}"/>
                </a:ext>
              </a:extLst>
            </p:cNvPr>
            <p:cNvSpPr/>
            <p:nvPr/>
          </p:nvSpPr>
          <p:spPr>
            <a:xfrm>
              <a:off x="2993215" y="3420106"/>
              <a:ext cx="2289729" cy="224444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83B6E536-1EFC-40BB-83AF-27A5A4F21D7C}"/>
              </a:ext>
            </a:extLst>
          </p:cNvPr>
          <p:cNvGrpSpPr/>
          <p:nvPr/>
        </p:nvGrpSpPr>
        <p:grpSpPr>
          <a:xfrm>
            <a:off x="1046344" y="1600200"/>
            <a:ext cx="2000258" cy="1416424"/>
            <a:chOff x="381000" y="1485900"/>
            <a:chExt cx="2000258" cy="1416424"/>
          </a:xfrm>
        </p:grpSpPr>
        <p:sp>
          <p:nvSpPr>
            <p:cNvPr id="14" name="Oval 13">
              <a:extLst>
                <a:ext uri="{FF2B5EF4-FFF2-40B4-BE49-F238E27FC236}">
                  <a16:creationId xmlns:a16="http://schemas.microsoft.com/office/drawing/2014/main" id="{E73EA971-BF0B-488C-B798-D15C0F769273}"/>
                </a:ext>
              </a:extLst>
            </p:cNvPr>
            <p:cNvSpPr/>
            <p:nvPr/>
          </p:nvSpPr>
          <p:spPr>
            <a:xfrm>
              <a:off x="1230405" y="1485900"/>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BE2A123-B10D-4AFE-A651-22D3CF367FE7}"/>
                </a:ext>
              </a:extLst>
            </p:cNvPr>
            <p:cNvSpPr/>
            <p:nvPr/>
          </p:nvSpPr>
          <p:spPr>
            <a:xfrm>
              <a:off x="381000"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05B36E6-C487-4AF8-81C4-9ED5158B92ED}"/>
                </a:ext>
              </a:extLst>
            </p:cNvPr>
            <p:cNvSpPr/>
            <p:nvPr/>
          </p:nvSpPr>
          <p:spPr>
            <a:xfrm>
              <a:off x="948319" y="2566073"/>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180C18E-8FBF-4D0F-8678-756CA00F0BA2}"/>
                </a:ext>
              </a:extLst>
            </p:cNvPr>
            <p:cNvSpPr/>
            <p:nvPr/>
          </p:nvSpPr>
          <p:spPr>
            <a:xfrm>
              <a:off x="1504205"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9D49D55-4633-4AA4-87DC-6C20761E6E7E}"/>
                </a:ext>
              </a:extLst>
            </p:cNvPr>
            <p:cNvSpPr/>
            <p:nvPr/>
          </p:nvSpPr>
          <p:spPr>
            <a:xfrm>
              <a:off x="2045081"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0E82F465-8FA8-470D-B483-34662CE953A1}"/>
                </a:ext>
              </a:extLst>
            </p:cNvPr>
            <p:cNvCxnSpPr>
              <a:cxnSpLocks/>
              <a:stCxn id="14" idx="4"/>
              <a:endCxn id="15" idx="0"/>
            </p:cNvCxnSpPr>
            <p:nvPr/>
          </p:nvCxnSpPr>
          <p:spPr>
            <a:xfrm flipH="1">
              <a:off x="549089" y="1822077"/>
              <a:ext cx="849405" cy="744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C59CE20-E609-453A-8F5A-5BA642850E76}"/>
                </a:ext>
              </a:extLst>
            </p:cNvPr>
            <p:cNvCxnSpPr>
              <a:cxnSpLocks/>
              <a:stCxn id="14" idx="4"/>
              <a:endCxn id="16" idx="0"/>
            </p:cNvCxnSpPr>
            <p:nvPr/>
          </p:nvCxnSpPr>
          <p:spPr>
            <a:xfrm flipH="1">
              <a:off x="1116408" y="1822077"/>
              <a:ext cx="282086" cy="743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81223C-6C9F-4583-8211-955F43F57F52}"/>
                </a:ext>
              </a:extLst>
            </p:cNvPr>
            <p:cNvCxnSpPr>
              <a:cxnSpLocks/>
              <a:stCxn id="14" idx="4"/>
              <a:endCxn id="17" idx="0"/>
            </p:cNvCxnSpPr>
            <p:nvPr/>
          </p:nvCxnSpPr>
          <p:spPr>
            <a:xfrm>
              <a:off x="1398494" y="1822077"/>
              <a:ext cx="273800" cy="744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38C1307-36DA-4077-B828-9151CC1A0D15}"/>
                </a:ext>
              </a:extLst>
            </p:cNvPr>
            <p:cNvCxnSpPr>
              <a:cxnSpLocks/>
              <a:stCxn id="14" idx="4"/>
              <a:endCxn id="18" idx="0"/>
            </p:cNvCxnSpPr>
            <p:nvPr/>
          </p:nvCxnSpPr>
          <p:spPr>
            <a:xfrm>
              <a:off x="1398494" y="1822077"/>
              <a:ext cx="814676" cy="74407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09457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3435159" y="157867"/>
            <a:ext cx="5027595" cy="707886"/>
          </a:xfrm>
          <a:prstGeom prst="rect">
            <a:avLst/>
          </a:prstGeom>
          <a:noFill/>
        </p:spPr>
        <p:txBody>
          <a:bodyPr wrap="none" rtlCol="0">
            <a:spAutoFit/>
          </a:bodyPr>
          <a:lstStyle/>
          <a:p>
            <a:r>
              <a:rPr lang="en-US" sz="4000" dirty="0"/>
              <a:t>How a Quadtree Works</a:t>
            </a:r>
          </a:p>
        </p:txBody>
      </p:sp>
      <p:sp>
        <p:nvSpPr>
          <p:cNvPr id="2" name="Footer Placeholder 1">
            <a:extLst>
              <a:ext uri="{FF2B5EF4-FFF2-40B4-BE49-F238E27FC236}">
                <a16:creationId xmlns:a16="http://schemas.microsoft.com/office/drawing/2014/main" id="{8B2094B6-C095-4DDF-B2F6-AA62CE839A8A}"/>
              </a:ext>
            </a:extLst>
          </p:cNvPr>
          <p:cNvSpPr>
            <a:spLocks noGrp="1"/>
          </p:cNvSpPr>
          <p:nvPr>
            <p:ph type="ftr" sz="quarter" idx="11"/>
          </p:nvPr>
        </p:nvSpPr>
        <p:spPr/>
        <p:txBody>
          <a:bodyPr/>
          <a:lstStyle/>
          <a:p>
            <a:r>
              <a:rPr lang="en-US"/>
              <a:t>copyright © 2017 Kevin M. Smith</a:t>
            </a:r>
          </a:p>
        </p:txBody>
      </p:sp>
      <p:grpSp>
        <p:nvGrpSpPr>
          <p:cNvPr id="4" name="Group 3">
            <a:extLst>
              <a:ext uri="{FF2B5EF4-FFF2-40B4-BE49-F238E27FC236}">
                <a16:creationId xmlns:a16="http://schemas.microsoft.com/office/drawing/2014/main" id="{6169B370-A82A-468C-BFE1-0DA919B50168}"/>
              </a:ext>
            </a:extLst>
          </p:cNvPr>
          <p:cNvGrpSpPr/>
          <p:nvPr/>
        </p:nvGrpSpPr>
        <p:grpSpPr>
          <a:xfrm>
            <a:off x="4688043" y="1221634"/>
            <a:ext cx="4590926" cy="4548908"/>
            <a:chOff x="2993215" y="1161538"/>
            <a:chExt cx="4590926" cy="4548908"/>
          </a:xfrm>
        </p:grpSpPr>
        <p:pic>
          <p:nvPicPr>
            <p:cNvPr id="5" name="Picture 4">
              <a:extLst>
                <a:ext uri="{FF2B5EF4-FFF2-40B4-BE49-F238E27FC236}">
                  <a16:creationId xmlns:a16="http://schemas.microsoft.com/office/drawing/2014/main" id="{6A0EFB5C-BC79-4382-A793-CB68D389B85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78000"/>
                      </a14:imgEffect>
                    </a14:imgLayer>
                  </a14:imgProps>
                </a:ext>
                <a:ext uri="{28A0092B-C50C-407E-A947-70E740481C1C}">
                  <a14:useLocalDpi xmlns:a14="http://schemas.microsoft.com/office/drawing/2010/main" val="0"/>
                </a:ext>
              </a:extLst>
            </a:blip>
            <a:stretch>
              <a:fillRect/>
            </a:stretch>
          </p:blipFill>
          <p:spPr>
            <a:xfrm>
              <a:off x="3065472" y="1238589"/>
              <a:ext cx="4448163" cy="4377557"/>
            </a:xfrm>
            <a:prstGeom prst="rect">
              <a:avLst/>
            </a:prstGeom>
          </p:spPr>
        </p:pic>
        <p:sp>
          <p:nvSpPr>
            <p:cNvPr id="3" name="Rectangle 2">
              <a:extLst>
                <a:ext uri="{FF2B5EF4-FFF2-40B4-BE49-F238E27FC236}">
                  <a16:creationId xmlns:a16="http://schemas.microsoft.com/office/drawing/2014/main" id="{4801978E-273F-4DB1-ABBE-44066598B7AB}"/>
                </a:ext>
              </a:extLst>
            </p:cNvPr>
            <p:cNvSpPr/>
            <p:nvPr/>
          </p:nvSpPr>
          <p:spPr>
            <a:xfrm>
              <a:off x="2994965" y="1161538"/>
              <a:ext cx="4589176" cy="4531658"/>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247171BD-0351-4F1C-B6F5-955862412860}"/>
                </a:ext>
              </a:extLst>
            </p:cNvPr>
            <p:cNvSpPr/>
            <p:nvPr/>
          </p:nvSpPr>
          <p:spPr>
            <a:xfrm>
              <a:off x="5015753" y="3765177"/>
              <a:ext cx="215153" cy="215153"/>
            </a:xfrm>
            <a:prstGeom prst="ellipse">
              <a:avLst/>
            </a:prstGeom>
            <a:solidFill>
              <a:schemeClr val="accent4">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018D1C5-2747-4660-BDA5-61E5ECA76607}"/>
                </a:ext>
              </a:extLst>
            </p:cNvPr>
            <p:cNvSpPr/>
            <p:nvPr/>
          </p:nvSpPr>
          <p:spPr>
            <a:xfrm>
              <a:off x="2994965" y="1184558"/>
              <a:ext cx="2289729" cy="224444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B76FF0D-9E68-4115-8023-06CA60F35C73}"/>
                </a:ext>
              </a:extLst>
            </p:cNvPr>
            <p:cNvSpPr/>
            <p:nvPr/>
          </p:nvSpPr>
          <p:spPr>
            <a:xfrm>
              <a:off x="5294412" y="1184558"/>
              <a:ext cx="2289729" cy="224444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85A9E56-7E2D-4ACD-ADF3-2DAA2B7C2C02}"/>
                </a:ext>
              </a:extLst>
            </p:cNvPr>
            <p:cNvSpPr/>
            <p:nvPr/>
          </p:nvSpPr>
          <p:spPr>
            <a:xfrm>
              <a:off x="5281194" y="3430764"/>
              <a:ext cx="2289729" cy="224444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438B22C-EAF9-4FD4-9B25-CE4E230CB030}"/>
                </a:ext>
              </a:extLst>
            </p:cNvPr>
            <p:cNvSpPr/>
            <p:nvPr/>
          </p:nvSpPr>
          <p:spPr>
            <a:xfrm>
              <a:off x="2993215" y="3420106"/>
              <a:ext cx="2289729" cy="224444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293968F-7D70-4CB5-814C-66A83328BD58}"/>
                </a:ext>
              </a:extLst>
            </p:cNvPr>
            <p:cNvSpPr/>
            <p:nvPr/>
          </p:nvSpPr>
          <p:spPr>
            <a:xfrm>
              <a:off x="3008184" y="3427367"/>
              <a:ext cx="1167128" cy="1137909"/>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E4C8BCE-13D8-4C44-9A1C-CC2C91981008}"/>
                </a:ext>
              </a:extLst>
            </p:cNvPr>
            <p:cNvSpPr/>
            <p:nvPr/>
          </p:nvSpPr>
          <p:spPr>
            <a:xfrm>
              <a:off x="3008184" y="4572537"/>
              <a:ext cx="1167128" cy="1137909"/>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C0EE064-74CF-4CC5-AA5C-ABBBEFED8F4A}"/>
                </a:ext>
              </a:extLst>
            </p:cNvPr>
            <p:cNvSpPr/>
            <p:nvPr/>
          </p:nvSpPr>
          <p:spPr>
            <a:xfrm>
              <a:off x="4151069" y="3441692"/>
              <a:ext cx="1143343" cy="1130846"/>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1ED90EC-2B5D-4081-858E-1FCCB3617147}"/>
                </a:ext>
              </a:extLst>
            </p:cNvPr>
            <p:cNvSpPr/>
            <p:nvPr/>
          </p:nvSpPr>
          <p:spPr>
            <a:xfrm>
              <a:off x="4162095" y="4569611"/>
              <a:ext cx="1105882" cy="1102198"/>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0848D39A-FDBC-4883-9839-720FE7C4505B}"/>
              </a:ext>
            </a:extLst>
          </p:cNvPr>
          <p:cNvGrpSpPr/>
          <p:nvPr/>
        </p:nvGrpSpPr>
        <p:grpSpPr>
          <a:xfrm>
            <a:off x="1060519" y="1423148"/>
            <a:ext cx="2000258" cy="1416424"/>
            <a:chOff x="381000" y="1485900"/>
            <a:chExt cx="2000258" cy="1416424"/>
          </a:xfrm>
        </p:grpSpPr>
        <p:sp>
          <p:nvSpPr>
            <p:cNvPr id="18" name="Oval 17">
              <a:extLst>
                <a:ext uri="{FF2B5EF4-FFF2-40B4-BE49-F238E27FC236}">
                  <a16:creationId xmlns:a16="http://schemas.microsoft.com/office/drawing/2014/main" id="{0544DCAE-2E7B-4907-A9B1-AD7F76AE8F3B}"/>
                </a:ext>
              </a:extLst>
            </p:cNvPr>
            <p:cNvSpPr/>
            <p:nvPr/>
          </p:nvSpPr>
          <p:spPr>
            <a:xfrm>
              <a:off x="1230405" y="1485900"/>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7D80CDD-C887-4727-9C44-2DCFB2E99253}"/>
                </a:ext>
              </a:extLst>
            </p:cNvPr>
            <p:cNvSpPr/>
            <p:nvPr/>
          </p:nvSpPr>
          <p:spPr>
            <a:xfrm>
              <a:off x="381000"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6294906-1397-4813-B717-17E74EBC5976}"/>
                </a:ext>
              </a:extLst>
            </p:cNvPr>
            <p:cNvSpPr/>
            <p:nvPr/>
          </p:nvSpPr>
          <p:spPr>
            <a:xfrm>
              <a:off x="948319" y="2566073"/>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FB4C8F1-4AFB-4046-989A-FD650A7695CA}"/>
                </a:ext>
              </a:extLst>
            </p:cNvPr>
            <p:cNvSpPr/>
            <p:nvPr/>
          </p:nvSpPr>
          <p:spPr>
            <a:xfrm>
              <a:off x="1504205"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0A6F6EB-E1BB-4E33-9F2E-684C2281635C}"/>
                </a:ext>
              </a:extLst>
            </p:cNvPr>
            <p:cNvSpPr/>
            <p:nvPr/>
          </p:nvSpPr>
          <p:spPr>
            <a:xfrm>
              <a:off x="2045081"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3DD56CB7-D3C9-4B61-89B6-A5449DFBC399}"/>
                </a:ext>
              </a:extLst>
            </p:cNvPr>
            <p:cNvCxnSpPr>
              <a:cxnSpLocks/>
              <a:stCxn id="18" idx="4"/>
              <a:endCxn id="19" idx="0"/>
            </p:cNvCxnSpPr>
            <p:nvPr/>
          </p:nvCxnSpPr>
          <p:spPr>
            <a:xfrm flipH="1">
              <a:off x="549089" y="1822077"/>
              <a:ext cx="849405" cy="744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A0B0D5F-DEF3-4934-9DB3-5CA062DB8CBE}"/>
                </a:ext>
              </a:extLst>
            </p:cNvPr>
            <p:cNvCxnSpPr>
              <a:cxnSpLocks/>
              <a:stCxn id="18" idx="4"/>
              <a:endCxn id="20" idx="0"/>
            </p:cNvCxnSpPr>
            <p:nvPr/>
          </p:nvCxnSpPr>
          <p:spPr>
            <a:xfrm flipH="1">
              <a:off x="1116408" y="1822077"/>
              <a:ext cx="282086" cy="743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8758EDC-3D00-4019-A820-DD63C2FB27B9}"/>
                </a:ext>
              </a:extLst>
            </p:cNvPr>
            <p:cNvCxnSpPr>
              <a:cxnSpLocks/>
              <a:stCxn id="18" idx="4"/>
              <a:endCxn id="21" idx="0"/>
            </p:cNvCxnSpPr>
            <p:nvPr/>
          </p:nvCxnSpPr>
          <p:spPr>
            <a:xfrm>
              <a:off x="1398494" y="1822077"/>
              <a:ext cx="273800" cy="744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A3C1202-5ACA-46E2-8518-1CD0744695D5}"/>
                </a:ext>
              </a:extLst>
            </p:cNvPr>
            <p:cNvCxnSpPr>
              <a:cxnSpLocks/>
              <a:stCxn id="18" idx="4"/>
              <a:endCxn id="22" idx="0"/>
            </p:cNvCxnSpPr>
            <p:nvPr/>
          </p:nvCxnSpPr>
          <p:spPr>
            <a:xfrm>
              <a:off x="1398494" y="1822077"/>
              <a:ext cx="814676" cy="74407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7549531F-6640-4DDF-8D40-5E53AD2A22CB}"/>
              </a:ext>
            </a:extLst>
          </p:cNvPr>
          <p:cNvGrpSpPr/>
          <p:nvPr/>
        </p:nvGrpSpPr>
        <p:grpSpPr>
          <a:xfrm>
            <a:off x="1353426" y="3247317"/>
            <a:ext cx="2000258" cy="1416424"/>
            <a:chOff x="381000" y="1485900"/>
            <a:chExt cx="2000258" cy="1416424"/>
          </a:xfrm>
        </p:grpSpPr>
        <p:sp>
          <p:nvSpPr>
            <p:cNvPr id="28" name="Oval 27">
              <a:extLst>
                <a:ext uri="{FF2B5EF4-FFF2-40B4-BE49-F238E27FC236}">
                  <a16:creationId xmlns:a16="http://schemas.microsoft.com/office/drawing/2014/main" id="{3D2439C5-3D4D-4EE9-A33D-0D6502A1BF91}"/>
                </a:ext>
              </a:extLst>
            </p:cNvPr>
            <p:cNvSpPr/>
            <p:nvPr/>
          </p:nvSpPr>
          <p:spPr>
            <a:xfrm>
              <a:off x="1230405" y="1485900"/>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0F0C8C49-F8FE-449E-B5C9-E4F214724507}"/>
                </a:ext>
              </a:extLst>
            </p:cNvPr>
            <p:cNvSpPr/>
            <p:nvPr/>
          </p:nvSpPr>
          <p:spPr>
            <a:xfrm>
              <a:off x="381000"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A92E8A7-779F-400A-AF4F-A9FAEB7DCA17}"/>
                </a:ext>
              </a:extLst>
            </p:cNvPr>
            <p:cNvSpPr/>
            <p:nvPr/>
          </p:nvSpPr>
          <p:spPr>
            <a:xfrm>
              <a:off x="948319" y="2566073"/>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4733A58A-D0D8-4CFF-9EFF-5BFCF62384E6}"/>
                </a:ext>
              </a:extLst>
            </p:cNvPr>
            <p:cNvSpPr/>
            <p:nvPr/>
          </p:nvSpPr>
          <p:spPr>
            <a:xfrm>
              <a:off x="1504205"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FB7A9765-95AE-4EAF-85A8-42B80625A274}"/>
                </a:ext>
              </a:extLst>
            </p:cNvPr>
            <p:cNvSpPr/>
            <p:nvPr/>
          </p:nvSpPr>
          <p:spPr>
            <a:xfrm>
              <a:off x="2045081"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5AE3BDCE-F5D8-4B05-97D2-1FDF2DB77328}"/>
                </a:ext>
              </a:extLst>
            </p:cNvPr>
            <p:cNvCxnSpPr>
              <a:cxnSpLocks/>
              <a:stCxn id="28" idx="4"/>
              <a:endCxn id="29" idx="0"/>
            </p:cNvCxnSpPr>
            <p:nvPr/>
          </p:nvCxnSpPr>
          <p:spPr>
            <a:xfrm flipH="1">
              <a:off x="549089" y="1822077"/>
              <a:ext cx="849405" cy="744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FA86AB3-F476-400E-880D-DCEFE27D8EF9}"/>
                </a:ext>
              </a:extLst>
            </p:cNvPr>
            <p:cNvCxnSpPr>
              <a:cxnSpLocks/>
              <a:stCxn id="28" idx="4"/>
              <a:endCxn id="30" idx="0"/>
            </p:cNvCxnSpPr>
            <p:nvPr/>
          </p:nvCxnSpPr>
          <p:spPr>
            <a:xfrm flipH="1">
              <a:off x="1116408" y="1822077"/>
              <a:ext cx="282086" cy="743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0DF2D07-B35B-4B87-8D9F-6FFADBBFF498}"/>
                </a:ext>
              </a:extLst>
            </p:cNvPr>
            <p:cNvCxnSpPr>
              <a:cxnSpLocks/>
              <a:stCxn id="28" idx="4"/>
              <a:endCxn id="31" idx="0"/>
            </p:cNvCxnSpPr>
            <p:nvPr/>
          </p:nvCxnSpPr>
          <p:spPr>
            <a:xfrm>
              <a:off x="1398494" y="1822077"/>
              <a:ext cx="273800" cy="744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E3C5EA2-5927-44FB-9FDB-4942DE9586BF}"/>
                </a:ext>
              </a:extLst>
            </p:cNvPr>
            <p:cNvCxnSpPr>
              <a:cxnSpLocks/>
              <a:stCxn id="28" idx="4"/>
              <a:endCxn id="32" idx="0"/>
            </p:cNvCxnSpPr>
            <p:nvPr/>
          </p:nvCxnSpPr>
          <p:spPr>
            <a:xfrm>
              <a:off x="1398494" y="1822077"/>
              <a:ext cx="814676" cy="74407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9429E43B-7292-41DB-BFBE-90CE536C2046}"/>
              </a:ext>
            </a:extLst>
          </p:cNvPr>
          <p:cNvCxnSpPr>
            <a:cxnSpLocks/>
            <a:stCxn id="21" idx="4"/>
            <a:endCxn id="28" idx="0"/>
          </p:cNvCxnSpPr>
          <p:nvPr/>
        </p:nvCxnSpPr>
        <p:spPr>
          <a:xfrm>
            <a:off x="2351813" y="2839572"/>
            <a:ext cx="19107" cy="40774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76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3352333" y="225213"/>
            <a:ext cx="5027595" cy="707886"/>
          </a:xfrm>
          <a:prstGeom prst="rect">
            <a:avLst/>
          </a:prstGeom>
          <a:noFill/>
        </p:spPr>
        <p:txBody>
          <a:bodyPr wrap="none" rtlCol="0">
            <a:spAutoFit/>
          </a:bodyPr>
          <a:lstStyle/>
          <a:p>
            <a:r>
              <a:rPr lang="en-US" sz="4000" dirty="0"/>
              <a:t>How a Quadtree Works</a:t>
            </a:r>
          </a:p>
        </p:txBody>
      </p:sp>
      <p:sp>
        <p:nvSpPr>
          <p:cNvPr id="2" name="Footer Placeholder 1">
            <a:extLst>
              <a:ext uri="{FF2B5EF4-FFF2-40B4-BE49-F238E27FC236}">
                <a16:creationId xmlns:a16="http://schemas.microsoft.com/office/drawing/2014/main" id="{8B2094B6-C095-4DDF-B2F6-AA62CE839A8A}"/>
              </a:ext>
            </a:extLst>
          </p:cNvPr>
          <p:cNvSpPr>
            <a:spLocks noGrp="1"/>
          </p:cNvSpPr>
          <p:nvPr>
            <p:ph type="ftr" sz="quarter" idx="11"/>
          </p:nvPr>
        </p:nvSpPr>
        <p:spPr/>
        <p:txBody>
          <a:bodyPr/>
          <a:lstStyle/>
          <a:p>
            <a:r>
              <a:rPr lang="en-US"/>
              <a:t>copyright © 2017 Kevin M. Smith</a:t>
            </a:r>
          </a:p>
        </p:txBody>
      </p:sp>
      <p:grpSp>
        <p:nvGrpSpPr>
          <p:cNvPr id="4" name="Group 3">
            <a:extLst>
              <a:ext uri="{FF2B5EF4-FFF2-40B4-BE49-F238E27FC236}">
                <a16:creationId xmlns:a16="http://schemas.microsoft.com/office/drawing/2014/main" id="{7EEE19CD-3B91-4C45-B266-AE82E5ABBED1}"/>
              </a:ext>
            </a:extLst>
          </p:cNvPr>
          <p:cNvGrpSpPr/>
          <p:nvPr/>
        </p:nvGrpSpPr>
        <p:grpSpPr>
          <a:xfrm>
            <a:off x="5219112" y="1370270"/>
            <a:ext cx="4590926" cy="4548908"/>
            <a:chOff x="2993215" y="1161538"/>
            <a:chExt cx="4590926" cy="4548908"/>
          </a:xfrm>
        </p:grpSpPr>
        <p:pic>
          <p:nvPicPr>
            <p:cNvPr id="5" name="Picture 4">
              <a:extLst>
                <a:ext uri="{FF2B5EF4-FFF2-40B4-BE49-F238E27FC236}">
                  <a16:creationId xmlns:a16="http://schemas.microsoft.com/office/drawing/2014/main" id="{6A0EFB5C-BC79-4382-A793-CB68D389B85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78000"/>
                      </a14:imgEffect>
                    </a14:imgLayer>
                  </a14:imgProps>
                </a:ext>
                <a:ext uri="{28A0092B-C50C-407E-A947-70E740481C1C}">
                  <a14:useLocalDpi xmlns:a14="http://schemas.microsoft.com/office/drawing/2010/main" val="0"/>
                </a:ext>
              </a:extLst>
            </a:blip>
            <a:stretch>
              <a:fillRect/>
            </a:stretch>
          </p:blipFill>
          <p:spPr>
            <a:xfrm>
              <a:off x="3043894" y="1202861"/>
              <a:ext cx="4448163" cy="4377557"/>
            </a:xfrm>
            <a:prstGeom prst="rect">
              <a:avLst/>
            </a:prstGeom>
          </p:spPr>
        </p:pic>
        <p:sp>
          <p:nvSpPr>
            <p:cNvPr id="3" name="Rectangle 2">
              <a:extLst>
                <a:ext uri="{FF2B5EF4-FFF2-40B4-BE49-F238E27FC236}">
                  <a16:creationId xmlns:a16="http://schemas.microsoft.com/office/drawing/2014/main" id="{4801978E-273F-4DB1-ABBE-44066598B7AB}"/>
                </a:ext>
              </a:extLst>
            </p:cNvPr>
            <p:cNvSpPr/>
            <p:nvPr/>
          </p:nvSpPr>
          <p:spPr>
            <a:xfrm>
              <a:off x="2994965" y="1161538"/>
              <a:ext cx="4589176" cy="4531658"/>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247171BD-0351-4F1C-B6F5-955862412860}"/>
                </a:ext>
              </a:extLst>
            </p:cNvPr>
            <p:cNvSpPr/>
            <p:nvPr/>
          </p:nvSpPr>
          <p:spPr>
            <a:xfrm>
              <a:off x="4947077" y="3759205"/>
              <a:ext cx="215153" cy="215153"/>
            </a:xfrm>
            <a:prstGeom prst="ellipse">
              <a:avLst/>
            </a:prstGeom>
            <a:solidFill>
              <a:schemeClr val="accent4">
                <a:alpha val="5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018D1C5-2747-4660-BDA5-61E5ECA76607}"/>
                </a:ext>
              </a:extLst>
            </p:cNvPr>
            <p:cNvSpPr/>
            <p:nvPr/>
          </p:nvSpPr>
          <p:spPr>
            <a:xfrm>
              <a:off x="2994965" y="1184558"/>
              <a:ext cx="2289729" cy="224444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B76FF0D-9E68-4115-8023-06CA60F35C73}"/>
                </a:ext>
              </a:extLst>
            </p:cNvPr>
            <p:cNvSpPr/>
            <p:nvPr/>
          </p:nvSpPr>
          <p:spPr>
            <a:xfrm>
              <a:off x="5294412" y="1184558"/>
              <a:ext cx="2289729" cy="224444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85A9E56-7E2D-4ACD-ADF3-2DAA2B7C2C02}"/>
                </a:ext>
              </a:extLst>
            </p:cNvPr>
            <p:cNvSpPr/>
            <p:nvPr/>
          </p:nvSpPr>
          <p:spPr>
            <a:xfrm>
              <a:off x="5281194" y="3430764"/>
              <a:ext cx="2289729" cy="224444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438B22C-EAF9-4FD4-9B25-CE4E230CB030}"/>
                </a:ext>
              </a:extLst>
            </p:cNvPr>
            <p:cNvSpPr/>
            <p:nvPr/>
          </p:nvSpPr>
          <p:spPr>
            <a:xfrm>
              <a:off x="2993215" y="3420106"/>
              <a:ext cx="2289729" cy="224444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293968F-7D70-4CB5-814C-66A83328BD58}"/>
                </a:ext>
              </a:extLst>
            </p:cNvPr>
            <p:cNvSpPr/>
            <p:nvPr/>
          </p:nvSpPr>
          <p:spPr>
            <a:xfrm>
              <a:off x="3008184" y="3427367"/>
              <a:ext cx="1167128" cy="1137909"/>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E4C8BCE-13D8-4C44-9A1C-CC2C91981008}"/>
                </a:ext>
              </a:extLst>
            </p:cNvPr>
            <p:cNvSpPr/>
            <p:nvPr/>
          </p:nvSpPr>
          <p:spPr>
            <a:xfrm>
              <a:off x="3008184" y="4572537"/>
              <a:ext cx="1167128" cy="1137909"/>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C0EE064-74CF-4CC5-AA5C-ABBBEFED8F4A}"/>
                </a:ext>
              </a:extLst>
            </p:cNvPr>
            <p:cNvSpPr/>
            <p:nvPr/>
          </p:nvSpPr>
          <p:spPr>
            <a:xfrm>
              <a:off x="4151069" y="3441692"/>
              <a:ext cx="1143343" cy="1130846"/>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1ED90EC-2B5D-4081-858E-1FCCB3617147}"/>
                </a:ext>
              </a:extLst>
            </p:cNvPr>
            <p:cNvSpPr/>
            <p:nvPr/>
          </p:nvSpPr>
          <p:spPr>
            <a:xfrm>
              <a:off x="4162095" y="4569611"/>
              <a:ext cx="1105882" cy="1102198"/>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4F22C3A-DDE9-4610-8F71-FBFFBE975E4D}"/>
                </a:ext>
              </a:extLst>
            </p:cNvPr>
            <p:cNvSpPr/>
            <p:nvPr/>
          </p:nvSpPr>
          <p:spPr>
            <a:xfrm>
              <a:off x="4157457" y="3439658"/>
              <a:ext cx="555737" cy="54067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B5F5125-662F-49B6-A49C-6EE345E926CE}"/>
                </a:ext>
              </a:extLst>
            </p:cNvPr>
            <p:cNvSpPr/>
            <p:nvPr/>
          </p:nvSpPr>
          <p:spPr>
            <a:xfrm>
              <a:off x="4713194" y="3446557"/>
              <a:ext cx="555737" cy="540672"/>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3B1D579-6354-4C06-8720-A2BE4CDAE63C}"/>
                </a:ext>
              </a:extLst>
            </p:cNvPr>
            <p:cNvSpPr/>
            <p:nvPr/>
          </p:nvSpPr>
          <p:spPr>
            <a:xfrm>
              <a:off x="4711444" y="3980704"/>
              <a:ext cx="577887" cy="602761"/>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19598AF5-8F99-4332-A9E8-C5E2509CDDF9}"/>
              </a:ext>
            </a:extLst>
          </p:cNvPr>
          <p:cNvGrpSpPr/>
          <p:nvPr/>
        </p:nvGrpSpPr>
        <p:grpSpPr>
          <a:xfrm>
            <a:off x="1327463" y="1234889"/>
            <a:ext cx="2293165" cy="4959576"/>
            <a:chOff x="424974" y="1335742"/>
            <a:chExt cx="2293165" cy="4959576"/>
          </a:xfrm>
        </p:grpSpPr>
        <p:grpSp>
          <p:nvGrpSpPr>
            <p:cNvPr id="20" name="Group 19">
              <a:extLst>
                <a:ext uri="{FF2B5EF4-FFF2-40B4-BE49-F238E27FC236}">
                  <a16:creationId xmlns:a16="http://schemas.microsoft.com/office/drawing/2014/main" id="{C22AB0C1-6A19-42E7-B5EC-25E0D33E5862}"/>
                </a:ext>
              </a:extLst>
            </p:cNvPr>
            <p:cNvGrpSpPr/>
            <p:nvPr/>
          </p:nvGrpSpPr>
          <p:grpSpPr>
            <a:xfrm>
              <a:off x="424974" y="1335742"/>
              <a:ext cx="2000258" cy="1416424"/>
              <a:chOff x="381000" y="1485900"/>
              <a:chExt cx="2000258" cy="1416424"/>
            </a:xfrm>
          </p:grpSpPr>
          <p:sp>
            <p:nvSpPr>
              <p:cNvPr id="21" name="Oval 20">
                <a:extLst>
                  <a:ext uri="{FF2B5EF4-FFF2-40B4-BE49-F238E27FC236}">
                    <a16:creationId xmlns:a16="http://schemas.microsoft.com/office/drawing/2014/main" id="{3FED061E-7259-404F-BC4E-42533BAE8D76}"/>
                  </a:ext>
                </a:extLst>
              </p:cNvPr>
              <p:cNvSpPr/>
              <p:nvPr/>
            </p:nvSpPr>
            <p:spPr>
              <a:xfrm>
                <a:off x="1230405" y="1485900"/>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856C3F4-FBFE-42D8-804A-091EF1A060D1}"/>
                  </a:ext>
                </a:extLst>
              </p:cNvPr>
              <p:cNvSpPr/>
              <p:nvPr/>
            </p:nvSpPr>
            <p:spPr>
              <a:xfrm>
                <a:off x="381000"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CE842E4-6659-4931-BB41-DEC837EEDF66}"/>
                  </a:ext>
                </a:extLst>
              </p:cNvPr>
              <p:cNvSpPr/>
              <p:nvPr/>
            </p:nvSpPr>
            <p:spPr>
              <a:xfrm>
                <a:off x="948319" y="2566073"/>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776165B-3180-4693-BFE2-6C5C114B2472}"/>
                  </a:ext>
                </a:extLst>
              </p:cNvPr>
              <p:cNvSpPr/>
              <p:nvPr/>
            </p:nvSpPr>
            <p:spPr>
              <a:xfrm>
                <a:off x="1504205"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8CF4124B-1814-4B6B-9F88-AA1B97FBD435}"/>
                  </a:ext>
                </a:extLst>
              </p:cNvPr>
              <p:cNvSpPr/>
              <p:nvPr/>
            </p:nvSpPr>
            <p:spPr>
              <a:xfrm>
                <a:off x="2045081"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C2831DA7-9248-4F10-B9FD-8A9625296B49}"/>
                  </a:ext>
                </a:extLst>
              </p:cNvPr>
              <p:cNvCxnSpPr>
                <a:cxnSpLocks/>
                <a:stCxn id="21" idx="4"/>
                <a:endCxn id="22" idx="0"/>
              </p:cNvCxnSpPr>
              <p:nvPr/>
            </p:nvCxnSpPr>
            <p:spPr>
              <a:xfrm flipH="1">
                <a:off x="549089" y="1822077"/>
                <a:ext cx="849405" cy="744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FFA438E-88E8-4B90-B999-62EFCFBDF0C9}"/>
                  </a:ext>
                </a:extLst>
              </p:cNvPr>
              <p:cNvCxnSpPr>
                <a:cxnSpLocks/>
                <a:stCxn id="21" idx="4"/>
                <a:endCxn id="23" idx="0"/>
              </p:cNvCxnSpPr>
              <p:nvPr/>
            </p:nvCxnSpPr>
            <p:spPr>
              <a:xfrm flipH="1">
                <a:off x="1116408" y="1822077"/>
                <a:ext cx="282086" cy="743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8C985A2-845D-4DBD-AEDA-A6CFDC9ADCE6}"/>
                  </a:ext>
                </a:extLst>
              </p:cNvPr>
              <p:cNvCxnSpPr>
                <a:cxnSpLocks/>
                <a:stCxn id="21" idx="4"/>
                <a:endCxn id="24" idx="0"/>
              </p:cNvCxnSpPr>
              <p:nvPr/>
            </p:nvCxnSpPr>
            <p:spPr>
              <a:xfrm>
                <a:off x="1398494" y="1822077"/>
                <a:ext cx="273800" cy="744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A67D3E3-B915-4056-AE12-FA025E88A19B}"/>
                  </a:ext>
                </a:extLst>
              </p:cNvPr>
              <p:cNvCxnSpPr>
                <a:cxnSpLocks/>
                <a:stCxn id="21" idx="4"/>
                <a:endCxn id="25" idx="0"/>
              </p:cNvCxnSpPr>
              <p:nvPr/>
            </p:nvCxnSpPr>
            <p:spPr>
              <a:xfrm>
                <a:off x="1398494" y="1822077"/>
                <a:ext cx="814676" cy="74407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44AE26BD-9493-4127-A03C-5C5CD5CE7464}"/>
                </a:ext>
              </a:extLst>
            </p:cNvPr>
            <p:cNvGrpSpPr/>
            <p:nvPr/>
          </p:nvGrpSpPr>
          <p:grpSpPr>
            <a:xfrm>
              <a:off x="717881" y="3159911"/>
              <a:ext cx="2000258" cy="1416424"/>
              <a:chOff x="381000" y="1485900"/>
              <a:chExt cx="2000258" cy="1416424"/>
            </a:xfrm>
          </p:grpSpPr>
          <p:sp>
            <p:nvSpPr>
              <p:cNvPr id="31" name="Oval 30">
                <a:extLst>
                  <a:ext uri="{FF2B5EF4-FFF2-40B4-BE49-F238E27FC236}">
                    <a16:creationId xmlns:a16="http://schemas.microsoft.com/office/drawing/2014/main" id="{72BD3029-A440-4F09-BA9E-9ADD95A5EBED}"/>
                  </a:ext>
                </a:extLst>
              </p:cNvPr>
              <p:cNvSpPr/>
              <p:nvPr/>
            </p:nvSpPr>
            <p:spPr>
              <a:xfrm>
                <a:off x="1230405" y="1485900"/>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3926AAC3-A6BA-4DEF-822D-687270DF5E42}"/>
                  </a:ext>
                </a:extLst>
              </p:cNvPr>
              <p:cNvSpPr/>
              <p:nvPr/>
            </p:nvSpPr>
            <p:spPr>
              <a:xfrm>
                <a:off x="381000"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D0AF71D-4A25-4778-9491-773A4CE0B859}"/>
                  </a:ext>
                </a:extLst>
              </p:cNvPr>
              <p:cNvSpPr/>
              <p:nvPr/>
            </p:nvSpPr>
            <p:spPr>
              <a:xfrm>
                <a:off x="948319" y="2566073"/>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842BADD-26FD-438A-B6E2-4F238CD9630A}"/>
                  </a:ext>
                </a:extLst>
              </p:cNvPr>
              <p:cNvSpPr/>
              <p:nvPr/>
            </p:nvSpPr>
            <p:spPr>
              <a:xfrm>
                <a:off x="1504205"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502CA112-EDF2-4D8B-89EC-8A74003ACE1D}"/>
                  </a:ext>
                </a:extLst>
              </p:cNvPr>
              <p:cNvSpPr/>
              <p:nvPr/>
            </p:nvSpPr>
            <p:spPr>
              <a:xfrm>
                <a:off x="2045081"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E00DB488-0397-41B2-8A6C-5ED8E72B2CA0}"/>
                  </a:ext>
                </a:extLst>
              </p:cNvPr>
              <p:cNvCxnSpPr>
                <a:cxnSpLocks/>
                <a:stCxn id="31" idx="4"/>
                <a:endCxn id="32" idx="0"/>
              </p:cNvCxnSpPr>
              <p:nvPr/>
            </p:nvCxnSpPr>
            <p:spPr>
              <a:xfrm flipH="1">
                <a:off x="549089" y="1822077"/>
                <a:ext cx="849405" cy="744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D585118-AC40-4805-BB14-FCE6A0E85076}"/>
                  </a:ext>
                </a:extLst>
              </p:cNvPr>
              <p:cNvCxnSpPr>
                <a:cxnSpLocks/>
                <a:stCxn id="31" idx="4"/>
                <a:endCxn id="33" idx="0"/>
              </p:cNvCxnSpPr>
              <p:nvPr/>
            </p:nvCxnSpPr>
            <p:spPr>
              <a:xfrm flipH="1">
                <a:off x="1116408" y="1822077"/>
                <a:ext cx="282086" cy="743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5EC3E69-4FFD-4E35-92BE-6FBEAA1451E0}"/>
                  </a:ext>
                </a:extLst>
              </p:cNvPr>
              <p:cNvCxnSpPr>
                <a:cxnSpLocks/>
                <a:stCxn id="31" idx="4"/>
                <a:endCxn id="34" idx="0"/>
              </p:cNvCxnSpPr>
              <p:nvPr/>
            </p:nvCxnSpPr>
            <p:spPr>
              <a:xfrm>
                <a:off x="1398494" y="1822077"/>
                <a:ext cx="273800" cy="744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2E97D0B-5D46-4732-BEAB-494C8D8815FE}"/>
                  </a:ext>
                </a:extLst>
              </p:cNvPr>
              <p:cNvCxnSpPr>
                <a:cxnSpLocks/>
                <a:stCxn id="31" idx="4"/>
                <a:endCxn id="35" idx="0"/>
              </p:cNvCxnSpPr>
              <p:nvPr/>
            </p:nvCxnSpPr>
            <p:spPr>
              <a:xfrm>
                <a:off x="1398494" y="1822077"/>
                <a:ext cx="814676" cy="74407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40" name="Straight Connector 39">
              <a:extLst>
                <a:ext uri="{FF2B5EF4-FFF2-40B4-BE49-F238E27FC236}">
                  <a16:creationId xmlns:a16="http://schemas.microsoft.com/office/drawing/2014/main" id="{6790DED9-AFA0-4027-A099-0D2D6BE9DA19}"/>
                </a:ext>
              </a:extLst>
            </p:cNvPr>
            <p:cNvCxnSpPr>
              <a:cxnSpLocks/>
              <a:stCxn id="24" idx="4"/>
              <a:endCxn id="31" idx="0"/>
            </p:cNvCxnSpPr>
            <p:nvPr/>
          </p:nvCxnSpPr>
          <p:spPr>
            <a:xfrm>
              <a:off x="1716268" y="2752166"/>
              <a:ext cx="19107" cy="407745"/>
            </a:xfrm>
            <a:prstGeom prst="line">
              <a:avLst/>
            </a:prstGeom>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B97C506A-ECD1-4F0D-8FDB-83B1B94146FF}"/>
                </a:ext>
              </a:extLst>
            </p:cNvPr>
            <p:cNvGrpSpPr/>
            <p:nvPr/>
          </p:nvGrpSpPr>
          <p:grpSpPr>
            <a:xfrm>
              <a:off x="442340" y="4878894"/>
              <a:ext cx="2000258" cy="1416424"/>
              <a:chOff x="381000" y="1485900"/>
              <a:chExt cx="2000258" cy="1416424"/>
            </a:xfrm>
          </p:grpSpPr>
          <p:sp>
            <p:nvSpPr>
              <p:cNvPr id="42" name="Oval 41">
                <a:extLst>
                  <a:ext uri="{FF2B5EF4-FFF2-40B4-BE49-F238E27FC236}">
                    <a16:creationId xmlns:a16="http://schemas.microsoft.com/office/drawing/2014/main" id="{1C5D34D0-3E4F-4885-A7E5-E61669A0DF69}"/>
                  </a:ext>
                </a:extLst>
              </p:cNvPr>
              <p:cNvSpPr/>
              <p:nvPr/>
            </p:nvSpPr>
            <p:spPr>
              <a:xfrm>
                <a:off x="1230405" y="1485900"/>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CA1325C1-472F-447D-9FF5-9101C9B46801}"/>
                  </a:ext>
                </a:extLst>
              </p:cNvPr>
              <p:cNvSpPr/>
              <p:nvPr/>
            </p:nvSpPr>
            <p:spPr>
              <a:xfrm>
                <a:off x="381000"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ACDA8FD0-42B4-4A85-8AAB-6F302C05BA26}"/>
                  </a:ext>
                </a:extLst>
              </p:cNvPr>
              <p:cNvSpPr/>
              <p:nvPr/>
            </p:nvSpPr>
            <p:spPr>
              <a:xfrm>
                <a:off x="948319" y="2566073"/>
                <a:ext cx="336177" cy="336177"/>
              </a:xfrm>
              <a:prstGeom prst="ellipse">
                <a:avLst/>
              </a:prstGeom>
              <a:solidFill>
                <a:schemeClr val="accent4">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46CA4F9B-5521-49D4-99FC-DD400F1E098C}"/>
                  </a:ext>
                </a:extLst>
              </p:cNvPr>
              <p:cNvSpPr/>
              <p:nvPr/>
            </p:nvSpPr>
            <p:spPr>
              <a:xfrm>
                <a:off x="1504205"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63A1235E-0E26-4044-8B87-752DBB491044}"/>
                  </a:ext>
                </a:extLst>
              </p:cNvPr>
              <p:cNvSpPr/>
              <p:nvPr/>
            </p:nvSpPr>
            <p:spPr>
              <a:xfrm>
                <a:off x="2045081" y="2566147"/>
                <a:ext cx="336177" cy="336177"/>
              </a:xfrm>
              <a:prstGeom prst="ellipse">
                <a:avLst/>
              </a:prstGeom>
              <a:solidFill>
                <a:schemeClr val="accent5">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EC675D1D-8DE9-41F1-A34F-69745FE0640D}"/>
                  </a:ext>
                </a:extLst>
              </p:cNvPr>
              <p:cNvCxnSpPr>
                <a:cxnSpLocks/>
                <a:stCxn id="42" idx="4"/>
                <a:endCxn id="43" idx="0"/>
              </p:cNvCxnSpPr>
              <p:nvPr/>
            </p:nvCxnSpPr>
            <p:spPr>
              <a:xfrm flipH="1">
                <a:off x="549089" y="1822077"/>
                <a:ext cx="849405" cy="744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3172F5C-F46A-4CE1-84F1-01C9C98BBD23}"/>
                  </a:ext>
                </a:extLst>
              </p:cNvPr>
              <p:cNvCxnSpPr>
                <a:cxnSpLocks/>
                <a:stCxn id="42" idx="4"/>
                <a:endCxn id="44" idx="0"/>
              </p:cNvCxnSpPr>
              <p:nvPr/>
            </p:nvCxnSpPr>
            <p:spPr>
              <a:xfrm flipH="1">
                <a:off x="1116408" y="1822077"/>
                <a:ext cx="282086" cy="743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C6216F9-042F-4C4C-B766-5ED171D8441B}"/>
                  </a:ext>
                </a:extLst>
              </p:cNvPr>
              <p:cNvCxnSpPr>
                <a:cxnSpLocks/>
                <a:stCxn id="42" idx="4"/>
                <a:endCxn id="45" idx="0"/>
              </p:cNvCxnSpPr>
              <p:nvPr/>
            </p:nvCxnSpPr>
            <p:spPr>
              <a:xfrm>
                <a:off x="1398494" y="1822077"/>
                <a:ext cx="273800" cy="744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41D5FAA-83E1-4E94-B189-03788AC4C9E3}"/>
                  </a:ext>
                </a:extLst>
              </p:cNvPr>
              <p:cNvCxnSpPr>
                <a:cxnSpLocks/>
                <a:stCxn id="42" idx="4"/>
                <a:endCxn id="46" idx="0"/>
              </p:cNvCxnSpPr>
              <p:nvPr/>
            </p:nvCxnSpPr>
            <p:spPr>
              <a:xfrm>
                <a:off x="1398494" y="1822077"/>
                <a:ext cx="814676" cy="74407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52" name="Straight Connector 51">
              <a:extLst>
                <a:ext uri="{FF2B5EF4-FFF2-40B4-BE49-F238E27FC236}">
                  <a16:creationId xmlns:a16="http://schemas.microsoft.com/office/drawing/2014/main" id="{1387B8EB-1BB2-499F-8FFF-A73C6F986426}"/>
                </a:ext>
              </a:extLst>
            </p:cNvPr>
            <p:cNvCxnSpPr>
              <a:cxnSpLocks/>
              <a:stCxn id="33" idx="4"/>
              <a:endCxn id="42" idx="0"/>
            </p:cNvCxnSpPr>
            <p:nvPr/>
          </p:nvCxnSpPr>
          <p:spPr>
            <a:xfrm>
              <a:off x="1453289" y="4576261"/>
              <a:ext cx="6545" cy="302633"/>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64212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2226415" y="661861"/>
            <a:ext cx="4134337" cy="707886"/>
          </a:xfrm>
          <a:prstGeom prst="rect">
            <a:avLst/>
          </a:prstGeom>
          <a:noFill/>
        </p:spPr>
        <p:txBody>
          <a:bodyPr wrap="none" rtlCol="0">
            <a:spAutoFit/>
          </a:bodyPr>
          <a:lstStyle/>
          <a:p>
            <a:r>
              <a:rPr lang="en-US" sz="4000" dirty="0"/>
              <a:t>Octree Partitioning</a:t>
            </a:r>
          </a:p>
        </p:txBody>
      </p:sp>
      <p:sp>
        <p:nvSpPr>
          <p:cNvPr id="8" name="TextBox 7">
            <a:extLst>
              <a:ext uri="{FF2B5EF4-FFF2-40B4-BE49-F238E27FC236}">
                <a16:creationId xmlns:a16="http://schemas.microsoft.com/office/drawing/2014/main" id="{2FF4DD00-AD1E-49F6-9F25-ABCE8EFC3EEA}"/>
              </a:ext>
            </a:extLst>
          </p:cNvPr>
          <p:cNvSpPr txBox="1"/>
          <p:nvPr/>
        </p:nvSpPr>
        <p:spPr>
          <a:xfrm>
            <a:off x="419239" y="1678146"/>
            <a:ext cx="3692670" cy="5047536"/>
          </a:xfrm>
          <a:prstGeom prst="rect">
            <a:avLst/>
          </a:prstGeom>
          <a:noFill/>
        </p:spPr>
        <p:txBody>
          <a:bodyPr wrap="square" rtlCol="0">
            <a:spAutoFit/>
          </a:bodyPr>
          <a:lstStyle/>
          <a:p>
            <a:pPr marL="342900" indent="-342900">
              <a:buFont typeface="Arial" panose="020B0604020202020204" pitchFamily="34" charset="0"/>
              <a:buChar char="•"/>
            </a:pPr>
            <a:r>
              <a:rPr lang="en-US" sz="2400" dirty="0"/>
              <a:t>Same as Quadtree</a:t>
            </a:r>
          </a:p>
          <a:p>
            <a:pPr marL="342900" indent="-342900">
              <a:buFont typeface="Arial" panose="020B0604020202020204" pitchFamily="34" charset="0"/>
              <a:buChar char="•"/>
            </a:pPr>
            <a:r>
              <a:rPr lang="en-US" sz="2400" dirty="0"/>
              <a:t>Boxes instead of squares</a:t>
            </a:r>
          </a:p>
          <a:p>
            <a:pPr marL="342900" indent="-342900">
              <a:buFont typeface="Arial" panose="020B0604020202020204" pitchFamily="34" charset="0"/>
              <a:buChar char="•"/>
            </a:pPr>
            <a:r>
              <a:rPr lang="en-US" sz="2400" dirty="0"/>
              <a:t>For 3D geometry</a:t>
            </a:r>
          </a:p>
          <a:p>
            <a:pPr lvl="2"/>
            <a:endParaRPr lang="en-US" sz="2000" dirty="0"/>
          </a:p>
          <a:p>
            <a:pPr marL="800100" lvl="1" indent="-342900">
              <a:buFont typeface="Arial" panose="020B0604020202020204" pitchFamily="34" charset="0"/>
              <a:buChar char="•"/>
            </a:pPr>
            <a:endParaRPr lang="en-US" sz="1600" dirty="0">
              <a:sym typeface="Wingdings" panose="05000000000000000000" pitchFamily="2" charset="2"/>
            </a:endParaRPr>
          </a:p>
          <a:p>
            <a:pPr lvl="1"/>
            <a:endParaRPr lang="en-US" sz="1600" dirty="0"/>
          </a:p>
          <a:p>
            <a:pPr marL="800100" lvl="1" indent="-342900">
              <a:buFont typeface="Arial" panose="020B0604020202020204" pitchFamily="34" charset="0"/>
              <a:buChar char="•"/>
            </a:pPr>
            <a:endParaRPr lang="en-US" sz="1600" dirty="0">
              <a:solidFill>
                <a:schemeClr val="bg1"/>
              </a:solidFill>
            </a:endParaRPr>
          </a:p>
          <a:p>
            <a:pPr marL="800100" lvl="1" indent="-342900">
              <a:buFont typeface="Arial" panose="020B0604020202020204" pitchFamily="34" charset="0"/>
              <a:buChar char="•"/>
            </a:pPr>
            <a:endParaRPr lang="en-US" sz="2000" dirty="0"/>
          </a:p>
          <a:p>
            <a:pPr lvl="1"/>
            <a:endParaRPr lang="en-US" sz="2800" dirty="0"/>
          </a:p>
          <a:p>
            <a:pPr lvl="1"/>
            <a:r>
              <a:rPr lang="en-US" sz="2800" dirty="0"/>
              <a:t>	</a:t>
            </a:r>
          </a:p>
          <a:p>
            <a:pPr marL="342900" indent="-342900">
              <a:buFont typeface="Arial" panose="020B0604020202020204" pitchFamily="34" charset="0"/>
              <a:buChar char="•"/>
            </a:pPr>
            <a:endParaRPr lang="en-US" sz="2800" dirty="0"/>
          </a:p>
          <a:p>
            <a:pPr marL="800100" lvl="1" indent="-342900">
              <a:buFont typeface="Arial" panose="020B0604020202020204" pitchFamily="34" charset="0"/>
              <a:buChar char="•"/>
            </a:pPr>
            <a:endParaRPr lang="en-US" sz="2800" dirty="0"/>
          </a:p>
          <a:p>
            <a:pPr marL="342900" indent="-342900">
              <a:buFont typeface="Arial" panose="020B0604020202020204" pitchFamily="34" charset="0"/>
              <a:buChar char="•"/>
            </a:pPr>
            <a:endParaRPr lang="en-US" sz="1600" dirty="0"/>
          </a:p>
          <a:p>
            <a:pPr marL="800100" lvl="1" indent="-342900">
              <a:buFont typeface="Arial" panose="020B0604020202020204" pitchFamily="34" charset="0"/>
              <a:buChar char="•"/>
            </a:pPr>
            <a:endParaRPr lang="en-US" sz="1400" i="1" dirty="0"/>
          </a:p>
          <a:p>
            <a:pPr marL="342900" indent="-342900">
              <a:buFont typeface="Arial" panose="020B0604020202020204" pitchFamily="34" charset="0"/>
              <a:buChar char="•"/>
            </a:pPr>
            <a:endParaRPr lang="en-US" sz="2000" dirty="0"/>
          </a:p>
        </p:txBody>
      </p:sp>
      <p:sp>
        <p:nvSpPr>
          <p:cNvPr id="2" name="Footer Placeholder 1">
            <a:extLst>
              <a:ext uri="{FF2B5EF4-FFF2-40B4-BE49-F238E27FC236}">
                <a16:creationId xmlns:a16="http://schemas.microsoft.com/office/drawing/2014/main" id="{8B2094B6-C095-4DDF-B2F6-AA62CE839A8A}"/>
              </a:ext>
            </a:extLst>
          </p:cNvPr>
          <p:cNvSpPr>
            <a:spLocks noGrp="1"/>
          </p:cNvSpPr>
          <p:nvPr>
            <p:ph type="ftr" sz="quarter" idx="11"/>
          </p:nvPr>
        </p:nvSpPr>
        <p:spPr/>
        <p:txBody>
          <a:bodyPr/>
          <a:lstStyle/>
          <a:p>
            <a:r>
              <a:rPr lang="en-US"/>
              <a:t>copyright © 2017 Kevin M. Smith</a:t>
            </a:r>
          </a:p>
        </p:txBody>
      </p:sp>
      <p:pic>
        <p:nvPicPr>
          <p:cNvPr id="3" name="Picture 2">
            <a:extLst>
              <a:ext uri="{FF2B5EF4-FFF2-40B4-BE49-F238E27FC236}">
                <a16:creationId xmlns:a16="http://schemas.microsoft.com/office/drawing/2014/main" id="{9304EC8D-29DC-4B73-A5EA-BF28ADEC4286}"/>
              </a:ext>
            </a:extLst>
          </p:cNvPr>
          <p:cNvPicPr>
            <a:picLocks noChangeAspect="1"/>
          </p:cNvPicPr>
          <p:nvPr/>
        </p:nvPicPr>
        <p:blipFill>
          <a:blip r:embed="rId3"/>
          <a:stretch>
            <a:fillRect/>
          </a:stretch>
        </p:blipFill>
        <p:spPr>
          <a:xfrm>
            <a:off x="4293583" y="1623535"/>
            <a:ext cx="7197855" cy="4373852"/>
          </a:xfrm>
          <a:prstGeom prst="rect">
            <a:avLst/>
          </a:prstGeom>
        </p:spPr>
      </p:pic>
    </p:spTree>
    <p:extLst>
      <p:ext uri="{BB962C8B-B14F-4D97-AF65-F5344CB8AC3E}">
        <p14:creationId xmlns:p14="http://schemas.microsoft.com/office/powerpoint/2010/main" val="1999314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2226415" y="661861"/>
            <a:ext cx="7014869" cy="707886"/>
          </a:xfrm>
          <a:prstGeom prst="rect">
            <a:avLst/>
          </a:prstGeom>
          <a:noFill/>
        </p:spPr>
        <p:txBody>
          <a:bodyPr wrap="none" rtlCol="0">
            <a:spAutoFit/>
          </a:bodyPr>
          <a:lstStyle/>
          <a:p>
            <a:r>
              <a:rPr lang="en-US" sz="4000" dirty="0"/>
              <a:t>3D Ray Selection using an Octree</a:t>
            </a:r>
          </a:p>
        </p:txBody>
      </p:sp>
      <p:sp>
        <p:nvSpPr>
          <p:cNvPr id="8" name="TextBox 7">
            <a:extLst>
              <a:ext uri="{FF2B5EF4-FFF2-40B4-BE49-F238E27FC236}">
                <a16:creationId xmlns:a16="http://schemas.microsoft.com/office/drawing/2014/main" id="{2FF4DD00-AD1E-49F6-9F25-ABCE8EFC3EEA}"/>
              </a:ext>
            </a:extLst>
          </p:cNvPr>
          <p:cNvSpPr txBox="1"/>
          <p:nvPr/>
        </p:nvSpPr>
        <p:spPr>
          <a:xfrm>
            <a:off x="1430660" y="1647478"/>
            <a:ext cx="8815464" cy="8802410"/>
          </a:xfrm>
          <a:prstGeom prst="rect">
            <a:avLst/>
          </a:prstGeom>
          <a:noFill/>
        </p:spPr>
        <p:txBody>
          <a:bodyPr wrap="square" rtlCol="0">
            <a:spAutoFit/>
          </a:bodyPr>
          <a:lstStyle/>
          <a:p>
            <a:pPr marL="342900" indent="-342900">
              <a:buFont typeface="Arial" panose="020B0604020202020204" pitchFamily="34" charset="0"/>
              <a:buChar char="•"/>
            </a:pPr>
            <a:r>
              <a:rPr lang="en-US" sz="2400" dirty="0"/>
              <a:t> </a:t>
            </a:r>
            <a:r>
              <a:rPr lang="en-US" sz="2000" dirty="0"/>
              <a:t>Basic Algorithm (Top Level):</a:t>
            </a:r>
          </a:p>
          <a:p>
            <a:pPr marL="800100" lvl="1" indent="-342900">
              <a:buFont typeface="Arial" panose="020B0604020202020204" pitchFamily="34" charset="0"/>
              <a:buChar char="•"/>
            </a:pPr>
            <a:r>
              <a:rPr lang="en-US" dirty="0"/>
              <a:t>Assume we have a mesh with a list of 3D points which can be indexed by </a:t>
            </a:r>
            <a:r>
              <a:rPr lang="en-US" dirty="0" err="1"/>
              <a:t>i</a:t>
            </a:r>
            <a:r>
              <a:rPr lang="en-US" dirty="0"/>
              <a:t>.</a:t>
            </a:r>
          </a:p>
          <a:p>
            <a:pPr marL="800100" lvl="1" indent="-342900">
              <a:buFont typeface="Arial" panose="020B0604020202020204" pitchFamily="34" charset="0"/>
              <a:buChar char="•"/>
            </a:pPr>
            <a:r>
              <a:rPr lang="en-US" dirty="0"/>
              <a:t>Create an Octree data structure of the geometry where we store point indices from the geometry into the hierarchical octree boxes. The smallest box will contain one point.</a:t>
            </a:r>
          </a:p>
          <a:p>
            <a:pPr marL="800100" lvl="1" indent="-342900">
              <a:buFont typeface="Arial" panose="020B0604020202020204" pitchFamily="34" charset="0"/>
              <a:buChar char="•"/>
            </a:pPr>
            <a:r>
              <a:rPr lang="en-US" dirty="0"/>
              <a:t>For a selection ray, R :</a:t>
            </a:r>
          </a:p>
          <a:p>
            <a:pPr marL="1257300" lvl="2" indent="-342900">
              <a:buFont typeface="Arial" panose="020B0604020202020204" pitchFamily="34" charset="0"/>
              <a:buChar char="•"/>
            </a:pPr>
            <a:r>
              <a:rPr lang="en-US" dirty="0"/>
              <a:t>Recursively traverse the Octree testing for intersection with a box. If the box is hit go to the next level down.</a:t>
            </a:r>
          </a:p>
          <a:p>
            <a:pPr marL="1257300" lvl="2" indent="-342900">
              <a:buFont typeface="Arial" panose="020B0604020202020204" pitchFamily="34" charset="0"/>
              <a:buChar char="•"/>
            </a:pPr>
            <a:r>
              <a:rPr lang="en-US" dirty="0"/>
              <a:t>Repeat until we find a box that contains only one point (this is the selection)</a:t>
            </a:r>
          </a:p>
          <a:p>
            <a:pPr marL="1257300" lvl="2" indent="-342900">
              <a:buFont typeface="Arial" panose="020B0604020202020204" pitchFamily="34" charset="0"/>
              <a:buChar char="•"/>
            </a:pPr>
            <a:endParaRPr lang="en-US" dirty="0"/>
          </a:p>
          <a:p>
            <a:pPr marL="800100" lvl="1" indent="-342900">
              <a:buFont typeface="Arial" panose="020B0604020202020204" pitchFamily="34" charset="0"/>
              <a:buChar char="•"/>
            </a:pPr>
            <a:r>
              <a:rPr lang="en-US" dirty="0"/>
              <a:t>Edge Cases</a:t>
            </a:r>
          </a:p>
          <a:p>
            <a:pPr marL="1257300" lvl="2" indent="-342900">
              <a:buFont typeface="Arial" panose="020B0604020202020204" pitchFamily="34" charset="0"/>
              <a:buChar char="•"/>
            </a:pPr>
            <a:r>
              <a:rPr lang="en-US" dirty="0"/>
              <a:t>It is possible to intersect multiple boxes on the same level (think selecting  front or side view).   If you want to support multiple selection with one ray, you would have to traverse two trees OR traverse only the closest one to the eye  (camera).   (For class project, chose the closet one).</a:t>
            </a:r>
          </a:p>
          <a:p>
            <a:pPr lvl="2"/>
            <a:endParaRPr lang="en-US" sz="2000" dirty="0"/>
          </a:p>
          <a:p>
            <a:pPr marL="800100" lvl="1" indent="-342900">
              <a:buFont typeface="Arial" panose="020B0604020202020204" pitchFamily="34" charset="0"/>
              <a:buChar char="•"/>
            </a:pPr>
            <a:endParaRPr lang="en-US" sz="2000" dirty="0"/>
          </a:p>
          <a:p>
            <a:pPr marL="1257300" lvl="2"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1600" dirty="0">
              <a:sym typeface="Wingdings" panose="05000000000000000000" pitchFamily="2" charset="2"/>
            </a:endParaRPr>
          </a:p>
          <a:p>
            <a:pPr lvl="1"/>
            <a:endParaRPr lang="en-US" sz="1600" dirty="0"/>
          </a:p>
          <a:p>
            <a:pPr marL="800100" lvl="1" indent="-342900">
              <a:buFont typeface="Arial" panose="020B0604020202020204" pitchFamily="34" charset="0"/>
              <a:buChar char="•"/>
            </a:pPr>
            <a:endParaRPr lang="en-US" sz="1600" dirty="0">
              <a:solidFill>
                <a:schemeClr val="bg1"/>
              </a:solidFill>
            </a:endParaRPr>
          </a:p>
          <a:p>
            <a:pPr marL="800100" lvl="1" indent="-342900">
              <a:buFont typeface="Arial" panose="020B0604020202020204" pitchFamily="34" charset="0"/>
              <a:buChar char="•"/>
            </a:pPr>
            <a:endParaRPr lang="en-US" sz="2000" dirty="0"/>
          </a:p>
          <a:p>
            <a:pPr lvl="1"/>
            <a:endParaRPr lang="en-US" sz="2800" dirty="0"/>
          </a:p>
          <a:p>
            <a:pPr lvl="1"/>
            <a:r>
              <a:rPr lang="en-US" sz="2800" dirty="0"/>
              <a:t>	</a:t>
            </a:r>
          </a:p>
          <a:p>
            <a:pPr marL="342900" indent="-342900">
              <a:buFont typeface="Arial" panose="020B0604020202020204" pitchFamily="34" charset="0"/>
              <a:buChar char="•"/>
            </a:pPr>
            <a:endParaRPr lang="en-US" sz="2800" dirty="0"/>
          </a:p>
          <a:p>
            <a:pPr marL="800100" lvl="1" indent="-342900">
              <a:buFont typeface="Arial" panose="020B0604020202020204" pitchFamily="34" charset="0"/>
              <a:buChar char="•"/>
            </a:pPr>
            <a:endParaRPr lang="en-US" sz="2800" dirty="0"/>
          </a:p>
          <a:p>
            <a:pPr marL="342900" indent="-342900">
              <a:buFont typeface="Arial" panose="020B0604020202020204" pitchFamily="34" charset="0"/>
              <a:buChar char="•"/>
            </a:pPr>
            <a:endParaRPr lang="en-US" sz="1600" dirty="0"/>
          </a:p>
          <a:p>
            <a:pPr marL="800100" lvl="1" indent="-342900">
              <a:buFont typeface="Arial" panose="020B0604020202020204" pitchFamily="34" charset="0"/>
              <a:buChar char="•"/>
            </a:pPr>
            <a:endParaRPr lang="en-US" sz="1400" i="1" dirty="0"/>
          </a:p>
          <a:p>
            <a:pPr marL="342900" indent="-342900">
              <a:buFont typeface="Arial" panose="020B0604020202020204" pitchFamily="34" charset="0"/>
              <a:buChar char="•"/>
            </a:pPr>
            <a:endParaRPr lang="en-US" sz="2000" dirty="0"/>
          </a:p>
        </p:txBody>
      </p:sp>
      <p:sp>
        <p:nvSpPr>
          <p:cNvPr id="2" name="Footer Placeholder 1">
            <a:extLst>
              <a:ext uri="{FF2B5EF4-FFF2-40B4-BE49-F238E27FC236}">
                <a16:creationId xmlns:a16="http://schemas.microsoft.com/office/drawing/2014/main" id="{8B2094B6-C095-4DDF-B2F6-AA62CE839A8A}"/>
              </a:ext>
            </a:extLst>
          </p:cNvPr>
          <p:cNvSpPr>
            <a:spLocks noGrp="1"/>
          </p:cNvSpPr>
          <p:nvPr>
            <p:ph type="ftr" sz="quarter" idx="11"/>
          </p:nvPr>
        </p:nvSpPr>
        <p:spPr/>
        <p:txBody>
          <a:bodyPr/>
          <a:lstStyle/>
          <a:p>
            <a:r>
              <a:rPr lang="en-US"/>
              <a:t>copyright © 2017 Kevin M. Smith</a:t>
            </a:r>
          </a:p>
        </p:txBody>
      </p:sp>
    </p:spTree>
    <p:extLst>
      <p:ext uri="{BB962C8B-B14F-4D97-AF65-F5344CB8AC3E}">
        <p14:creationId xmlns:p14="http://schemas.microsoft.com/office/powerpoint/2010/main" val="3575185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7" end="7"/>
                                            </p:txEl>
                                          </p:spTgt>
                                        </p:tgtEl>
                                        <p:attrNameLst>
                                          <p:attrName>style.visibility</p:attrName>
                                        </p:attrNameLst>
                                      </p:cBhvr>
                                      <p:to>
                                        <p:strVal val="visible"/>
                                      </p:to>
                                    </p:set>
                                    <p:animEffect transition="in" filter="fade">
                                      <p:cBhvr>
                                        <p:cTn id="37" dur="500"/>
                                        <p:tgtEl>
                                          <p:spTgt spid="8">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8" end="8"/>
                                            </p:txEl>
                                          </p:spTgt>
                                        </p:tgtEl>
                                        <p:attrNameLst>
                                          <p:attrName>style.visibility</p:attrName>
                                        </p:attrNameLst>
                                      </p:cBhvr>
                                      <p:to>
                                        <p:strVal val="visible"/>
                                      </p:to>
                                    </p:set>
                                    <p:animEffect transition="in" filter="fade">
                                      <p:cBhvr>
                                        <p:cTn id="42"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2226415" y="661861"/>
            <a:ext cx="7014869" cy="707886"/>
          </a:xfrm>
          <a:prstGeom prst="rect">
            <a:avLst/>
          </a:prstGeom>
          <a:noFill/>
        </p:spPr>
        <p:txBody>
          <a:bodyPr wrap="none" rtlCol="0">
            <a:spAutoFit/>
          </a:bodyPr>
          <a:lstStyle/>
          <a:p>
            <a:r>
              <a:rPr lang="en-US" sz="4000" dirty="0"/>
              <a:t>3D Ray Selection using an Octree</a:t>
            </a:r>
          </a:p>
        </p:txBody>
      </p:sp>
      <p:sp>
        <p:nvSpPr>
          <p:cNvPr id="8" name="TextBox 7">
            <a:extLst>
              <a:ext uri="{FF2B5EF4-FFF2-40B4-BE49-F238E27FC236}">
                <a16:creationId xmlns:a16="http://schemas.microsoft.com/office/drawing/2014/main" id="{2FF4DD00-AD1E-49F6-9F25-ABCE8EFC3EEA}"/>
              </a:ext>
            </a:extLst>
          </p:cNvPr>
          <p:cNvSpPr txBox="1"/>
          <p:nvPr/>
        </p:nvSpPr>
        <p:spPr>
          <a:xfrm>
            <a:off x="1430660" y="1647478"/>
            <a:ext cx="8815464" cy="8802410"/>
          </a:xfrm>
          <a:prstGeom prst="rect">
            <a:avLst/>
          </a:prstGeom>
          <a:noFill/>
        </p:spPr>
        <p:txBody>
          <a:bodyPr wrap="square" rtlCol="0">
            <a:spAutoFit/>
          </a:bodyPr>
          <a:lstStyle/>
          <a:p>
            <a:pPr marL="342900" indent="-342900">
              <a:buFont typeface="Arial" panose="020B0604020202020204" pitchFamily="34" charset="0"/>
              <a:buChar char="•"/>
            </a:pPr>
            <a:r>
              <a:rPr lang="en-US" sz="2400" dirty="0"/>
              <a:t> </a:t>
            </a:r>
            <a:r>
              <a:rPr lang="en-US" sz="2000" dirty="0"/>
              <a:t>Creating an Octree from Mesh – Basic Algorithm</a:t>
            </a:r>
          </a:p>
          <a:p>
            <a:pPr marL="800100" lvl="1" indent="-342900">
              <a:buFont typeface="Arial" panose="020B0604020202020204" pitchFamily="34" charset="0"/>
              <a:buChar char="•"/>
            </a:pPr>
            <a:r>
              <a:rPr lang="en-US" dirty="0"/>
              <a:t>Assume we have a mesh with points indexed by 1.  Starting condition is that the entire mesh is in a bounding box  (the smallest box containing all points)</a:t>
            </a:r>
          </a:p>
          <a:p>
            <a:pPr marL="800100" lvl="1" indent="-342900">
              <a:buFont typeface="Arial" panose="020B0604020202020204" pitchFamily="34" charset="0"/>
              <a:buChar char="•"/>
            </a:pPr>
            <a:r>
              <a:rPr lang="en-US" i="1" dirty="0"/>
              <a:t>Subdivide </a:t>
            </a:r>
          </a:p>
          <a:p>
            <a:pPr marL="1257300" lvl="2" indent="-342900">
              <a:buFont typeface="Arial" panose="020B0604020202020204" pitchFamily="34" charset="0"/>
              <a:buChar char="•"/>
            </a:pPr>
            <a:r>
              <a:rPr lang="en-US" dirty="0"/>
              <a:t>Create a node for the box containing:</a:t>
            </a:r>
          </a:p>
          <a:p>
            <a:pPr marL="1714500" lvl="3" indent="-342900">
              <a:buFont typeface="Arial" panose="020B0604020202020204" pitchFamily="34" charset="0"/>
              <a:buChar char="•"/>
            </a:pPr>
            <a:r>
              <a:rPr lang="en-US" dirty="0"/>
              <a:t>List of point indices</a:t>
            </a:r>
          </a:p>
          <a:p>
            <a:pPr marL="1714500" lvl="3" indent="-342900">
              <a:buFont typeface="Arial" panose="020B0604020202020204" pitchFamily="34" charset="0"/>
              <a:buChar char="•"/>
            </a:pPr>
            <a:r>
              <a:rPr lang="en-US" dirty="0"/>
              <a:t>List of child boxes</a:t>
            </a:r>
          </a:p>
          <a:p>
            <a:pPr marL="1257300" lvl="2" indent="-342900">
              <a:buFont typeface="Arial" panose="020B0604020202020204" pitchFamily="34" charset="0"/>
              <a:buChar char="•"/>
            </a:pPr>
            <a:r>
              <a:rPr lang="en-US" dirty="0"/>
              <a:t>Subdivide the box into 8 equally sized boxes</a:t>
            </a:r>
          </a:p>
          <a:p>
            <a:pPr marL="1257300" lvl="2" indent="-342900">
              <a:buFont typeface="Arial" panose="020B0604020202020204" pitchFamily="34" charset="0"/>
              <a:buChar char="•"/>
            </a:pPr>
            <a:r>
              <a:rPr lang="en-US" dirty="0"/>
              <a:t>Create a node for each of the 8 child boxes</a:t>
            </a:r>
          </a:p>
          <a:p>
            <a:pPr marL="1257300" lvl="2" indent="-342900">
              <a:buFont typeface="Arial" panose="020B0604020202020204" pitchFamily="34" charset="0"/>
              <a:buChar char="•"/>
            </a:pPr>
            <a:r>
              <a:rPr lang="en-US" dirty="0"/>
              <a:t>For all indices in the box, add to an index list in each child node if the point is in the child box.  </a:t>
            </a:r>
          </a:p>
          <a:p>
            <a:pPr marL="1257300" lvl="2" indent="-342900">
              <a:buFont typeface="Arial" panose="020B0604020202020204" pitchFamily="34" charset="0"/>
              <a:buChar char="•"/>
            </a:pPr>
            <a:r>
              <a:rPr lang="en-US" dirty="0"/>
              <a:t>If a child box is not empty, add to the parent list of child boxes;</a:t>
            </a:r>
          </a:p>
          <a:p>
            <a:pPr marL="1257300" lvl="2" indent="-342900">
              <a:buFont typeface="Arial" panose="020B0604020202020204" pitchFamily="34" charset="0"/>
              <a:buChar char="•"/>
            </a:pPr>
            <a:r>
              <a:rPr lang="en-US" dirty="0"/>
              <a:t>If there is more than one vertex stored in a child:</a:t>
            </a:r>
          </a:p>
          <a:p>
            <a:pPr marL="1714500" lvl="3" indent="-342900">
              <a:buFont typeface="Arial" panose="020B0604020202020204" pitchFamily="34" charset="0"/>
              <a:buChar char="•"/>
            </a:pPr>
            <a:r>
              <a:rPr lang="en-US" dirty="0"/>
              <a:t>Call </a:t>
            </a:r>
            <a:r>
              <a:rPr lang="en-US" i="1" dirty="0"/>
              <a:t>Subdivide</a:t>
            </a:r>
            <a:r>
              <a:rPr lang="en-US" dirty="0"/>
              <a:t> (recursively)</a:t>
            </a:r>
          </a:p>
          <a:p>
            <a:pPr marL="1257300" lvl="2" indent="-342900">
              <a:buFont typeface="Arial" panose="020B0604020202020204" pitchFamily="34" charset="0"/>
              <a:buChar char="•"/>
            </a:pPr>
            <a:endParaRPr lang="en-US" dirty="0"/>
          </a:p>
          <a:p>
            <a:pPr lvl="2"/>
            <a:endParaRPr lang="en-US" sz="2000" dirty="0"/>
          </a:p>
          <a:p>
            <a:pPr marL="800100" lvl="1" indent="-342900">
              <a:buFont typeface="Arial" panose="020B0604020202020204" pitchFamily="34" charset="0"/>
              <a:buChar char="•"/>
            </a:pPr>
            <a:endParaRPr lang="en-US" sz="2000" dirty="0"/>
          </a:p>
          <a:p>
            <a:pPr marL="1257300" lvl="2"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1600" dirty="0">
              <a:sym typeface="Wingdings" panose="05000000000000000000" pitchFamily="2" charset="2"/>
            </a:endParaRPr>
          </a:p>
          <a:p>
            <a:pPr lvl="1"/>
            <a:endParaRPr lang="en-US" sz="1600" dirty="0"/>
          </a:p>
          <a:p>
            <a:pPr marL="800100" lvl="1" indent="-342900">
              <a:buFont typeface="Arial" panose="020B0604020202020204" pitchFamily="34" charset="0"/>
              <a:buChar char="•"/>
            </a:pPr>
            <a:endParaRPr lang="en-US" sz="1600" dirty="0">
              <a:solidFill>
                <a:schemeClr val="bg1"/>
              </a:solidFill>
            </a:endParaRPr>
          </a:p>
          <a:p>
            <a:pPr marL="800100" lvl="1" indent="-342900">
              <a:buFont typeface="Arial" panose="020B0604020202020204" pitchFamily="34" charset="0"/>
              <a:buChar char="•"/>
            </a:pPr>
            <a:endParaRPr lang="en-US" sz="2000" dirty="0"/>
          </a:p>
          <a:p>
            <a:pPr lvl="1"/>
            <a:endParaRPr lang="en-US" sz="2800" dirty="0"/>
          </a:p>
          <a:p>
            <a:pPr lvl="1"/>
            <a:r>
              <a:rPr lang="en-US" sz="2800" dirty="0"/>
              <a:t>	</a:t>
            </a:r>
          </a:p>
          <a:p>
            <a:pPr marL="342900" indent="-342900">
              <a:buFont typeface="Arial" panose="020B0604020202020204" pitchFamily="34" charset="0"/>
              <a:buChar char="•"/>
            </a:pPr>
            <a:endParaRPr lang="en-US" sz="2800" dirty="0"/>
          </a:p>
          <a:p>
            <a:pPr marL="800100" lvl="1" indent="-342900">
              <a:buFont typeface="Arial" panose="020B0604020202020204" pitchFamily="34" charset="0"/>
              <a:buChar char="•"/>
            </a:pPr>
            <a:endParaRPr lang="en-US" sz="2800" dirty="0"/>
          </a:p>
          <a:p>
            <a:pPr marL="342900" indent="-342900">
              <a:buFont typeface="Arial" panose="020B0604020202020204" pitchFamily="34" charset="0"/>
              <a:buChar char="•"/>
            </a:pPr>
            <a:endParaRPr lang="en-US" sz="1600" dirty="0"/>
          </a:p>
          <a:p>
            <a:pPr marL="800100" lvl="1" indent="-342900">
              <a:buFont typeface="Arial" panose="020B0604020202020204" pitchFamily="34" charset="0"/>
              <a:buChar char="•"/>
            </a:pPr>
            <a:endParaRPr lang="en-US" sz="1400" i="1" dirty="0"/>
          </a:p>
          <a:p>
            <a:pPr marL="342900" indent="-342900">
              <a:buFont typeface="Arial" panose="020B0604020202020204" pitchFamily="34" charset="0"/>
              <a:buChar char="•"/>
            </a:pPr>
            <a:endParaRPr lang="en-US" sz="2000" dirty="0"/>
          </a:p>
        </p:txBody>
      </p:sp>
      <p:sp>
        <p:nvSpPr>
          <p:cNvPr id="2" name="Footer Placeholder 1">
            <a:extLst>
              <a:ext uri="{FF2B5EF4-FFF2-40B4-BE49-F238E27FC236}">
                <a16:creationId xmlns:a16="http://schemas.microsoft.com/office/drawing/2014/main" id="{8B2094B6-C095-4DDF-B2F6-AA62CE839A8A}"/>
              </a:ext>
            </a:extLst>
          </p:cNvPr>
          <p:cNvSpPr>
            <a:spLocks noGrp="1"/>
          </p:cNvSpPr>
          <p:nvPr>
            <p:ph type="ftr" sz="quarter" idx="11"/>
          </p:nvPr>
        </p:nvSpPr>
        <p:spPr/>
        <p:txBody>
          <a:bodyPr/>
          <a:lstStyle/>
          <a:p>
            <a:r>
              <a:rPr lang="en-US"/>
              <a:t>copyright © 2017 Kevin M. Smith</a:t>
            </a:r>
          </a:p>
        </p:txBody>
      </p:sp>
    </p:spTree>
    <p:extLst>
      <p:ext uri="{BB962C8B-B14F-4D97-AF65-F5344CB8AC3E}">
        <p14:creationId xmlns:p14="http://schemas.microsoft.com/office/powerpoint/2010/main" val="3495882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fade">
                                      <p:cBhvr>
                                        <p:cTn id="42" dur="500"/>
                                        <p:tgtEl>
                                          <p:spTgt spid="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fade">
                                      <p:cBhvr>
                                        <p:cTn id="47" dur="500"/>
                                        <p:tgtEl>
                                          <p:spTgt spid="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
                                            <p:txEl>
                                              <p:pRg st="9" end="9"/>
                                            </p:txEl>
                                          </p:spTgt>
                                        </p:tgtEl>
                                        <p:attrNameLst>
                                          <p:attrName>style.visibility</p:attrName>
                                        </p:attrNameLst>
                                      </p:cBhvr>
                                      <p:to>
                                        <p:strVal val="visible"/>
                                      </p:to>
                                    </p:set>
                                    <p:animEffect transition="in" filter="fade">
                                      <p:cBhvr>
                                        <p:cTn id="52" dur="500"/>
                                        <p:tgtEl>
                                          <p:spTgt spid="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
                                            <p:txEl>
                                              <p:pRg st="10" end="10"/>
                                            </p:txEl>
                                          </p:spTgt>
                                        </p:tgtEl>
                                        <p:attrNameLst>
                                          <p:attrName>style.visibility</p:attrName>
                                        </p:attrNameLst>
                                      </p:cBhvr>
                                      <p:to>
                                        <p:strVal val="visible"/>
                                      </p:to>
                                    </p:set>
                                    <p:animEffect transition="in" filter="fade">
                                      <p:cBhvr>
                                        <p:cTn id="57" dur="500"/>
                                        <p:tgtEl>
                                          <p:spTgt spid="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8">
                                            <p:txEl>
                                              <p:pRg st="11" end="11"/>
                                            </p:txEl>
                                          </p:spTgt>
                                        </p:tgtEl>
                                        <p:attrNameLst>
                                          <p:attrName>style.visibility</p:attrName>
                                        </p:attrNameLst>
                                      </p:cBhvr>
                                      <p:to>
                                        <p:strVal val="visible"/>
                                      </p:to>
                                    </p:set>
                                    <p:animEffect transition="in" filter="fade">
                                      <p:cBhvr>
                                        <p:cTn id="62" dur="500"/>
                                        <p:tgtEl>
                                          <p:spTgt spid="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6601</TotalTime>
  <Words>598</Words>
  <Application>Microsoft Office PowerPoint</Application>
  <PresentationFormat>Widescreen</PresentationFormat>
  <Paragraphs>128</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CS 134 Computer Game Design – 3D Graphics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235 User Interface Design</dc:title>
  <dc:creator>Kevin Smith</dc:creator>
  <cp:lastModifiedBy>Kevin Smith</cp:lastModifiedBy>
  <cp:revision>292</cp:revision>
  <dcterms:created xsi:type="dcterms:W3CDTF">2017-08-23T16:49:40Z</dcterms:created>
  <dcterms:modified xsi:type="dcterms:W3CDTF">2020-04-19T21:02:48Z</dcterms:modified>
</cp:coreProperties>
</file>