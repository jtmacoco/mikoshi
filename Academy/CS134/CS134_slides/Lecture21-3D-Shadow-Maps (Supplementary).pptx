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395" r:id="rId2"/>
    <p:sldId id="396" r:id="rId3"/>
    <p:sldId id="367" r:id="rId4"/>
    <p:sldId id="426" r:id="rId5"/>
    <p:sldId id="414" r:id="rId6"/>
    <p:sldId id="439" r:id="rId7"/>
    <p:sldId id="443" r:id="rId8"/>
    <p:sldId id="441" r:id="rId9"/>
    <p:sldId id="440" r:id="rId10"/>
    <p:sldId id="44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8" autoAdjust="0"/>
    <p:restoredTop sz="95137" autoAdjust="0"/>
  </p:normalViewPr>
  <p:slideViewPr>
    <p:cSldViewPr snapToGrid="0">
      <p:cViewPr varScale="1">
        <p:scale>
          <a:sx n="79" d="100"/>
          <a:sy n="79" d="100"/>
        </p:scale>
        <p:origin x="237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5018D890-AAFD-472E-9302-54A99927D2F2}">
      <dgm:prSet phldrT="[Text]" custT="1"/>
      <dgm:spPr/>
      <dgm:t>
        <a:bodyPr/>
        <a:lstStyle/>
        <a:p>
          <a:r>
            <a:rPr lang="en-US" sz="1100" dirty="0"/>
            <a:t>Game Engine </a:t>
          </a:r>
          <a:r>
            <a:rPr lang="en-US" sz="1100"/>
            <a:t>Development </a:t>
          </a:r>
          <a:endParaRPr lang="en-US" sz="1100" dirty="0"/>
        </a:p>
      </dgm:t>
    </dgm:pt>
    <dgm:pt modelId="{C68B5517-D6E9-4E6C-9F66-1ECAE0112F55}" type="parTrans" cxnId="{E791144E-EF76-402C-9A5E-4A713FB35D0B}">
      <dgm:prSet/>
      <dgm:spPr/>
      <dgm:t>
        <a:bodyPr/>
        <a:lstStyle/>
        <a:p>
          <a:endParaRPr lang="en-US"/>
        </a:p>
      </dgm:t>
    </dgm:pt>
    <dgm:pt modelId="{75B7678E-C7D0-4C36-8814-68FB15AA7C15}" type="sibTrans" cxnId="{E791144E-EF76-402C-9A5E-4A713FB35D0B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6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5"/>
      <dgm:spPr/>
    </dgm:pt>
    <dgm:pt modelId="{A0AB54E4-A336-4934-AACD-A2A8D60C157A}" type="pres">
      <dgm:prSet presAssocID="{20A36317-A207-4A58-B8F2-9C7A040AEAC2}" presName="connectorText" presStyleLbl="sibTrans2D1" presStyleIdx="0" presStyleCnt="5"/>
      <dgm:spPr/>
    </dgm:pt>
    <dgm:pt modelId="{77A6D4E2-F93D-46CA-AC6C-C7A1C1E347E3}" type="pres">
      <dgm:prSet presAssocID="{629C9996-1516-4DD1-93F0-210EC0081A28}" presName="node" presStyleLbl="node1" presStyleIdx="1" presStyleCnt="6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5"/>
      <dgm:spPr/>
    </dgm:pt>
    <dgm:pt modelId="{AE995AEC-51BE-4AE1-9901-273464BC5FD7}" type="pres">
      <dgm:prSet presAssocID="{BC85CDFF-CF68-43B6-9065-A20E84409B67}" presName="connectorText" presStyleLbl="sibTrans2D1" presStyleIdx="1" presStyleCnt="5"/>
      <dgm:spPr/>
    </dgm:pt>
    <dgm:pt modelId="{48713530-359F-4B24-AD8E-90F5CA1E5B8A}" type="pres">
      <dgm:prSet presAssocID="{7F4B5FFF-9ED3-467E-9F08-56224C0F0A7F}" presName="node" presStyleLbl="node1" presStyleIdx="2" presStyleCnt="6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5"/>
      <dgm:spPr/>
    </dgm:pt>
    <dgm:pt modelId="{C2749609-6B32-41C5-9D20-70B086BA6C75}" type="pres">
      <dgm:prSet presAssocID="{7CE53D13-2F1E-4334-8FCF-7819053F807A}" presName="connectorText" presStyleLbl="sibTrans2D1" presStyleIdx="2" presStyleCnt="5"/>
      <dgm:spPr/>
    </dgm:pt>
    <dgm:pt modelId="{D6E9322D-7193-4E11-99DF-55341D827C99}" type="pres">
      <dgm:prSet presAssocID="{D4F4622E-522E-42E2-9325-882BA587A43A}" presName="node" presStyleLbl="node1" presStyleIdx="3" presStyleCnt="6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5"/>
      <dgm:spPr/>
    </dgm:pt>
    <dgm:pt modelId="{729AA94F-516C-49C1-B401-25B4BBC4C87C}" type="pres">
      <dgm:prSet presAssocID="{F2442B81-00C0-4435-B316-F3582779B651}" presName="connectorText" presStyleLbl="sibTrans2D1" presStyleIdx="3" presStyleCnt="5"/>
      <dgm:spPr/>
    </dgm:pt>
    <dgm:pt modelId="{A9D034FE-9DDE-4F35-892B-9063091DF9E6}" type="pres">
      <dgm:prSet presAssocID="{5018D890-AAFD-472E-9302-54A99927D2F2}" presName="node" presStyleLbl="node1" presStyleIdx="4" presStyleCnt="6">
        <dgm:presLayoutVars>
          <dgm:bulletEnabled val="1"/>
        </dgm:presLayoutVars>
      </dgm:prSet>
      <dgm:spPr/>
    </dgm:pt>
    <dgm:pt modelId="{F709AAD4-A9EB-4186-88EA-9D3D10BAD85F}" type="pres">
      <dgm:prSet presAssocID="{75B7678E-C7D0-4C36-8814-68FB15AA7C15}" presName="sibTrans" presStyleLbl="sibTrans2D1" presStyleIdx="4" presStyleCnt="5"/>
      <dgm:spPr/>
    </dgm:pt>
    <dgm:pt modelId="{10CC3819-6135-4BBA-A380-2EF33B1D6B2E}" type="pres">
      <dgm:prSet presAssocID="{75B7678E-C7D0-4C36-8814-68FB15AA7C15}" presName="connectorText" presStyleLbl="sibTrans2D1" presStyleIdx="4" presStyleCnt="5"/>
      <dgm:spPr/>
    </dgm:pt>
    <dgm:pt modelId="{B00F87D7-9E7F-4BAE-B409-6C0C48291B75}" type="pres">
      <dgm:prSet presAssocID="{028A8B19-4191-4E76-9454-D83DBC41B6F4}" presName="node" presStyleLbl="node1" presStyleIdx="5" presStyleCnt="6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97A4D207-126B-4A30-9CDC-D8A900EDB80B}" type="presOf" srcId="{75B7678E-C7D0-4C36-8814-68FB15AA7C15}" destId="{10CC3819-6135-4BBA-A380-2EF33B1D6B2E}" srcOrd="1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E791144E-EF76-402C-9A5E-4A713FB35D0B}" srcId="{D1E6C2A8-2747-4294-A578-3E60BC72699C}" destId="{5018D890-AAFD-472E-9302-54A99927D2F2}" srcOrd="4" destOrd="0" parTransId="{C68B5517-D6E9-4E6C-9F66-1ECAE0112F55}" sibTransId="{75B7678E-C7D0-4C36-8814-68FB15AA7C15}"/>
    <dgm:cxn modelId="{6D144672-D7C8-4E24-B5A9-313829689552}" type="presOf" srcId="{5018D890-AAFD-472E-9302-54A99927D2F2}" destId="{A9D034FE-9DDE-4F35-892B-9063091DF9E6}" srcOrd="0" destOrd="0" presId="urn:microsoft.com/office/officeart/2005/8/layout/process1"/>
    <dgm:cxn modelId="{D1417059-D349-4183-BAB9-137E81344DF4}" type="presOf" srcId="{75B7678E-C7D0-4C36-8814-68FB15AA7C15}" destId="{F709AAD4-A9EB-4186-88EA-9D3D10BAD85F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5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5193AEB9-F065-42FB-BBE6-8EFDEC981F9C}" type="presParOf" srcId="{EE241DB9-664A-4755-BD9A-A47EB96DD90E}" destId="{A9D034FE-9DDE-4F35-892B-9063091DF9E6}" srcOrd="8" destOrd="0" presId="urn:microsoft.com/office/officeart/2005/8/layout/process1"/>
    <dgm:cxn modelId="{9AD46F83-4762-4EB4-ADFF-C268AFF97BEB}" type="presParOf" srcId="{EE241DB9-664A-4755-BD9A-A47EB96DD90E}" destId="{F709AAD4-A9EB-4186-88EA-9D3D10BAD85F}" srcOrd="9" destOrd="0" presId="urn:microsoft.com/office/officeart/2005/8/layout/process1"/>
    <dgm:cxn modelId="{A5E85BCC-7085-4DC7-8007-BDC467554287}" type="presParOf" srcId="{F709AAD4-A9EB-4186-88EA-9D3D10BAD85F}" destId="{10CC3819-6135-4BBA-A380-2EF33B1D6B2E}" srcOrd="0" destOrd="0" presId="urn:microsoft.com/office/officeart/2005/8/layout/process1"/>
    <dgm:cxn modelId="{796D8A67-91D2-4146-A37D-03BDF60D13D3}" type="presParOf" srcId="{EE241DB9-664A-4755-BD9A-A47EB96DD90E}" destId="{B00F87D7-9E7F-4BAE-B409-6C0C48291B7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0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21457" y="1266238"/>
        <a:ext cx="1178100" cy="689694"/>
      </dsp:txXfrm>
    </dsp:sp>
    <dsp:sp modelId="{10F89025-5263-4F54-A62C-3353C3189BAB}">
      <dsp:nvSpPr>
        <dsp:cNvPr id="0" name=""/>
        <dsp:cNvSpPr/>
      </dsp:nvSpPr>
      <dsp:spPr>
        <a:xfrm>
          <a:off x="134311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43115" y="1520241"/>
        <a:ext cx="181199" cy="181687"/>
      </dsp:txXfrm>
    </dsp:sp>
    <dsp:sp modelId="{77A6D4E2-F93D-46CA-AC6C-C7A1C1E347E3}">
      <dsp:nvSpPr>
        <dsp:cNvPr id="0" name=""/>
        <dsp:cNvSpPr/>
      </dsp:nvSpPr>
      <dsp:spPr>
        <a:xfrm>
          <a:off x="170941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1730876" y="1266238"/>
        <a:ext cx="1178100" cy="689694"/>
      </dsp:txXfrm>
    </dsp:sp>
    <dsp:sp modelId="{F5F18F9E-6630-4259-9DFB-993D7969FA98}">
      <dsp:nvSpPr>
        <dsp:cNvPr id="0" name=""/>
        <dsp:cNvSpPr/>
      </dsp:nvSpPr>
      <dsp:spPr>
        <a:xfrm>
          <a:off x="305253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535" y="1520241"/>
        <a:ext cx="181199" cy="181687"/>
      </dsp:txXfrm>
    </dsp:sp>
    <dsp:sp modelId="{48713530-359F-4B24-AD8E-90F5CA1E5B8A}">
      <dsp:nvSpPr>
        <dsp:cNvPr id="0" name=""/>
        <dsp:cNvSpPr/>
      </dsp:nvSpPr>
      <dsp:spPr>
        <a:xfrm>
          <a:off x="341883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3440296" y="1266238"/>
        <a:ext cx="1178100" cy="689694"/>
      </dsp:txXfrm>
    </dsp:sp>
    <dsp:sp modelId="{00191EE8-DED7-4FD3-90EA-E6EDEBC6E0E2}">
      <dsp:nvSpPr>
        <dsp:cNvPr id="0" name=""/>
        <dsp:cNvSpPr/>
      </dsp:nvSpPr>
      <dsp:spPr>
        <a:xfrm>
          <a:off x="476195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761955" y="1520241"/>
        <a:ext cx="181199" cy="181687"/>
      </dsp:txXfrm>
    </dsp:sp>
    <dsp:sp modelId="{D6E9322D-7193-4E11-99DF-55341D827C99}">
      <dsp:nvSpPr>
        <dsp:cNvPr id="0" name=""/>
        <dsp:cNvSpPr/>
      </dsp:nvSpPr>
      <dsp:spPr>
        <a:xfrm>
          <a:off x="512825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5149716" y="1266238"/>
        <a:ext cx="1178100" cy="689694"/>
      </dsp:txXfrm>
    </dsp:sp>
    <dsp:sp modelId="{20F28471-F34B-4756-9517-8F3AE9BAB6F8}">
      <dsp:nvSpPr>
        <dsp:cNvPr id="0" name=""/>
        <dsp:cNvSpPr/>
      </dsp:nvSpPr>
      <dsp:spPr>
        <a:xfrm>
          <a:off x="647137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71375" y="1520241"/>
        <a:ext cx="181199" cy="181687"/>
      </dsp:txXfrm>
    </dsp:sp>
    <dsp:sp modelId="{A9D034FE-9DDE-4F35-892B-9063091DF9E6}">
      <dsp:nvSpPr>
        <dsp:cNvPr id="0" name=""/>
        <dsp:cNvSpPr/>
      </dsp:nvSpPr>
      <dsp:spPr>
        <a:xfrm>
          <a:off x="683767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Game Engine </a:t>
          </a:r>
          <a:r>
            <a:rPr lang="en-US" sz="1100" kern="1200"/>
            <a:t>Development </a:t>
          </a:r>
          <a:endParaRPr lang="en-US" sz="1100" kern="1200" dirty="0"/>
        </a:p>
      </dsp:txBody>
      <dsp:txXfrm>
        <a:off x="6859136" y="1266238"/>
        <a:ext cx="1178100" cy="689694"/>
      </dsp:txXfrm>
    </dsp:sp>
    <dsp:sp modelId="{F709AAD4-A9EB-4186-88EA-9D3D10BAD85F}">
      <dsp:nvSpPr>
        <dsp:cNvPr id="0" name=""/>
        <dsp:cNvSpPr/>
      </dsp:nvSpPr>
      <dsp:spPr>
        <a:xfrm>
          <a:off x="818079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80795" y="1520241"/>
        <a:ext cx="181199" cy="181687"/>
      </dsp:txXfrm>
    </dsp:sp>
    <dsp:sp modelId="{B00F87D7-9E7F-4BAE-B409-6C0C48291B75}">
      <dsp:nvSpPr>
        <dsp:cNvPr id="0" name=""/>
        <dsp:cNvSpPr/>
      </dsp:nvSpPr>
      <dsp:spPr>
        <a:xfrm>
          <a:off x="854709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8568556" y="1266238"/>
        <a:ext cx="1178100" cy="689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A14B-7D29-4273-9A4B-3D987F69C975}" type="datetime1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DBC6-8DD5-4638-B8BC-C63A633FE3E1}" type="datetime1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5707A-BAD7-4B16-889B-31FF47A88D51}" type="datetime1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B99-49E1-4789-B9E2-498AF910EA8D}" type="datetime1">
              <a:rPr lang="en-US" smtClean="0"/>
              <a:t>5/8/2019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CDBB-D8F7-4CE0-87E5-7722E9C2C070}" type="datetime1">
              <a:rPr lang="en-US" smtClean="0"/>
              <a:t>5/8/2019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78107-59B5-4925-A842-07FDFD58D56A}" type="datetime1">
              <a:rPr lang="en-US" smtClean="0"/>
              <a:t>5/8/2019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2D56-548C-48E3-A944-2D3414120EEB}" type="datetime1">
              <a:rPr lang="en-US" smtClean="0"/>
              <a:t>5/8/2019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FD48-0BC6-4EEB-A3C1-13290987431E}" type="datetime1">
              <a:rPr lang="en-US" smtClean="0"/>
              <a:t>5/8/2019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58C4-80B7-4F9D-9D35-88222D1720C3}" type="datetime1">
              <a:rPr lang="en-US" smtClean="0"/>
              <a:t>5/8/2019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0C0-70BA-434F-A8BB-A0AC09ABAD10}" type="datetime1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79E02-A66A-4CA8-B35F-45ED22EF8E6D}" type="datetime1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241F-E6EA-42C7-8935-3930FA83E734}" type="datetime1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9908637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 – 3D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40075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5175185"/>
              </p:ext>
            </p:extLst>
          </p:nvPr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88027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1397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Today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138120" y="2215011"/>
            <a:ext cx="828399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Big Viking Games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Maya shadows (quick demo)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Lecture: Shadow Maps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In-Class Exercise – Team Design Meeting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73188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038600" y="587721"/>
            <a:ext cx="27449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CG Shadows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91152" y="2154105"/>
            <a:ext cx="5704848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Shadows add more realism to a scene</a:t>
            </a:r>
            <a:endParaRPr lang="en-US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Provide a teams a space and relationship between objects (ex: object and ground plane)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They are NOT created automatically by the graphics pipeline.  You have to compute them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Technique we will discuss today to compute shadows: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Shadow Mapping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5FF4C-3CF4-45E9-B1C9-032B25FB1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301" y="1980104"/>
            <a:ext cx="4821065" cy="289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2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194877" y="563006"/>
            <a:ext cx="9556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Shadow Mapping: Basic Outline of Technique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348457" y="2154105"/>
            <a:ext cx="881546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Render a depth map from the light’s perspective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Transform points in camera view to light coordinates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Compare Z-depth of point against depth map to determine if point is in shadow.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Render Shadow: If point is in shadow, render it the shadow color (e: black) otherwise render it the normal color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49588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194877" y="563006"/>
            <a:ext cx="8021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Shadow Mapping: Render Depth 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24449" y="1801937"/>
            <a:ext cx="5303515" cy="8740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 render a </a:t>
            </a:r>
            <a:r>
              <a:rPr lang="en-US" dirty="0">
                <a:solidFill>
                  <a:srgbClr val="0070C0"/>
                </a:solidFill>
              </a:rPr>
              <a:t>Depth Map</a:t>
            </a:r>
            <a:r>
              <a:rPr lang="en-US" dirty="0">
                <a:solidFill>
                  <a:schemeClr val="bg1"/>
                </a:solidFill>
              </a:rPr>
              <a:t> from the light’s perspective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 other words, we render the scene through the eye of light.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rgbClr val="0070C0"/>
                </a:solidFill>
              </a:rPr>
              <a:t>Depth Map </a:t>
            </a:r>
            <a:r>
              <a:rPr lang="en-US" dirty="0">
                <a:solidFill>
                  <a:schemeClr val="bg1"/>
                </a:solidFill>
              </a:rPr>
              <a:t>is a two-dimensional image (texture) where each pixel in the image is a depth value equal to the distance between the light source and the object (the Z-depth).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 can use ray-intersection techniques (as previously discussed) to determine the point of intersection.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depth map is normally stored in memory but can be stored in a file as well.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 descr="A close up of a sign&#10;&#10;Description generated with high confidence">
            <a:extLst>
              <a:ext uri="{FF2B5EF4-FFF2-40B4-BE49-F238E27FC236}">
                <a16:creationId xmlns:a16="http://schemas.microsoft.com/office/drawing/2014/main" id="{702F240C-E57A-4F96-9B54-3DD3F66CE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641" y="2568895"/>
            <a:ext cx="6245665" cy="285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3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4635416" y="661861"/>
            <a:ext cx="25324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Depth 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995223" y="1912478"/>
            <a:ext cx="4855840" cy="800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Depth Map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If we display a depth map, you will get a grey-scale image.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Each pixel only contains the depth value  (no color)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further away from the source the object will appear darker.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closer objects appear lighter.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00"/>
                </a:solidFill>
              </a:rPr>
              <a:t>Occluded parts of object do not have  a depth value, only visible parts of the object have depth.</a:t>
            </a:r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F2444-252C-4EA3-8883-8A8ECF83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164" y="1744807"/>
            <a:ext cx="4491181" cy="336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5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194877" y="563006"/>
            <a:ext cx="104660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Shadow Mapping: Transform to Light Coordinates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24449" y="1801937"/>
            <a:ext cx="5303515" cy="104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that we have the depth map, time to figure out which points in my camera view are occluded by the shadow.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light is positioned/oriented in space and has it’s own matrix.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as in Camera Coordinates, we can have a coordinate system with the origin at the light from the light’s perspective.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called “Light Coordinates”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Looking through the camera (eye at right), we transform the point we are looking at to Light Coordinates.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done using a  matrix transformation.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We record the (x, y, z) value of the point.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The “z” </a:t>
            </a:r>
            <a:r>
              <a:rPr lang="en-US" dirty="0" err="1">
                <a:solidFill>
                  <a:prstClr val="black"/>
                </a:solidFill>
              </a:rPr>
              <a:t>coord</a:t>
            </a:r>
            <a:r>
              <a:rPr lang="en-US" dirty="0">
                <a:solidFill>
                  <a:prstClr val="black"/>
                </a:solidFill>
              </a:rPr>
              <a:t> is the depth value from the light.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R="0" lvl="1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2017 Kevin M. Smith</a:t>
            </a:r>
          </a:p>
        </p:txBody>
      </p:sp>
      <p:pic>
        <p:nvPicPr>
          <p:cNvPr id="4" name="Picture 3" descr="A close up of a sign&#10;&#10;Description generated with high confidence">
            <a:extLst>
              <a:ext uri="{FF2B5EF4-FFF2-40B4-BE49-F238E27FC236}">
                <a16:creationId xmlns:a16="http://schemas.microsoft.com/office/drawing/2014/main" id="{702F240C-E57A-4F96-9B54-3DD3F66CE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641" y="2568895"/>
            <a:ext cx="6245665" cy="285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0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194877" y="563006"/>
            <a:ext cx="91273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Shadow Mapping: Compare To Depth Map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24449" y="1801937"/>
            <a:ext cx="5303515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Now that we have the point P (x, y, z) in light coordinates and we know that “z” is the depth from the light: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We look up the “z” value in the Depth Map we computed in step (1) using (x, y) components of point P.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Now we compare the z-value in the Depth Map with the value of z in the Point P.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If the value in the depth is the SAME as the value of z in the point, then the point is the same point in the depth map and is NOT occluded.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If the value in the depth map is LESS than the value of z  in the point P, then the Point must be in the shadow of another object.</a:t>
            </a:r>
          </a:p>
          <a:p>
            <a:pPr marR="0" lvl="1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2017 Kevin M. Smith</a:t>
            </a:r>
          </a:p>
        </p:txBody>
      </p:sp>
      <p:pic>
        <p:nvPicPr>
          <p:cNvPr id="4" name="Picture 3" descr="A close up of a sign&#10;&#10;Description generated with high confidence">
            <a:extLst>
              <a:ext uri="{FF2B5EF4-FFF2-40B4-BE49-F238E27FC236}">
                <a16:creationId xmlns:a16="http://schemas.microsoft.com/office/drawing/2014/main" id="{702F240C-E57A-4F96-9B54-3DD3F66CE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691" y="2567547"/>
            <a:ext cx="6248615" cy="285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8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194877" y="563006"/>
            <a:ext cx="74444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Shadow Mapping: Render</a:t>
            </a:r>
            <a:r>
              <a:rPr kumimoji="0" lang="en-US" sz="4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Shadow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89813" y="1270892"/>
            <a:ext cx="5303515" cy="984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We sample points in the image to determine if they are in a shadow. (using previous steps)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If a point is in a shadow we can chose to render the point using a different pixel value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We could render it completely black, but a shadow color is usually a darkened version of the original color  (some combination of the original color of the material and the shadow color you want).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are different approached to shading/coloring the shadows once you know if the point is in a shadow.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Calibri" panose="020F0502020204030204"/>
              </a:rPr>
              <a:t>There are enhancements that can be made to make shadow mapping more realistic.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  <a:latin typeface="Calibri" panose="020F0502020204030204"/>
              </a:rPr>
              <a:t>Soft Shadows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Edge</a:t>
            </a:r>
            <a:r>
              <a:rPr kumimoji="0" lang="en-US" b="0" i="0" u="none" strike="noStrike" kern="120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of shadow is softened or blurred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2017 Kevin M. Smith</a:t>
            </a:r>
          </a:p>
        </p:txBody>
      </p:sp>
      <p:pic>
        <p:nvPicPr>
          <p:cNvPr id="4" name="Picture 3" descr="A close up of a sign&#10;&#10;Description generated with high confidence">
            <a:extLst>
              <a:ext uri="{FF2B5EF4-FFF2-40B4-BE49-F238E27FC236}">
                <a16:creationId xmlns:a16="http://schemas.microsoft.com/office/drawing/2014/main" id="{702F240C-E57A-4F96-9B54-3DD3F66CE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691" y="2567547"/>
            <a:ext cx="6248615" cy="285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5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7409</TotalTime>
  <Words>829</Words>
  <Application>Microsoft Office PowerPoint</Application>
  <PresentationFormat>Widescreen</PresentationFormat>
  <Paragraphs>172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CS 134 Computer Game Design – 3D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331</cp:revision>
  <dcterms:created xsi:type="dcterms:W3CDTF">2017-08-23T16:49:40Z</dcterms:created>
  <dcterms:modified xsi:type="dcterms:W3CDTF">2019-05-08T15:53:56Z</dcterms:modified>
</cp:coreProperties>
</file>