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6" r:id="rId2"/>
    <p:sldId id="273" r:id="rId3"/>
    <p:sldId id="275" r:id="rId4"/>
    <p:sldId id="274" r:id="rId5"/>
    <p:sldId id="447" r:id="rId6"/>
    <p:sldId id="44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448" r:id="rId17"/>
    <p:sldId id="449" r:id="rId18"/>
    <p:sldId id="45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60"/>
  </p:normalViewPr>
  <p:slideViewPr>
    <p:cSldViewPr snapToGrid="0">
      <p:cViewPr varScale="1">
        <p:scale>
          <a:sx n="83" d="100"/>
          <a:sy n="83" d="100"/>
        </p:scale>
        <p:origin x="18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48320-0368-4347-BD5D-9E7C47F9F65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6A2FE87-CA0F-4EB0-98BB-787D2001D6BD}" type="slidenum">
              <a:t>2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FA5C4-EF26-48FC-A07F-BF37937EFD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C989-7C79-4711-B0DA-5070D367DA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 sz="2810"/>
          </a:p>
        </p:txBody>
      </p:sp>
    </p:spTree>
    <p:extLst>
      <p:ext uri="{BB962C8B-B14F-4D97-AF65-F5344CB8AC3E}">
        <p14:creationId xmlns:p14="http://schemas.microsoft.com/office/powerpoint/2010/main" val="1288812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48320-0368-4347-BD5D-9E7C47F9F65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6A2FE87-CA0F-4EB0-98BB-787D2001D6BD}" type="slidenum">
              <a:t>3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FA5C4-EF26-48FC-A07F-BF37937EFD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C989-7C79-4711-B0DA-5070D367DA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 sz="2810"/>
          </a:p>
        </p:txBody>
      </p:sp>
    </p:spTree>
    <p:extLst>
      <p:ext uri="{BB962C8B-B14F-4D97-AF65-F5344CB8AC3E}">
        <p14:creationId xmlns:p14="http://schemas.microsoft.com/office/powerpoint/2010/main" val="2207265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48320-0368-4347-BD5D-9E7C47F9F65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6A2FE87-CA0F-4EB0-98BB-787D2001D6BD}" type="slidenum">
              <a:t>4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FA5C4-EF26-48FC-A07F-BF37937EFD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C989-7C79-4711-B0DA-5070D367DA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 sz="2810"/>
          </a:p>
        </p:txBody>
      </p:sp>
    </p:spTree>
    <p:extLst>
      <p:ext uri="{BB962C8B-B14F-4D97-AF65-F5344CB8AC3E}">
        <p14:creationId xmlns:p14="http://schemas.microsoft.com/office/powerpoint/2010/main" val="2725334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48320-0368-4347-BD5D-9E7C47F9F65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6A2FE87-CA0F-4EB0-98BB-787D2001D6BD}" type="slidenum">
              <a:t>5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FA5C4-EF26-48FC-A07F-BF37937EFD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C989-7C79-4711-B0DA-5070D367DA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 sz="2810"/>
          </a:p>
        </p:txBody>
      </p:sp>
    </p:spTree>
    <p:extLst>
      <p:ext uri="{BB962C8B-B14F-4D97-AF65-F5344CB8AC3E}">
        <p14:creationId xmlns:p14="http://schemas.microsoft.com/office/powerpoint/2010/main" val="390110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lm.g-truc.net/0.9.9/index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8962558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  <a:br>
              <a:rPr lang="en-US" sz="5400" dirty="0"/>
            </a:br>
            <a:r>
              <a:rPr lang="en-US" sz="3200" dirty="0"/>
              <a:t>Lecture 2 – Math Review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572-C0C6-43A6-8A6A-1637E5B4C6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Vector Mathematics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93709-1128-4A31-B6BB-6B77AD0075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58428" y="1378772"/>
            <a:ext cx="8229627" cy="4427879"/>
          </a:xfrm>
        </p:spPr>
        <p:txBody>
          <a:bodyPr>
            <a:spAutoFit/>
          </a:bodyPr>
          <a:lstStyle/>
          <a:p>
            <a:pPr marL="0" lvl="0" indent="0">
              <a:buNone/>
            </a:pPr>
            <a:endParaRPr lang="fi-FI" dirty="0"/>
          </a:p>
          <a:p>
            <a:pPr lvl="1"/>
            <a:r>
              <a:rPr lang="fi-FI" dirty="0"/>
              <a:t>A vector   V = (x, y, z) describes a </a:t>
            </a:r>
            <a:r>
              <a:rPr lang="fi-FI" b="1" dirty="0"/>
              <a:t>direction</a:t>
            </a:r>
            <a:r>
              <a:rPr lang="fi-FI" dirty="0"/>
              <a:t> in any number of dimensions.  </a:t>
            </a:r>
          </a:p>
          <a:p>
            <a:pPr lvl="1"/>
            <a:r>
              <a:rPr lang="fi-FI" dirty="0"/>
              <a:t>For this class we will use 2D  (x, y) and 3D (x, y, z) vectors.</a:t>
            </a:r>
          </a:p>
          <a:p>
            <a:pPr lvl="2"/>
            <a:r>
              <a:rPr lang="fi-FI" sz="1600" dirty="0"/>
              <a:t>Note: homogeneous coordinates require a 4th coordinate, but we will discuss later when we get to 3D.</a:t>
            </a:r>
          </a:p>
          <a:p>
            <a:pPr lvl="1"/>
            <a:r>
              <a:rPr lang="fi-FI" dirty="0"/>
              <a:t>A vector has NO position only direction</a:t>
            </a:r>
          </a:p>
          <a:p>
            <a:pPr lvl="1"/>
            <a:r>
              <a:rPr lang="fi-FI" dirty="0"/>
              <a:t>For storage purposes, a vector is the same as a point, but mathematically, they are completely different</a:t>
            </a:r>
          </a:p>
          <a:p>
            <a:pPr lvl="1"/>
            <a:endParaRPr lang="fi-FI" dirty="0"/>
          </a:p>
          <a:p>
            <a:pPr lvl="1"/>
            <a:endParaRPr lang="fi-FI" dirty="0"/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5367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572-C0C6-43A6-8A6A-1637E5B4C6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Vector Mathematics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93709-1128-4A31-B6BB-6B77AD0075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58428" y="1378772"/>
            <a:ext cx="8229627" cy="3771802"/>
          </a:xfrm>
        </p:spPr>
        <p:txBody>
          <a:bodyPr>
            <a:spAutoFit/>
          </a:bodyPr>
          <a:lstStyle/>
          <a:p>
            <a:pPr marL="0" lvl="0" indent="0">
              <a:buNone/>
            </a:pPr>
            <a:endParaRPr lang="fi-FI" dirty="0"/>
          </a:p>
          <a:p>
            <a:pPr lvl="1"/>
            <a:r>
              <a:rPr lang="fi-FI" dirty="0"/>
              <a:t>Some use-cases for vectors</a:t>
            </a:r>
          </a:p>
          <a:p>
            <a:pPr lvl="2"/>
            <a:r>
              <a:rPr lang="fi-FI" dirty="0"/>
              <a:t>direction of movement</a:t>
            </a:r>
          </a:p>
          <a:p>
            <a:pPr lvl="2"/>
            <a:r>
              <a:rPr lang="fi-FI" dirty="0"/>
              <a:t>velocity</a:t>
            </a:r>
          </a:p>
          <a:p>
            <a:pPr lvl="2"/>
            <a:r>
              <a:rPr lang="fi-FI" dirty="0"/>
              <a:t>fields</a:t>
            </a:r>
          </a:p>
          <a:p>
            <a:pPr lvl="2"/>
            <a:r>
              <a:rPr lang="fi-FI" dirty="0"/>
              <a:t>Ray casting, Ray tracing</a:t>
            </a:r>
          </a:p>
          <a:p>
            <a:pPr lvl="2"/>
            <a:r>
              <a:rPr lang="fi-FI" dirty="0"/>
              <a:t>Many more...</a:t>
            </a:r>
          </a:p>
          <a:p>
            <a:pPr lvl="1"/>
            <a:endParaRPr lang="fi-FI" dirty="0"/>
          </a:p>
          <a:p>
            <a:pPr lvl="1"/>
            <a:endParaRPr lang="fi-FI" dirty="0"/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5037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572-C0C6-43A6-8A6A-1637E5B4C6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Vector Mathematics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93709-1128-4A31-B6BB-6B77AD0075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58428" y="1378772"/>
            <a:ext cx="8229627" cy="3707682"/>
          </a:xfrm>
        </p:spPr>
        <p:txBody>
          <a:bodyPr>
            <a:spAutoFit/>
          </a:bodyPr>
          <a:lstStyle/>
          <a:p>
            <a:pPr marL="0" lvl="0" indent="0">
              <a:buNone/>
            </a:pPr>
            <a:endParaRPr lang="fi-FI" dirty="0"/>
          </a:p>
          <a:p>
            <a:pPr lvl="1"/>
            <a:r>
              <a:rPr lang="fi-FI" dirty="0"/>
              <a:t>Vector Addition/Subtraction   (whiteboard demo)</a:t>
            </a:r>
          </a:p>
          <a:p>
            <a:pPr lvl="1"/>
            <a:r>
              <a:rPr lang="fi-FI" dirty="0"/>
              <a:t>Magnitude (length)</a:t>
            </a:r>
          </a:p>
          <a:p>
            <a:pPr lvl="2"/>
            <a:r>
              <a:rPr lang="fi-FI" dirty="0"/>
              <a:t>V = (x, y, z)</a:t>
            </a:r>
          </a:p>
          <a:p>
            <a:pPr lvl="2"/>
            <a:r>
              <a:rPr lang="fi-FI" dirty="0"/>
              <a:t>|v|  = sqrt ( x^2 + y^2 + z^2 )    (pathagorean theorem)</a:t>
            </a:r>
          </a:p>
          <a:p>
            <a:pPr lvl="1"/>
            <a:r>
              <a:rPr lang="fi-FI" dirty="0"/>
              <a:t>Dot product (Angle between vectors)</a:t>
            </a:r>
          </a:p>
          <a:p>
            <a:pPr lvl="2"/>
            <a:r>
              <a:rPr lang="fi-FI" dirty="0"/>
              <a:t>A . B = |A||B|cos w;     ( cos angle  between A and B)</a:t>
            </a:r>
          </a:p>
          <a:p>
            <a:pPr lvl="1"/>
            <a:r>
              <a:rPr lang="fi-FI" dirty="0"/>
              <a:t>Cross Product</a:t>
            </a:r>
          </a:p>
          <a:p>
            <a:pPr lvl="2"/>
            <a:r>
              <a:rPr lang="fi-FI" dirty="0"/>
              <a:t>A x B   = n |A||B|sin w  (sin angle between A and B, n= the Normal)</a:t>
            </a:r>
          </a:p>
        </p:txBody>
      </p:sp>
    </p:spTree>
    <p:extLst>
      <p:ext uri="{BB962C8B-B14F-4D97-AF65-F5344CB8AC3E}">
        <p14:creationId xmlns:p14="http://schemas.microsoft.com/office/powerpoint/2010/main" val="20972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572-C0C6-43A6-8A6A-1637E5B4C6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Vector Mathematics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93709-1128-4A31-B6BB-6B77AD0075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34597" y="1756277"/>
            <a:ext cx="8229627" cy="2002087"/>
          </a:xfrm>
        </p:spPr>
        <p:txBody>
          <a:bodyPr>
            <a:spAutoFit/>
          </a:bodyPr>
          <a:lstStyle/>
          <a:p>
            <a:pPr marL="0" lvl="0" indent="0">
              <a:buNone/>
            </a:pPr>
            <a:endParaRPr lang="fi-FI" dirty="0"/>
          </a:p>
          <a:p>
            <a:pPr lvl="1"/>
            <a:r>
              <a:rPr lang="fi-FI" dirty="0"/>
              <a:t>A Ray has both position and direction. </a:t>
            </a:r>
          </a:p>
          <a:p>
            <a:pPr lvl="1"/>
            <a:r>
              <a:rPr lang="fi-FI" dirty="0"/>
              <a:t>To store a Ray, we need two quantities, a point and a direction vector:</a:t>
            </a:r>
          </a:p>
          <a:p>
            <a:pPr lvl="2"/>
            <a:r>
              <a:rPr lang="fi-FI" sz="2400" dirty="0"/>
              <a:t>Ray r =  ray( Point p ,  Vector d );</a:t>
            </a:r>
          </a:p>
        </p:txBody>
      </p:sp>
    </p:spTree>
    <p:extLst>
      <p:ext uri="{BB962C8B-B14F-4D97-AF65-F5344CB8AC3E}">
        <p14:creationId xmlns:p14="http://schemas.microsoft.com/office/powerpoint/2010/main" val="278404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948512" y="380150"/>
            <a:ext cx="5416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Parametric Form of a 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990165" y="2232471"/>
            <a:ext cx="881546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A7F1B-10A8-41A2-8248-AB52CA602824}"/>
              </a:ext>
            </a:extLst>
          </p:cNvPr>
          <p:cNvSpPr txBox="1"/>
          <p:nvPr/>
        </p:nvSpPr>
        <p:spPr>
          <a:xfrm>
            <a:off x="1386371" y="851156"/>
            <a:ext cx="9805443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 is useful to compute a ray in </a:t>
            </a:r>
            <a:r>
              <a:rPr lang="en-US" sz="2400" i="1" dirty="0" err="1"/>
              <a:t>parameteric</a:t>
            </a:r>
            <a:r>
              <a:rPr lang="en-US" sz="2400" dirty="0"/>
              <a:t> form so we can compute points along the ray or perform intersections with the ray on other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Since we </a:t>
            </a:r>
            <a:r>
              <a:rPr lang="en-US" sz="2400" dirty="0" err="1"/>
              <a:t>we</a:t>
            </a:r>
            <a:r>
              <a:rPr lang="en-US" sz="2400" dirty="0"/>
              <a:t> need a point and a </a:t>
            </a:r>
            <a:r>
              <a:rPr lang="en-US" sz="2400" i="1" dirty="0"/>
              <a:t>direction</a:t>
            </a:r>
            <a:r>
              <a:rPr lang="en-US" sz="2400" dirty="0"/>
              <a:t> </a:t>
            </a:r>
            <a:r>
              <a:rPr lang="en-US" sz="2400" b="1" dirty="0"/>
              <a:t>vector</a:t>
            </a:r>
            <a:r>
              <a:rPr lang="en-U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r>
              <a:rPr lang="en-US" sz="2400" dirty="0"/>
              <a:t>	r(</a:t>
            </a:r>
            <a:r>
              <a:rPr lang="en-US" sz="2400" i="1" dirty="0"/>
              <a:t>t</a:t>
            </a:r>
            <a:r>
              <a:rPr lang="en-US" sz="2400" dirty="0"/>
              <a:t>) = </a:t>
            </a:r>
            <a:r>
              <a:rPr lang="en-US" sz="2400" i="1" dirty="0"/>
              <a:t>o</a:t>
            </a:r>
            <a:r>
              <a:rPr lang="en-US" sz="2400" dirty="0"/>
              <a:t> + </a:t>
            </a:r>
            <a:r>
              <a:rPr lang="en-US" sz="2400" i="1" dirty="0"/>
              <a:t>t</a:t>
            </a:r>
            <a:r>
              <a:rPr lang="en-US" sz="2400" b="1" dirty="0"/>
              <a:t>d</a:t>
            </a:r>
          </a:p>
          <a:p>
            <a:pPr lvl="1"/>
            <a:endParaRPr lang="en-US" sz="2400" b="1" dirty="0"/>
          </a:p>
          <a:p>
            <a:pPr lvl="2"/>
            <a:r>
              <a:rPr lang="en-US" sz="2400" dirty="0"/>
              <a:t>o   is the origin of the ray</a:t>
            </a:r>
          </a:p>
          <a:p>
            <a:pPr lvl="2"/>
            <a:r>
              <a:rPr lang="en-US" sz="2400" b="1" dirty="0"/>
              <a:t>d</a:t>
            </a:r>
            <a:r>
              <a:rPr lang="en-US" sz="2400" dirty="0"/>
              <a:t>   is the direction vector of the ray</a:t>
            </a:r>
          </a:p>
          <a:p>
            <a:pPr lvl="2"/>
            <a:r>
              <a:rPr lang="en-US" sz="2400" dirty="0"/>
              <a:t>t = a parameter;  a real value in (0, infinity)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r>
              <a:rPr lang="en-US" sz="2400" dirty="0"/>
              <a:t>In this parametric form, we define any point along the ray r(t) based on t in the interval (0, infinity)</a:t>
            </a:r>
          </a:p>
          <a:p>
            <a:pPr lvl="2"/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 lvl="2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595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05704" y="738239"/>
            <a:ext cx="78093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Direct Manipulation – Translation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D55584-567E-4A04-BC13-3013F3D55390}"/>
              </a:ext>
            </a:extLst>
          </p:cNvPr>
          <p:cNvSpPr/>
          <p:nvPr/>
        </p:nvSpPr>
        <p:spPr>
          <a:xfrm>
            <a:off x="1972079" y="3212334"/>
            <a:ext cx="9144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4EB205-2533-4076-A892-644E981B238E}"/>
              </a:ext>
            </a:extLst>
          </p:cNvPr>
          <p:cNvSpPr/>
          <p:nvPr/>
        </p:nvSpPr>
        <p:spPr>
          <a:xfrm>
            <a:off x="3794944" y="2247741"/>
            <a:ext cx="9144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736007-7A12-4B00-A0CE-2AF79CC849D6}"/>
              </a:ext>
            </a:extLst>
          </p:cNvPr>
          <p:cNvSpPr txBox="1"/>
          <p:nvPr/>
        </p:nvSpPr>
        <p:spPr>
          <a:xfrm>
            <a:off x="1241819" y="4982184"/>
            <a:ext cx="7305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Ex:  Translate or Move A from position  (0,0) to (2,1)  -&gt;  ( 0+2, 0+1) = (2,  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8630D-329F-436D-8A0F-67ECB5562273}"/>
              </a:ext>
            </a:extLst>
          </p:cNvPr>
          <p:cNvSpPr txBox="1"/>
          <p:nvPr/>
        </p:nvSpPr>
        <p:spPr>
          <a:xfrm>
            <a:off x="1456432" y="412673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21CB50-C97A-4796-9215-E5206532F732}"/>
              </a:ext>
            </a:extLst>
          </p:cNvPr>
          <p:cNvSpPr txBox="1"/>
          <p:nvPr/>
        </p:nvSpPr>
        <p:spPr>
          <a:xfrm>
            <a:off x="3736154" y="320568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(2,1)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1DBE5FA-C69D-4AA7-97C7-BF5AC8CC1795}"/>
              </a:ext>
            </a:extLst>
          </p:cNvPr>
          <p:cNvCxnSpPr>
            <a:cxnSpLocks/>
          </p:cNvCxnSpPr>
          <p:nvPr/>
        </p:nvCxnSpPr>
        <p:spPr>
          <a:xfrm flipV="1">
            <a:off x="3197290" y="2903056"/>
            <a:ext cx="429208" cy="309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284B2B-3B44-47ED-9885-AE13EA4A5315}"/>
                  </a:ext>
                </a:extLst>
              </p:cNvPr>
              <p:cNvSpPr/>
              <p:nvPr/>
            </p:nvSpPr>
            <p:spPr>
              <a:xfrm>
                <a:off x="6655837" y="2651819"/>
                <a:ext cx="6096000" cy="101771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Translate(a, b) :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mr>
                    </m:m>
                  </m:oMath>
                </a14:m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→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mr>
                    </m:m>
                  </m:oMath>
                </a14:m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284B2B-3B44-47ED-9885-AE13EA4A53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837" y="2651819"/>
                <a:ext cx="6096000" cy="1017715"/>
              </a:xfrm>
              <a:prstGeom prst="rect">
                <a:avLst/>
              </a:prstGeom>
              <a:blipFill>
                <a:blip r:embed="rId3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404F2-5DA7-4876-B749-06F391E0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63981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128420" y="300087"/>
            <a:ext cx="5851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 Matrix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284B2B-3B44-47ED-9885-AE13EA4A5315}"/>
                  </a:ext>
                </a:extLst>
              </p:cNvPr>
              <p:cNvSpPr/>
              <p:nvPr/>
            </p:nvSpPr>
            <p:spPr>
              <a:xfrm>
                <a:off x="4055706" y="1753051"/>
                <a:ext cx="6096000" cy="101771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Translate(a, b) :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mr>
                    </m:m>
                  </m:oMath>
                </a14:m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→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mr>
                    </m:m>
                  </m:oMath>
                </a14:m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284B2B-3B44-47ED-9885-AE13EA4A53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706" y="1753051"/>
                <a:ext cx="6096000" cy="1017715"/>
              </a:xfrm>
              <a:prstGeom prst="rect">
                <a:avLst/>
              </a:prstGeom>
              <a:blipFill>
                <a:blip r:embed="rId3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A5AAE75-1EB6-4F25-BC3B-53B0C551B255}"/>
              </a:ext>
            </a:extLst>
          </p:cNvPr>
          <p:cNvSpPr txBox="1"/>
          <p:nvPr/>
        </p:nvSpPr>
        <p:spPr>
          <a:xfrm>
            <a:off x="2096317" y="1500248"/>
            <a:ext cx="7166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Translation, we just use simple vector addition to determine new point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D993B-5C42-48FD-8D8A-A27A09E5F6EC}"/>
              </a:ext>
            </a:extLst>
          </p:cNvPr>
          <p:cNvSpPr txBox="1"/>
          <p:nvPr/>
        </p:nvSpPr>
        <p:spPr>
          <a:xfrm>
            <a:off x="2849503" y="3264882"/>
            <a:ext cx="566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Scaling and Rotation, we will use matrix multiplication: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36A296-C9D8-47E7-866F-0BA67AB52FCB}"/>
                  </a:ext>
                </a:extLst>
              </p:cNvPr>
              <p:cNvSpPr/>
              <p:nvPr/>
            </p:nvSpPr>
            <p:spPr>
              <a:xfrm>
                <a:off x="2525764" y="3972655"/>
                <a:ext cx="6096000" cy="176163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mr>
                      </m:m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𝑏𝑦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𝑑𝑦</m:t>
                            </m:r>
                          </m:e>
                        </m:mr>
                      </m:m>
                    </m:oMath>
                  </m:oMathPara>
                </a14:m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36A296-C9D8-47E7-866F-0BA67AB52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764" y="3972655"/>
                <a:ext cx="6096000" cy="1761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6C332B3-D23B-4353-90F9-D433F65089E2}"/>
              </a:ext>
            </a:extLst>
          </p:cNvPr>
          <p:cNvSpPr txBox="1"/>
          <p:nvPr/>
        </p:nvSpPr>
        <p:spPr>
          <a:xfrm>
            <a:off x="1992932" y="4836103"/>
            <a:ext cx="1820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Transformation Matrix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F35A1C-614A-4E9E-B0DA-24B64B2A0A5E}"/>
              </a:ext>
            </a:extLst>
          </p:cNvPr>
          <p:cNvCxnSpPr>
            <a:cxnSpLocks/>
          </p:cNvCxnSpPr>
          <p:nvPr/>
        </p:nvCxnSpPr>
        <p:spPr>
          <a:xfrm>
            <a:off x="3813110" y="5038139"/>
            <a:ext cx="709127" cy="22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2BCEA9-6A8C-4BFB-897F-61063E8D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82215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F20BCC41-238D-4D73-931F-0F06F2DC8FC2}"/>
              </a:ext>
            </a:extLst>
          </p:cNvPr>
          <p:cNvSpPr/>
          <p:nvPr/>
        </p:nvSpPr>
        <p:spPr>
          <a:xfrm>
            <a:off x="6282592" y="2324683"/>
            <a:ext cx="1841128" cy="19049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361436" y="557377"/>
            <a:ext cx="6959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Direct Manipulation – Scaling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7816686-B113-4071-BCD2-A5A6F2BD2DA9}"/>
              </a:ext>
            </a:extLst>
          </p:cNvPr>
          <p:cNvSpPr/>
          <p:nvPr/>
        </p:nvSpPr>
        <p:spPr>
          <a:xfrm>
            <a:off x="5430876" y="3034832"/>
            <a:ext cx="574003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A5E446-A23F-431B-947F-0A958141A2B8}"/>
              </a:ext>
            </a:extLst>
          </p:cNvPr>
          <p:cNvSpPr/>
          <p:nvPr/>
        </p:nvSpPr>
        <p:spPr>
          <a:xfrm>
            <a:off x="3003704" y="2217730"/>
            <a:ext cx="2118841" cy="2118841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4AEB59-D8A2-421F-BBB8-F27B8CDBF917}"/>
              </a:ext>
            </a:extLst>
          </p:cNvPr>
          <p:cNvSpPr/>
          <p:nvPr/>
        </p:nvSpPr>
        <p:spPr>
          <a:xfrm>
            <a:off x="3552528" y="2766554"/>
            <a:ext cx="1021191" cy="102119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2FC560-302C-441C-A442-93D1F078814D}"/>
              </a:ext>
            </a:extLst>
          </p:cNvPr>
          <p:cNvCxnSpPr>
            <a:cxnSpLocks/>
            <a:stCxn id="3" idx="0"/>
            <a:endCxn id="18" idx="0"/>
          </p:cNvCxnSpPr>
          <p:nvPr/>
        </p:nvCxnSpPr>
        <p:spPr>
          <a:xfrm flipV="1">
            <a:off x="4063124" y="2217730"/>
            <a:ext cx="1" cy="548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B41D68-200D-44CD-A9FD-40EF1803FF68}"/>
              </a:ext>
            </a:extLst>
          </p:cNvPr>
          <p:cNvCxnSpPr>
            <a:cxnSpLocks/>
            <a:stCxn id="3" idx="6"/>
            <a:endCxn id="18" idx="6"/>
          </p:cNvCxnSpPr>
          <p:nvPr/>
        </p:nvCxnSpPr>
        <p:spPr>
          <a:xfrm>
            <a:off x="4573719" y="3277150"/>
            <a:ext cx="5488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31E8439-6AF7-4D87-8708-5E41464CE031}"/>
              </a:ext>
            </a:extLst>
          </p:cNvPr>
          <p:cNvSpPr/>
          <p:nvPr/>
        </p:nvSpPr>
        <p:spPr>
          <a:xfrm>
            <a:off x="6143736" y="2217730"/>
            <a:ext cx="2118841" cy="2118841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D9FDB-7DDB-4B75-9E28-0E757319D171}"/>
              </a:ext>
            </a:extLst>
          </p:cNvPr>
          <p:cNvSpPr txBox="1"/>
          <p:nvPr/>
        </p:nvSpPr>
        <p:spPr>
          <a:xfrm>
            <a:off x="3558431" y="5211325"/>
            <a:ext cx="456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C is scaled (left) to new diameter (right)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F96B29-0E3F-44A8-83C1-9B09280B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05361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361436" y="557377"/>
            <a:ext cx="6959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Direct Manipulation – 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A719338-5AA0-40D5-B922-0FA2FDE77A21}"/>
                  </a:ext>
                </a:extLst>
              </p:cNvPr>
              <p:cNvSpPr/>
              <p:nvPr/>
            </p:nvSpPr>
            <p:spPr>
              <a:xfrm>
                <a:off x="4279641" y="2761861"/>
                <a:ext cx="2855077" cy="6392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∗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mr>
                      </m:m>
                      <m:r>
                        <a:rPr lang="en-US" i="0">
                          <a:latin typeface="Cambria Math" panose="02040503050406030204" pitchFamily="18" charset="0"/>
                        </a:rPr>
                        <m:t> = 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A719338-5AA0-40D5-B922-0FA2FDE77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641" y="2761861"/>
                <a:ext cx="2855077" cy="639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D3B5C1C-05B3-4B34-9806-EE13BDDF59F0}"/>
              </a:ext>
            </a:extLst>
          </p:cNvPr>
          <p:cNvSpPr txBox="1"/>
          <p:nvPr/>
        </p:nvSpPr>
        <p:spPr>
          <a:xfrm>
            <a:off x="3159967" y="4049486"/>
            <a:ext cx="642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Scaling  is just a simply a multiply of scaling “factors” for each (x, 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B446B-64C5-432B-978C-8D3ACBD360A3}"/>
              </a:ext>
            </a:extLst>
          </p:cNvPr>
          <p:cNvSpPr txBox="1"/>
          <p:nvPr/>
        </p:nvSpPr>
        <p:spPr>
          <a:xfrm>
            <a:off x="3250163" y="4697833"/>
            <a:ext cx="459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What happens if the scaling factor is negative 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59237-B996-4C41-958D-64888D50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66508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676969" y="588949"/>
            <a:ext cx="72946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Direct Manipulation – Rotation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276219-B6DD-4F7D-8CD3-D08647FAA904}"/>
              </a:ext>
            </a:extLst>
          </p:cNvPr>
          <p:cNvGrpSpPr/>
          <p:nvPr/>
        </p:nvGrpSpPr>
        <p:grpSpPr>
          <a:xfrm>
            <a:off x="3748802" y="2565228"/>
            <a:ext cx="3826101" cy="1053643"/>
            <a:chOff x="3978957" y="2888689"/>
            <a:chExt cx="3826101" cy="1053643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9A25660D-1A37-4347-8F36-EB47192523F3}"/>
                </a:ext>
              </a:extLst>
            </p:cNvPr>
            <p:cNvSpPr/>
            <p:nvPr/>
          </p:nvSpPr>
          <p:spPr>
            <a:xfrm rot="2555238">
              <a:off x="6637029" y="2888689"/>
              <a:ext cx="1168029" cy="1006922"/>
            </a:xfrm>
            <a:prstGeom prst="triangl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63C73443-A054-44B9-A2A8-1F8DB4415F85}"/>
                </a:ext>
              </a:extLst>
            </p:cNvPr>
            <p:cNvSpPr/>
            <p:nvPr/>
          </p:nvSpPr>
          <p:spPr>
            <a:xfrm>
              <a:off x="3978957" y="2935410"/>
              <a:ext cx="1168029" cy="1006922"/>
            </a:xfrm>
            <a:prstGeom prst="triangl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37718A9A-6F4C-4CFC-9A3D-67F17CE6A9CF}"/>
                </a:ext>
              </a:extLst>
            </p:cNvPr>
            <p:cNvSpPr/>
            <p:nvPr/>
          </p:nvSpPr>
          <p:spPr>
            <a:xfrm>
              <a:off x="5564429" y="3321640"/>
              <a:ext cx="574003" cy="484632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09C2F4-0CB0-4A7F-B98F-6BA146BF71FF}"/>
              </a:ext>
            </a:extLst>
          </p:cNvPr>
          <p:cNvSpPr txBox="1"/>
          <p:nvPr/>
        </p:nvSpPr>
        <p:spPr>
          <a:xfrm>
            <a:off x="2671942" y="4564653"/>
            <a:ext cx="647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Rotation is a bit more complicated and involves some trigonometry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8F00D-438B-4F50-9DCD-2AFBF490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45708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664056" y="576038"/>
            <a:ext cx="6624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Transformations – 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D3FA869-3F07-49AC-8141-56E26AAEB0F9}"/>
                  </a:ext>
                </a:extLst>
              </p:cNvPr>
              <p:cNvSpPr/>
              <p:nvPr/>
            </p:nvSpPr>
            <p:spPr>
              <a:xfrm>
                <a:off x="3501839" y="2358343"/>
                <a:ext cx="5197064" cy="6472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d>
                            </m:e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i="0">
                        <a:latin typeface="Cambria Math" panose="02040503050406030204" pitchFamily="18" charset="0"/>
                      </a:rPr>
                      <m:t>∗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mr>
                    </m:m>
                    <m:r>
                      <a:rPr lang="en-US" i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nor/>
                      </m:rPr>
                      <a:rPr lang="en-US" dirty="0"/>
                      <m:t> 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mr>
                      <m:m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mr>
                    </m:m>
                  </m:oMath>
                </a14:m>
                <a:r>
                  <a:rPr lang="en-US" dirty="0"/>
                  <a:t> = 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mr>
                    </m:m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D3FA869-3F07-49AC-8141-56E26AAEB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839" y="2358343"/>
                <a:ext cx="5197064" cy="6472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F4C5821-A096-46D5-B90D-1AA9EF9972E1}"/>
              </a:ext>
            </a:extLst>
          </p:cNvPr>
          <p:cNvSpPr txBox="1"/>
          <p:nvPr/>
        </p:nvSpPr>
        <p:spPr>
          <a:xfrm>
            <a:off x="5741437" y="350209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Or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A7B6B-B9C3-47A4-9607-8EF303DABE7A}"/>
              </a:ext>
            </a:extLst>
          </p:cNvPr>
          <p:cNvSpPr/>
          <p:nvPr/>
        </p:nvSpPr>
        <p:spPr>
          <a:xfrm>
            <a:off x="2474940" y="4173528"/>
            <a:ext cx="7322204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Rotate(θ):   (x, y) → (x’, y’)  or  (x cos(θ) - y sin(θ),  x sin(θ) + y cos(θ)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692828-2C46-4A20-B2C4-DE33FD5D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56469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361436" y="557377"/>
            <a:ext cx="6624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Transformations –  Rotation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CBF188-AE8E-44F8-9104-F6C800B1C26D}"/>
              </a:ext>
            </a:extLst>
          </p:cNvPr>
          <p:cNvSpPr txBox="1"/>
          <p:nvPr/>
        </p:nvSpPr>
        <p:spPr>
          <a:xfrm>
            <a:off x="2438400" y="1965649"/>
            <a:ext cx="63399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How is the rotation matrix derived ?</a:t>
            </a:r>
          </a:p>
          <a:p>
            <a:endParaRPr lang="en-US" dirty="0"/>
          </a:p>
          <a:p>
            <a:r>
              <a:rPr lang="en-US" dirty="0"/>
              <a:t>Hint:  (1) Observe how a point rotates on a circle centered at (0,0)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         (2) Use the Law of Trigonometric Addition of Angles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42A514-DF87-43D7-8DC8-AB28781D5F5C}"/>
                  </a:ext>
                </a:extLst>
              </p:cNvPr>
              <p:cNvSpPr/>
              <p:nvPr/>
            </p:nvSpPr>
            <p:spPr>
              <a:xfrm>
                <a:off x="3147526" y="3699225"/>
                <a:ext cx="6096000" cy="8902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42A514-DF87-43D7-8DC8-AB28781D5F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26" y="3699225"/>
                <a:ext cx="6096000" cy="890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E97A963-D815-477A-B76C-1D8388F6A2A4}"/>
              </a:ext>
            </a:extLst>
          </p:cNvPr>
          <p:cNvSpPr txBox="1"/>
          <p:nvPr/>
        </p:nvSpPr>
        <p:spPr>
          <a:xfrm>
            <a:off x="2361436" y="5057192"/>
            <a:ext cx="286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en-US" dirty="0">
                <a:solidFill>
                  <a:schemeClr val="accent2"/>
                </a:solidFill>
              </a:rPr>
              <a:t>Will leave as an exercise 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C44A6-0123-4853-A689-D074048C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035523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361436" y="557377"/>
            <a:ext cx="7492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2D Transformations –  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48F26B-EA82-4757-B81D-6796491D7154}"/>
                  </a:ext>
                </a:extLst>
              </p:cNvPr>
              <p:cNvSpPr/>
              <p:nvPr/>
            </p:nvSpPr>
            <p:spPr>
              <a:xfrm>
                <a:off x="4584886" y="2305052"/>
                <a:ext cx="30529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48F26B-EA82-4757-B81D-6796491D7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886" y="2305052"/>
                <a:ext cx="305295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447EAC-8666-4724-A074-A6F8E2440965}"/>
              </a:ext>
            </a:extLst>
          </p:cNvPr>
          <p:cNvSpPr txBox="1"/>
          <p:nvPr/>
        </p:nvSpPr>
        <p:spPr>
          <a:xfrm>
            <a:off x="2361436" y="3714173"/>
            <a:ext cx="77884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 “compose” a sequence of transformations (translate, rotate, scale)</a:t>
            </a:r>
          </a:p>
          <a:p>
            <a:r>
              <a:rPr lang="en-US" dirty="0"/>
              <a:t>      by accumulating matrix multiplies in one matrix [T] 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resulting matrix [T] is then multiplied by P to get the transformed point P’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order of transformations [A], [B], [C] matters.  [B][A][C] can produce a </a:t>
            </a:r>
          </a:p>
          <a:p>
            <a:r>
              <a:rPr lang="en-US" dirty="0"/>
              <a:t>      different result than [A][B][C].  </a:t>
            </a:r>
          </a:p>
          <a:p>
            <a:r>
              <a:rPr lang="en-US" dirty="0"/>
              <a:t>                     </a:t>
            </a:r>
            <a:r>
              <a:rPr lang="en-US" dirty="0">
                <a:solidFill>
                  <a:schemeClr val="accent2"/>
                </a:solidFill>
              </a:rPr>
              <a:t>Example: [rotate][translate] vs [translate][rotate]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CC82F2-FAAC-453E-B76B-8649747F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862256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335652" y="635425"/>
            <a:ext cx="30987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Graphics API’s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47EAC-8666-4724-A074-A6F8E2440965}"/>
              </a:ext>
            </a:extLst>
          </p:cNvPr>
          <p:cNvSpPr txBox="1"/>
          <p:nvPr/>
        </p:nvSpPr>
        <p:spPr>
          <a:xfrm>
            <a:off x="1799204" y="2426549"/>
            <a:ext cx="92081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Graphics API’s like openFrameworks (and OpenGL) use transform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details of the matrix multiplication are done for you at a lower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still need to understand the concept of the “current transformation matrix”</a:t>
            </a:r>
          </a:p>
          <a:p>
            <a:r>
              <a:rPr lang="en-US" dirty="0"/>
              <a:t>      (CTM) and how matrix transformations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 a graphics API, the “CTM” is implemented a “stack”.  The CTM at the top of the stack is the</a:t>
            </a:r>
            <a:br>
              <a:rPr lang="en-US" dirty="0"/>
            </a:br>
            <a:r>
              <a:rPr lang="en-US" dirty="0"/>
              <a:t>current one that would be used for your graphics primitives.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primitives such as </a:t>
            </a:r>
            <a:r>
              <a:rPr lang="en-US" dirty="0" err="1"/>
              <a:t>PushMatrix</a:t>
            </a:r>
            <a:r>
              <a:rPr lang="en-US" dirty="0"/>
              <a:t>() and </a:t>
            </a:r>
            <a:r>
              <a:rPr lang="en-US" dirty="0" err="1"/>
              <a:t>PopMatrix</a:t>
            </a:r>
            <a:r>
              <a:rPr lang="en-US" dirty="0"/>
              <a:t>() that allow the programmer</a:t>
            </a:r>
          </a:p>
          <a:p>
            <a:r>
              <a:rPr lang="en-US" dirty="0"/>
              <a:t>      to save and/restore the state of the CTM.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see how this is used in Assignment 3.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794901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657041" y="761947"/>
            <a:ext cx="5872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GLM Graphics Math Library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47EAC-8666-4724-A074-A6F8E2440965}"/>
              </a:ext>
            </a:extLst>
          </p:cNvPr>
          <p:cNvSpPr txBox="1"/>
          <p:nvPr/>
        </p:nvSpPr>
        <p:spPr>
          <a:xfrm>
            <a:off x="1799204" y="2426549"/>
            <a:ext cx="905549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Will be using for this class:  </a:t>
            </a:r>
            <a:r>
              <a:rPr lang="en-US" sz="2000" dirty="0">
                <a:hlinkClick r:id="rId3"/>
              </a:rPr>
              <a:t>https://glm.g-truc.net/0.9.9/index.html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Built into OpenFrameworks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Encapsulates mathematical constructs like Vectors and Matrices into a class library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259198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638459" y="756195"/>
            <a:ext cx="9789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GLM Graphics Math Library – Vector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47EAC-8666-4724-A074-A6F8E2440965}"/>
              </a:ext>
            </a:extLst>
          </p:cNvPr>
          <p:cNvSpPr txBox="1"/>
          <p:nvPr/>
        </p:nvSpPr>
        <p:spPr>
          <a:xfrm>
            <a:off x="3052910" y="2035485"/>
            <a:ext cx="6246005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Declaring/Initializing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v1(1, 1, 3),  </a:t>
            </a:r>
            <a:r>
              <a:rPr lang="en-US" sz="2400" dirty="0" err="1"/>
              <a:t>glm</a:t>
            </a:r>
            <a:r>
              <a:rPr lang="en-US" sz="2400" dirty="0"/>
              <a:t>::vec3 v2(2, 3, 4);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v1 = </a:t>
            </a:r>
            <a:r>
              <a:rPr lang="en-US" sz="2400" dirty="0" err="1"/>
              <a:t>glm</a:t>
            </a:r>
            <a:r>
              <a:rPr lang="en-US" sz="2400" dirty="0"/>
              <a:t>::vec3(1,2,3);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 = v1 + v2;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 = v1 – v2;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 = 3.0 * v1;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865491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638459" y="756195"/>
            <a:ext cx="9789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GLM Graphics Math Library – Vector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47EAC-8666-4724-A074-A6F8E2440965}"/>
              </a:ext>
            </a:extLst>
          </p:cNvPr>
          <p:cNvSpPr txBox="1"/>
          <p:nvPr/>
        </p:nvSpPr>
        <p:spPr>
          <a:xfrm>
            <a:off x="2420306" y="2094334"/>
            <a:ext cx="627512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Dot Product/ Cross Product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float t = </a:t>
            </a:r>
            <a:r>
              <a:rPr lang="en-US" sz="2400" dirty="0" err="1"/>
              <a:t>glm</a:t>
            </a:r>
            <a:r>
              <a:rPr lang="en-US" sz="2400" dirty="0"/>
              <a:t>::dot(v1, v2);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v3 = </a:t>
            </a:r>
            <a:r>
              <a:rPr lang="en-US" sz="2400" dirty="0" err="1"/>
              <a:t>glm</a:t>
            </a:r>
            <a:r>
              <a:rPr lang="en-US" sz="2400" dirty="0"/>
              <a:t>::cross(v1, v2)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Magnitude, Normalization and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glm</a:t>
            </a:r>
            <a:r>
              <a:rPr lang="en-US" sz="2400" dirty="0"/>
              <a:t>::vec3 v = </a:t>
            </a:r>
            <a:r>
              <a:rPr lang="en-US" sz="2400" dirty="0" err="1"/>
              <a:t>glm</a:t>
            </a:r>
            <a:r>
              <a:rPr lang="en-US" sz="2400" dirty="0"/>
              <a:t>::normalize(v1);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float </a:t>
            </a:r>
            <a:r>
              <a:rPr lang="en-US" sz="2400" dirty="0" err="1"/>
              <a:t>len</a:t>
            </a:r>
            <a:r>
              <a:rPr lang="en-US" sz="2400" dirty="0"/>
              <a:t> = </a:t>
            </a:r>
            <a:r>
              <a:rPr lang="en-US" sz="2400" dirty="0" err="1"/>
              <a:t>glm</a:t>
            </a:r>
            <a:r>
              <a:rPr lang="en-US" sz="2400" dirty="0"/>
              <a:t>::length(v1);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float d = </a:t>
            </a:r>
            <a:r>
              <a:rPr lang="en-US" sz="2400" dirty="0" err="1"/>
              <a:t>glm</a:t>
            </a:r>
            <a:r>
              <a:rPr lang="en-US" sz="2400" dirty="0"/>
              <a:t>::</a:t>
            </a:r>
            <a:r>
              <a:rPr lang="en-US" sz="2400"/>
              <a:t>distance(p1, p2</a:t>
            </a:r>
            <a:r>
              <a:rPr lang="en-US" sz="2400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491460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907</TotalTime>
  <Words>1049</Words>
  <Application>Microsoft Office PowerPoint</Application>
  <PresentationFormat>Widescreen</PresentationFormat>
  <Paragraphs>197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CS 134 Computer Game Design Lecture 2 – Math Review</vt:lpstr>
      <vt:lpstr>Vector Mathematics Review</vt:lpstr>
      <vt:lpstr>Vector Mathematics Review</vt:lpstr>
      <vt:lpstr>Vector Mathematics Review</vt:lpstr>
      <vt:lpstr>Vector Mathematics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56</cp:revision>
  <dcterms:created xsi:type="dcterms:W3CDTF">2017-08-23T16:49:40Z</dcterms:created>
  <dcterms:modified xsi:type="dcterms:W3CDTF">2019-02-04T15:51:57Z</dcterms:modified>
</cp:coreProperties>
</file>