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3"/>
  </p:notesMasterIdLst>
  <p:sldIdLst>
    <p:sldId id="256" r:id="rId2"/>
    <p:sldId id="295" r:id="rId3"/>
    <p:sldId id="289" r:id="rId4"/>
    <p:sldId id="290" r:id="rId5"/>
    <p:sldId id="291" r:id="rId6"/>
    <p:sldId id="296" r:id="rId7"/>
    <p:sldId id="391" r:id="rId8"/>
    <p:sldId id="392" r:id="rId9"/>
    <p:sldId id="293" r:id="rId10"/>
    <p:sldId id="294" r:id="rId11"/>
    <p:sldId id="257" r:id="rId12"/>
    <p:sldId id="393" r:id="rId13"/>
    <p:sldId id="388" r:id="rId14"/>
    <p:sldId id="261" r:id="rId15"/>
    <p:sldId id="262" r:id="rId16"/>
    <p:sldId id="263" r:id="rId17"/>
    <p:sldId id="264" r:id="rId18"/>
    <p:sldId id="287" r:id="rId19"/>
    <p:sldId id="389" r:id="rId20"/>
    <p:sldId id="288" r:id="rId21"/>
    <p:sldId id="390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210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432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E81D33-D3DC-4EEE-9841-2A93D98735D4}" type="datetimeFigureOut">
              <a:rPr lang="en-US" smtClean="0"/>
              <a:t>1/27/25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829C27-AAA8-470D-92FE-57BE00B20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18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4BFA9-FB4A-41D8-B203-8852A80E969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1E8BBC70-0537-4A21-A6BE-F01D1EDF0F66}" type="slidenum">
              <a:t>2</a:t>
            </a:fld>
            <a:endParaRPr lang="fi-FI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1A63D5-B861-40B1-8F52-8FDFF28D8B9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B91A08-EBDE-4ED7-80C7-BDB2E040299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7587600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4BFA9-FB4A-41D8-B203-8852A80E969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1E8BBC70-0537-4A21-A6BE-F01D1EDF0F66}" type="slidenum">
              <a:t>3</a:t>
            </a:fld>
            <a:endParaRPr lang="fi-FI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1A63D5-B861-40B1-8F52-8FDFF28D8B9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B91A08-EBDE-4ED7-80C7-BDB2E040299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6288678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4BFA9-FB4A-41D8-B203-8852A80E969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1E8BBC70-0537-4A21-A6BE-F01D1EDF0F66}" type="slidenum">
              <a:t>4</a:t>
            </a:fld>
            <a:endParaRPr lang="fi-FI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1A63D5-B861-40B1-8F52-8FDFF28D8B9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B91A08-EBDE-4ED7-80C7-BDB2E040299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2238203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4BFA9-FB4A-41D8-B203-8852A80E969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1E8BBC70-0537-4A21-A6BE-F01D1EDF0F66}" type="slidenum">
              <a:t>5</a:t>
            </a:fld>
            <a:endParaRPr lang="fi-FI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1A63D5-B861-40B1-8F52-8FDFF28D8B9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B91A08-EBDE-4ED7-80C7-BDB2E040299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4487257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4BFA9-FB4A-41D8-B203-8852A80E969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1E8BBC70-0537-4A21-A6BE-F01D1EDF0F66}" type="slidenum">
              <a:t>6</a:t>
            </a:fld>
            <a:endParaRPr lang="fi-FI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1A63D5-B861-40B1-8F52-8FDFF28D8B9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B91A08-EBDE-4ED7-80C7-BDB2E040299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0115232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4BFA9-FB4A-41D8-B203-8852A80E969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1E8BBC70-0537-4A21-A6BE-F01D1EDF0F66}" type="slidenum">
              <a:t>7</a:t>
            </a:fld>
            <a:endParaRPr lang="fi-FI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1A63D5-B861-40B1-8F52-8FDFF28D8B9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B91A08-EBDE-4ED7-80C7-BDB2E040299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3198818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4BFA9-FB4A-41D8-B203-8852A80E969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1E8BBC70-0537-4A21-A6BE-F01D1EDF0F66}" type="slidenum">
              <a:t>8</a:t>
            </a:fld>
            <a:endParaRPr lang="fi-FI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1A63D5-B861-40B1-8F52-8FDFF28D8B9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B91A08-EBDE-4ED7-80C7-BDB2E040299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5816683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4BFA9-FB4A-41D8-B203-8852A80E969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1E8BBC70-0537-4A21-A6BE-F01D1EDF0F66}" type="slidenum">
              <a:t>9</a:t>
            </a:fld>
            <a:endParaRPr lang="fi-FI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1A63D5-B861-40B1-8F52-8FDFF28D8B9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B91A08-EBDE-4ED7-80C7-BDB2E040299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1144562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4BFA9-FB4A-41D8-B203-8852A80E969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1E8BBC70-0537-4A21-A6BE-F01D1EDF0F66}" type="slidenum">
              <a:t>10</a:t>
            </a:fld>
            <a:endParaRPr lang="fi-FI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1A63D5-B861-40B1-8F52-8FDFF28D8B9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B91A08-EBDE-4ED7-80C7-BDB2E040299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8489614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712BF0-E9CA-4C36-B068-95EB8926D17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BD6020D4-E2AD-4782-B261-FF30C81D1A8F}" type="slidenum">
              <a:t>11</a:t>
            </a:fld>
            <a:endParaRPr lang="fi-FI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89576F-7A84-4A6E-924E-5AEC065E229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B6CB82-1FAE-4952-B8B9-C0DD21CEAF2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9997743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4BFA9-FB4A-41D8-B203-8852A80E969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1E8BBC70-0537-4A21-A6BE-F01D1EDF0F66}" type="slidenum">
              <a:t>12</a:t>
            </a:fld>
            <a:endParaRPr lang="fi-FI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1A63D5-B861-40B1-8F52-8FDFF28D8B9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B91A08-EBDE-4ED7-80C7-BDB2E040299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6940825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4BFA9-FB4A-41D8-B203-8852A80E969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1E8BBC70-0537-4A21-A6BE-F01D1EDF0F66}" type="slidenum">
              <a:t>13</a:t>
            </a:fld>
            <a:endParaRPr lang="fi-FI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1A63D5-B861-40B1-8F52-8FDFF28D8B9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B91A08-EBDE-4ED7-80C7-BDB2E040299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363256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B6628D-BC7E-4F15-86D8-21B0FB0D152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016555C5-A60B-4B7B-B5AD-097166966FA3}" type="slidenum">
              <a:t>14</a:t>
            </a:fld>
            <a:endParaRPr lang="fi-FI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B51C70-2A64-4B93-8170-4C7D5CED51D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39BD3-DF94-40E2-9D9E-2AD75EA04C9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1114682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F328EB-34CF-45B5-910E-9E7C422E23A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74C6E178-B610-4550-93AC-F1BAAD0FC880}" type="slidenum">
              <a:t>15</a:t>
            </a:fld>
            <a:endParaRPr lang="fi-FI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13A043-048F-4FC6-873C-189619A5CF9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A62CFE-1BAA-42DF-97D6-CDA15A5DD17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1597003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4BFA9-FB4A-41D8-B203-8852A80E969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1E8BBC70-0537-4A21-A6BE-F01D1EDF0F66}" type="slidenum">
              <a:t>16</a:t>
            </a:fld>
            <a:endParaRPr lang="fi-FI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1A63D5-B861-40B1-8F52-8FDFF28D8B9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B91A08-EBDE-4ED7-80C7-BDB2E040299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67882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BA40DE-1689-4D50-AB1D-7D116031D25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D195188B-281A-4D75-AECE-B14A0CA79188}" type="slidenum">
              <a:t>17</a:t>
            </a:fld>
            <a:endParaRPr lang="fi-FI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67E385-AD52-4709-837C-39252178558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F801C6-9239-4A31-A555-0EA013F53FF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9711253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BA40DE-1689-4D50-AB1D-7D116031D25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D195188B-281A-4D75-AECE-B14A0CA79188}" type="slidenum">
              <a:t>18</a:t>
            </a:fld>
            <a:endParaRPr lang="fi-FI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67E385-AD52-4709-837C-39252178558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F801C6-9239-4A31-A555-0EA013F53FF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958931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4BFA9-FB4A-41D8-B203-8852A80E969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1E8BBC70-0537-4A21-A6BE-F01D1EDF0F66}" type="slidenum">
              <a:t>19</a:t>
            </a:fld>
            <a:endParaRPr lang="fi-FI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1A63D5-B861-40B1-8F52-8FDFF28D8B9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B91A08-EBDE-4ED7-80C7-BDB2E040299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895606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CF4122-586C-4522-B20F-B218855C938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6F524020-5F54-4F00-93DA-8768D22E539B}" type="slidenum">
              <a:t>20</a:t>
            </a:fld>
            <a:endParaRPr lang="fi-FI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9417CF-8288-410B-9CC6-EF43C2F55F5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15C9DF-AE0C-4860-8F4E-59431DBC09D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i-FI" sz="2810"/>
          </a:p>
        </p:txBody>
      </p:sp>
    </p:spTree>
    <p:extLst>
      <p:ext uri="{BB962C8B-B14F-4D97-AF65-F5344CB8AC3E}">
        <p14:creationId xmlns:p14="http://schemas.microsoft.com/office/powerpoint/2010/main" val="29482845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4BFA9-FB4A-41D8-B203-8852A80E969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1E8BBC70-0537-4A21-A6BE-F01D1EDF0F66}" type="slidenum">
              <a:t>21</a:t>
            </a:fld>
            <a:endParaRPr lang="fi-FI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1A63D5-B861-40B1-8F52-8FDFF28D8B9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B91A08-EBDE-4ED7-80C7-BDB2E040299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506997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BFD92-5C28-4DC6-81DB-5A68BA7EBC93}" type="datetime1">
              <a:rPr lang="en-US" smtClean="0"/>
              <a:t>1/27/25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223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C1D00-8098-4A9B-B4A5-9A66C7D1317A}" type="datetime1">
              <a:rPr lang="en-US" smtClean="0"/>
              <a:t>1/27/25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595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944B9-B08F-4DA1-ACDE-CD01C9904901}" type="datetime1">
              <a:rPr lang="en-US" smtClean="0"/>
              <a:t>1/27/25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855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43B77-6302-4483-AF5B-A33F83BA44B0}" type="datetime1">
              <a:rPr lang="en-US" smtClean="0"/>
              <a:t>1/27/25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222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936C3-F8E0-4FE0-91E2-288A042D5907}" type="datetime1">
              <a:rPr lang="en-US" smtClean="0"/>
              <a:t>1/27/25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070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50540-7B40-4BB4-846E-2968CB26C7FB}" type="datetime1">
              <a:rPr lang="en-US" smtClean="0"/>
              <a:t>1/27/25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989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44FA3-D183-4229-9125-D4C2C3F2F29C}" type="datetime1">
              <a:rPr lang="en-US" smtClean="0"/>
              <a:t>1/27/25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825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636C1-38B2-4531-A2ED-289F8D719C97}" type="datetime1">
              <a:rPr lang="en-US" smtClean="0"/>
              <a:t>1/27/25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474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30A5-A361-4861-A529-30991D4B67EB}" type="datetime1">
              <a:rPr lang="en-US" smtClean="0"/>
              <a:t>1/27/25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89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D95A6-FBBB-457F-BC2F-84487D193BC5}" type="datetime1">
              <a:rPr lang="en-US" smtClean="0"/>
              <a:t>1/27/25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091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A1209-11D7-4112-B3B0-B5FF3960E31D}" type="datetime1">
              <a:rPr lang="en-US" smtClean="0"/>
              <a:t>1/27/25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215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8A5CB5-5376-4B05-B033-DAE5282DD0BC}" type="datetime1">
              <a:rPr lang="en-US" smtClean="0"/>
              <a:t>1/27/25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8873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11">
            <a:extLst>
              <a:ext uri="{FF2B5EF4-FFF2-40B4-BE49-F238E27FC236}">
                <a16:creationId xmlns:a16="http://schemas.microsoft.com/office/drawing/2014/main" id="{343ADA3E-BE07-4F26-9361-F12F5F5F316F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 3">
            <a:extLst>
              <a:ext uri="{FF2B5EF4-FFF2-40B4-BE49-F238E27FC236}">
                <a16:creationId xmlns:a16="http://schemas.microsoft.com/office/drawing/2014/main" id="{4EAB7026-E0C0-4521-B56A-B6CC4A6325A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6925" y="-479"/>
            <a:ext cx="9468701" cy="6858478"/>
          </a:xfrm>
          <a:custGeom>
            <a:avLst/>
            <a:gdLst>
              <a:gd name="connsiteX0" fmla="*/ 0 w 8078051"/>
              <a:gd name="connsiteY0" fmla="*/ 0 h 5829300"/>
              <a:gd name="connsiteX1" fmla="*/ 4453793 w 8078051"/>
              <a:gd name="connsiteY1" fmla="*/ 0 h 5829300"/>
              <a:gd name="connsiteX2" fmla="*/ 5363426 w 8078051"/>
              <a:gd name="connsiteY2" fmla="*/ 0 h 5829300"/>
              <a:gd name="connsiteX3" fmla="*/ 5368184 w 8078051"/>
              <a:gd name="connsiteY3" fmla="*/ 0 h 5829300"/>
              <a:gd name="connsiteX4" fmla="*/ 8078051 w 8078051"/>
              <a:gd name="connsiteY4" fmla="*/ 5829300 h 5829300"/>
              <a:gd name="connsiteX5" fmla="*/ 1743926 w 8078051"/>
              <a:gd name="connsiteY5" fmla="*/ 5829300 h 5829300"/>
              <a:gd name="connsiteX6" fmla="*/ 1744148 w 8078051"/>
              <a:gd name="connsiteY6" fmla="*/ 5828822 h 5829300"/>
              <a:gd name="connsiteX7" fmla="*/ 0 w 8078051"/>
              <a:gd name="connsiteY7" fmla="*/ 5828822 h 582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078051" h="5829300">
                <a:moveTo>
                  <a:pt x="0" y="0"/>
                </a:moveTo>
                <a:lnTo>
                  <a:pt x="4453793" y="0"/>
                </a:lnTo>
                <a:lnTo>
                  <a:pt x="5363426" y="0"/>
                </a:lnTo>
                <a:lnTo>
                  <a:pt x="5368184" y="0"/>
                </a:lnTo>
                <a:lnTo>
                  <a:pt x="8078051" y="5829300"/>
                </a:lnTo>
                <a:lnTo>
                  <a:pt x="1743926" y="5829300"/>
                </a:lnTo>
                <a:lnTo>
                  <a:pt x="1744148" y="5828822"/>
                </a:lnTo>
                <a:lnTo>
                  <a:pt x="0" y="5828822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 16">
            <a:extLst>
              <a:ext uri="{FF2B5EF4-FFF2-40B4-BE49-F238E27FC236}">
                <a16:creationId xmlns:a16="http://schemas.microsoft.com/office/drawing/2014/main" id="{10F3B50B-55C6-4818-B05E-24E5EED1905E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79"/>
            <a:ext cx="9324977" cy="6858479"/>
          </a:xfrm>
          <a:custGeom>
            <a:avLst/>
            <a:gdLst>
              <a:gd name="connsiteX0" fmla="*/ 1246925 w 9324977"/>
              <a:gd name="connsiteY0" fmla="*/ 0 h 6858479"/>
              <a:gd name="connsiteX1" fmla="*/ 5076797 w 9324977"/>
              <a:gd name="connsiteY1" fmla="*/ 0 h 6858479"/>
              <a:gd name="connsiteX2" fmla="*/ 6143025 w 9324977"/>
              <a:gd name="connsiteY2" fmla="*/ 0 h 6858479"/>
              <a:gd name="connsiteX3" fmla="*/ 6148602 w 9324977"/>
              <a:gd name="connsiteY3" fmla="*/ 0 h 6858479"/>
              <a:gd name="connsiteX4" fmla="*/ 9324977 w 9324977"/>
              <a:gd name="connsiteY4" fmla="*/ 6858478 h 6858479"/>
              <a:gd name="connsiteX5" fmla="*/ 3359025 w 9324977"/>
              <a:gd name="connsiteY5" fmla="*/ 6858478 h 6858479"/>
              <a:gd name="connsiteX6" fmla="*/ 3359025 w 9324977"/>
              <a:gd name="connsiteY6" fmla="*/ 6858479 h 6858479"/>
              <a:gd name="connsiteX7" fmla="*/ 0 w 9324977"/>
              <a:gd name="connsiteY7" fmla="*/ 6858479 h 6858479"/>
              <a:gd name="connsiteX8" fmla="*/ 0 w 9324977"/>
              <a:gd name="connsiteY8" fmla="*/ 479 h 6858479"/>
              <a:gd name="connsiteX9" fmla="*/ 1246925 w 9324977"/>
              <a:gd name="connsiteY9" fmla="*/ 479 h 6858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24977" h="6858479">
                <a:moveTo>
                  <a:pt x="1246925" y="0"/>
                </a:moveTo>
                <a:lnTo>
                  <a:pt x="5076797" y="0"/>
                </a:lnTo>
                <a:lnTo>
                  <a:pt x="6143025" y="0"/>
                </a:lnTo>
                <a:lnTo>
                  <a:pt x="6148602" y="0"/>
                </a:lnTo>
                <a:lnTo>
                  <a:pt x="9324977" y="6858478"/>
                </a:lnTo>
                <a:lnTo>
                  <a:pt x="3359025" y="6858478"/>
                </a:lnTo>
                <a:lnTo>
                  <a:pt x="3359025" y="6858479"/>
                </a:lnTo>
                <a:lnTo>
                  <a:pt x="0" y="6858479"/>
                </a:lnTo>
                <a:lnTo>
                  <a:pt x="0" y="479"/>
                </a:lnTo>
                <a:lnTo>
                  <a:pt x="1246925" y="479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D09DB5-5978-4E0A-9D84-6428949B93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1" y="2600324"/>
            <a:ext cx="6405753" cy="3277961"/>
          </a:xfrm>
        </p:spPr>
        <p:txBody>
          <a:bodyPr anchor="t">
            <a:normAutofit/>
          </a:bodyPr>
          <a:lstStyle/>
          <a:p>
            <a:pPr algn="l"/>
            <a:r>
              <a:rPr lang="en-US" sz="5400" dirty="0"/>
              <a:t>CS 134 Computer Game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C6AE9A-2BEB-4C56-B297-BC12579D1D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1300450"/>
            <a:ext cx="4167376" cy="1155525"/>
          </a:xfrm>
        </p:spPr>
        <p:txBody>
          <a:bodyPr anchor="b">
            <a:normAutofit/>
          </a:bodyPr>
          <a:lstStyle/>
          <a:p>
            <a:pPr algn="l"/>
            <a:r>
              <a:rPr lang="en-US" sz="2000"/>
              <a:t>Instructor: Kevin M. Smith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832073-FAC5-49BC-895C-B564209CD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4672" y="6356350"/>
            <a:ext cx="4114800" cy="365125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900">
                <a:solidFill>
                  <a:schemeClr val="tx1">
                    <a:lumMod val="85000"/>
                  </a:schemeClr>
                </a:solidFill>
              </a:rPr>
              <a:t>copyright © 2017 Kevin M. Smith, content Adapted from Jared Finder’s Slides from CS134 section 1</a:t>
            </a:r>
          </a:p>
        </p:txBody>
      </p:sp>
    </p:spTree>
    <p:extLst>
      <p:ext uri="{BB962C8B-B14F-4D97-AF65-F5344CB8AC3E}">
        <p14:creationId xmlns:p14="http://schemas.microsoft.com/office/powerpoint/2010/main" val="1731030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99A24B-4EFE-4851-831E-13E4F641082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306323" y="2220547"/>
            <a:ext cx="10108734" cy="2859244"/>
          </a:xfrm>
        </p:spPr>
        <p:txBody>
          <a:bodyPr wrap="square">
            <a:spAutoFit/>
          </a:bodyPr>
          <a:lstStyle/>
          <a:p>
            <a:r>
              <a:rPr lang="en-US" dirty="0"/>
              <a:t>We Learn how to make video games from the “ground-up”</a:t>
            </a:r>
          </a:p>
          <a:p>
            <a:pPr lvl="1"/>
            <a:r>
              <a:rPr lang="en-US" dirty="0"/>
              <a:t>Learn what it takes to write a game virtually from scratch</a:t>
            </a:r>
          </a:p>
          <a:p>
            <a:pPr lvl="1"/>
            <a:r>
              <a:rPr lang="en-US" dirty="0"/>
              <a:t>Focus on both 2D and 3D games  (you’ll develop one of each)</a:t>
            </a:r>
          </a:p>
          <a:p>
            <a:pPr lvl="1"/>
            <a:r>
              <a:rPr lang="en-US" dirty="0"/>
              <a:t>Learn computer graphics/interaction techniques for gaming</a:t>
            </a:r>
          </a:p>
          <a:p>
            <a:pPr lvl="1"/>
            <a:r>
              <a:rPr lang="en-US" dirty="0"/>
              <a:t>Workshop style class</a:t>
            </a:r>
          </a:p>
          <a:p>
            <a:pPr lvl="1"/>
            <a:r>
              <a:rPr lang="en-US" dirty="0"/>
              <a:t>Fun – but it is hard work !</a:t>
            </a:r>
          </a:p>
          <a:p>
            <a:pPr lvl="1"/>
            <a:endParaRPr lang="fi-FI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482E0E-FE68-4983-ADFE-3E6DD5E5E67A}"/>
              </a:ext>
            </a:extLst>
          </p:cNvPr>
          <p:cNvSpPr txBox="1"/>
          <p:nvPr/>
        </p:nvSpPr>
        <p:spPr>
          <a:xfrm>
            <a:off x="312535" y="6170064"/>
            <a:ext cx="1663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 Wikipedia</a:t>
            </a:r>
          </a:p>
        </p:txBody>
      </p:sp>
      <p:pic>
        <p:nvPicPr>
          <p:cNvPr id="5" name="Picture 4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43981F78-7130-424B-BCFC-2B13BA2EB2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F280800D-5B95-41AE-82C0-CB4249627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copyright © 2018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4033026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2306E-4928-42B5-9E49-246C60B9A1E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38200" y="677041"/>
            <a:ext cx="10515600" cy="701731"/>
          </a:xfrm>
        </p:spPr>
        <p:txBody>
          <a:bodyPr>
            <a:spAutoFit/>
          </a:bodyPr>
          <a:lstStyle/>
          <a:p>
            <a:pPr lvl="0"/>
            <a:r>
              <a:rPr lang="fi-FI" dirty="0"/>
              <a:t>K.M. Smith: Short Bio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99A24B-4EFE-4851-831E-13E4F641082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981186" y="1781806"/>
            <a:ext cx="8229627" cy="4777718"/>
          </a:xfrm>
        </p:spPr>
        <p:txBody>
          <a:bodyPr>
            <a:spAutoFit/>
          </a:bodyPr>
          <a:lstStyle/>
          <a:p>
            <a:pPr lvl="0"/>
            <a:r>
              <a:rPr lang="fi-FI" sz="2400" dirty="0"/>
              <a:t>Thirty Years R+D experience in graphics for feature film, VFX, games and product design visualiation.</a:t>
            </a:r>
          </a:p>
          <a:p>
            <a:pPr lvl="0"/>
            <a:r>
              <a:rPr lang="fi-FI" sz="2400" dirty="0">
                <a:solidFill>
                  <a:srgbClr val="00B0F0"/>
                </a:solidFill>
              </a:rPr>
              <a:t>Currently: Principal/Owner – Motion Picture Research, LLC. </a:t>
            </a:r>
            <a:r>
              <a:rPr lang="fi-FI" sz="2400" dirty="0"/>
              <a:t>VFX, VR, Computer Graphics Consulting. Consulting for Unity and others.</a:t>
            </a:r>
          </a:p>
          <a:p>
            <a:pPr lvl="0"/>
            <a:r>
              <a:rPr lang="fi-FI" sz="2400" dirty="0">
                <a:solidFill>
                  <a:srgbClr val="00B0F0"/>
                </a:solidFill>
              </a:rPr>
              <a:t>Director of Engineering – Autodesk (formerly Alias). </a:t>
            </a:r>
            <a:r>
              <a:rPr lang="fi-FI" sz="2400" dirty="0"/>
              <a:t>Resonsible for Media, Entertainment and Visualization Consulting Groups.</a:t>
            </a:r>
          </a:p>
          <a:p>
            <a:pPr lvl="0"/>
            <a:r>
              <a:rPr lang="fi-FI" sz="2400" dirty="0">
                <a:solidFill>
                  <a:srgbClr val="00B0F0"/>
                </a:solidFill>
              </a:rPr>
              <a:t>Director of Engineering – Alias</a:t>
            </a:r>
            <a:r>
              <a:rPr lang="fi-FI" sz="2400" dirty="0"/>
              <a:t>.  Responsible for development of key components of Maya</a:t>
            </a:r>
          </a:p>
          <a:p>
            <a:pPr lvl="0"/>
            <a:r>
              <a:rPr lang="fi-FI" sz="2400" dirty="0">
                <a:solidFill>
                  <a:srgbClr val="00B0F0"/>
                </a:solidFill>
              </a:rPr>
              <a:t>Commodore</a:t>
            </a:r>
            <a:r>
              <a:rPr lang="fi-FI" sz="2400" dirty="0"/>
              <a:t> – Early days during college (worked on tech support hotline for commodore 64 when released)</a:t>
            </a:r>
          </a:p>
          <a:p>
            <a:pPr marL="0" lvl="0" indent="0">
              <a:buNone/>
            </a:pPr>
            <a:endParaRPr lang="fi-FI" dirty="0"/>
          </a:p>
        </p:txBody>
      </p:sp>
      <p:pic>
        <p:nvPicPr>
          <p:cNvPr id="4" name="Picture 3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8688AB17-4A10-4995-ACDC-B7F87369E3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7" name="Footer Placeholder 1">
            <a:extLst>
              <a:ext uri="{FF2B5EF4-FFF2-40B4-BE49-F238E27FC236}">
                <a16:creationId xmlns:a16="http://schemas.microsoft.com/office/drawing/2014/main" id="{0F367442-5070-4AF5-83A6-432BB3CF0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copyright © 2018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1157402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people posing for a photo&#10;&#10;Description generated with very high confidence">
            <a:extLst>
              <a:ext uri="{FF2B5EF4-FFF2-40B4-BE49-F238E27FC236}">
                <a16:creationId xmlns:a16="http://schemas.microsoft.com/office/drawing/2014/main" id="{246C0503-8AF5-4B17-B7B3-44AA468425F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502"/>
          <a:stretch/>
        </p:blipFill>
        <p:spPr>
          <a:xfrm>
            <a:off x="-1" y="1"/>
            <a:ext cx="12192000" cy="61322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C30436-1E14-4948-BFDB-B4753F1F00D9}"/>
              </a:ext>
            </a:extLst>
          </p:cNvPr>
          <p:cNvSpPr txBox="1"/>
          <p:nvPr/>
        </p:nvSpPr>
        <p:spPr>
          <a:xfrm>
            <a:off x="2142076" y="6033466"/>
            <a:ext cx="9725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“In the future, everyone will be world-famous for 15 minutes”….Andy Warhol</a:t>
            </a:r>
          </a:p>
        </p:txBody>
      </p:sp>
      <p:sp>
        <p:nvSpPr>
          <p:cNvPr id="13" name="Footer Placeholder 1">
            <a:extLst>
              <a:ext uri="{FF2B5EF4-FFF2-40B4-BE49-F238E27FC236}">
                <a16:creationId xmlns:a16="http://schemas.microsoft.com/office/drawing/2014/main" id="{F2FA86D3-C1EB-4315-85C8-A5BCCD454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copyright © 2018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1574374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2306E-4928-42B5-9E49-246C60B9A1E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38200" y="677041"/>
            <a:ext cx="10515600" cy="701731"/>
          </a:xfrm>
        </p:spPr>
        <p:txBody>
          <a:bodyPr>
            <a:spAutoFit/>
          </a:bodyPr>
          <a:lstStyle/>
          <a:p>
            <a:pPr lvl="0"/>
            <a:r>
              <a:rPr lang="fi-FI" dirty="0"/>
              <a:t>Grade Weighting: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99A24B-4EFE-4851-831E-13E4F641082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551638" y="2008309"/>
            <a:ext cx="8229627" cy="3853363"/>
          </a:xfrm>
        </p:spPr>
        <p:txBody>
          <a:bodyPr>
            <a:spAutoFit/>
          </a:bodyPr>
          <a:lstStyle/>
          <a:p>
            <a:r>
              <a:rPr lang="fi-FI" dirty="0" err="1"/>
              <a:t>Mid-term</a:t>
            </a:r>
            <a:r>
              <a:rPr lang="fi-FI" dirty="0"/>
              <a:t> Project (30%)</a:t>
            </a:r>
          </a:p>
          <a:p>
            <a:r>
              <a:rPr lang="fi-FI" dirty="0" err="1"/>
              <a:t>Labs</a:t>
            </a:r>
            <a:r>
              <a:rPr lang="fi-FI" dirty="0"/>
              <a:t>/</a:t>
            </a:r>
            <a:r>
              <a:rPr lang="fi-FI" dirty="0" err="1"/>
              <a:t>Homework</a:t>
            </a:r>
            <a:r>
              <a:rPr lang="fi-FI" dirty="0"/>
              <a:t> (30%)</a:t>
            </a:r>
          </a:p>
          <a:p>
            <a:pPr lvl="1"/>
            <a:r>
              <a:rPr lang="fi-FI" dirty="0"/>
              <a:t>Build skills for </a:t>
            </a:r>
            <a:r>
              <a:rPr lang="fi-FI" dirty="0" err="1"/>
              <a:t>projects</a:t>
            </a:r>
            <a:endParaRPr lang="fi-FI" dirty="0"/>
          </a:p>
          <a:p>
            <a:r>
              <a:rPr lang="fi-FI" dirty="0" err="1"/>
              <a:t>Engagement</a:t>
            </a:r>
            <a:r>
              <a:rPr lang="fi-FI" dirty="0"/>
              <a:t> (10%)</a:t>
            </a:r>
          </a:p>
          <a:p>
            <a:pPr lvl="1"/>
            <a:r>
              <a:rPr lang="fi-FI" dirty="0" err="1"/>
              <a:t>Attending</a:t>
            </a:r>
            <a:r>
              <a:rPr lang="fi-FI" dirty="0"/>
              <a:t>/</a:t>
            </a:r>
            <a:r>
              <a:rPr lang="fi-FI" dirty="0" err="1"/>
              <a:t>participating</a:t>
            </a:r>
            <a:r>
              <a:rPr lang="fi-FI" dirty="0"/>
              <a:t> in </a:t>
            </a:r>
            <a:r>
              <a:rPr lang="fi-FI" dirty="0" err="1"/>
              <a:t>class</a:t>
            </a:r>
            <a:r>
              <a:rPr lang="fi-FI" dirty="0"/>
              <a:t> and </a:t>
            </a:r>
            <a:r>
              <a:rPr lang="fi-FI" dirty="0" err="1"/>
              <a:t>presentations</a:t>
            </a:r>
            <a:endParaRPr lang="fi-FI" dirty="0"/>
          </a:p>
          <a:p>
            <a:r>
              <a:rPr lang="fi-FI" dirty="0"/>
              <a:t>Final Project (30%) </a:t>
            </a:r>
          </a:p>
          <a:p>
            <a:pPr lvl="1"/>
            <a:r>
              <a:rPr lang="fi-FI" dirty="0" err="1"/>
              <a:t>Includes</a:t>
            </a:r>
            <a:r>
              <a:rPr lang="fi-FI" dirty="0"/>
              <a:t> </a:t>
            </a:r>
            <a:r>
              <a:rPr lang="fi-FI" dirty="0" err="1"/>
              <a:t>presentation</a:t>
            </a:r>
            <a:r>
              <a:rPr lang="fi-FI" dirty="0"/>
              <a:t> and </a:t>
            </a:r>
            <a:r>
              <a:rPr lang="fi-FI" dirty="0" err="1"/>
              <a:t>code</a:t>
            </a:r>
            <a:r>
              <a:rPr lang="fi-FI" dirty="0"/>
              <a:t> </a:t>
            </a:r>
            <a:r>
              <a:rPr lang="fi-FI" dirty="0" err="1"/>
              <a:t>prototype</a:t>
            </a:r>
            <a:endParaRPr lang="fi-FI" dirty="0"/>
          </a:p>
          <a:p>
            <a:endParaRPr lang="fi-FI" dirty="0"/>
          </a:p>
        </p:txBody>
      </p:sp>
      <p:pic>
        <p:nvPicPr>
          <p:cNvPr id="4" name="Picture 3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49396CD6-D6ED-4FCA-9CE9-F999C5F267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C911663F-160B-46C4-909D-E5C2F7222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copyright © 2018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34606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2306E-4928-42B5-9E49-246C60B9A1E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37532" y="265981"/>
            <a:ext cx="10515600" cy="701731"/>
          </a:xfrm>
        </p:spPr>
        <p:txBody>
          <a:bodyPr>
            <a:spAutoFit/>
          </a:bodyPr>
          <a:lstStyle/>
          <a:p>
            <a:pPr lvl="0"/>
            <a:r>
              <a:rPr lang="fi-FI" dirty="0"/>
              <a:t>Syllabus: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99A24B-4EFE-4851-831E-13E4F641082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41633" y="1094104"/>
            <a:ext cx="10108734" cy="4372479"/>
          </a:xfrm>
        </p:spPr>
        <p:txBody>
          <a:bodyPr wrap="square">
            <a:spAutoFit/>
          </a:bodyPr>
          <a:lstStyle/>
          <a:p>
            <a:r>
              <a:rPr lang="fi-FI" dirty="0"/>
              <a:t> Good programming skills are </a:t>
            </a:r>
            <a:r>
              <a:rPr lang="fi-FI" dirty="0">
                <a:solidFill>
                  <a:srgbClr val="FFFF00"/>
                </a:solidFill>
              </a:rPr>
              <a:t>essential</a:t>
            </a:r>
            <a:r>
              <a:rPr lang="fi-FI" dirty="0"/>
              <a:t> for this class.</a:t>
            </a:r>
          </a:p>
          <a:p>
            <a:pPr lvl="1"/>
            <a:r>
              <a:rPr lang="fi-FI" dirty="0"/>
              <a:t>Good structure and design</a:t>
            </a:r>
          </a:p>
          <a:p>
            <a:pPr lvl="1"/>
            <a:r>
              <a:rPr lang="fi-FI" dirty="0"/>
              <a:t>C++ (not required but you must be willing to learn – it is the preferred core language of computer graphics/games dev).</a:t>
            </a:r>
          </a:p>
          <a:p>
            <a:pPr lvl="1"/>
            <a:r>
              <a:rPr lang="fi-FI" dirty="0"/>
              <a:t>Intermediate level C++ used</a:t>
            </a:r>
          </a:p>
          <a:p>
            <a:r>
              <a:rPr lang="fi-FI" dirty="0"/>
              <a:t>Academic Honesty</a:t>
            </a:r>
          </a:p>
          <a:p>
            <a:pPr lvl="1"/>
            <a:r>
              <a:rPr lang="fi-FI" dirty="0"/>
              <a:t>Must </a:t>
            </a:r>
            <a:r>
              <a:rPr lang="fi-FI" dirty="0">
                <a:solidFill>
                  <a:srgbClr val="FFFF00"/>
                </a:solidFill>
              </a:rPr>
              <a:t>sign</a:t>
            </a:r>
            <a:r>
              <a:rPr lang="fi-FI" dirty="0"/>
              <a:t> the code you write by putting your name in a comment header.</a:t>
            </a:r>
          </a:p>
          <a:p>
            <a:pPr lvl="1"/>
            <a:r>
              <a:rPr lang="fi-FI" dirty="0" err="1"/>
              <a:t>Usual</a:t>
            </a:r>
            <a:r>
              <a:rPr lang="fi-FI" dirty="0"/>
              <a:t> university rules apply.</a:t>
            </a:r>
          </a:p>
          <a:p>
            <a:pPr lvl="1"/>
            <a:r>
              <a:rPr lang="fi-FI" dirty="0"/>
              <a:t>Course materials are copyrighted. Please do not reuse without my permission or take photographs.  (although you can photograph whiteboard.).</a:t>
            </a:r>
          </a:p>
        </p:txBody>
      </p:sp>
      <p:pic>
        <p:nvPicPr>
          <p:cNvPr id="4" name="Picture 3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479226AF-451E-48BF-9740-5CC7C8C349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DDBCB51E-4DB9-40AE-A36D-3C028C51E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copyright © 2018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1656381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2306E-4928-42B5-9E49-246C60B9A1E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37532" y="265981"/>
            <a:ext cx="10515600" cy="701731"/>
          </a:xfrm>
        </p:spPr>
        <p:txBody>
          <a:bodyPr>
            <a:spAutoFit/>
          </a:bodyPr>
          <a:lstStyle/>
          <a:p>
            <a:pPr lvl="0"/>
            <a:r>
              <a:rPr lang="fi-FI" dirty="0"/>
              <a:t>Syllabus: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99A24B-4EFE-4851-831E-13E4F641082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435172" y="1865238"/>
            <a:ext cx="10108734" cy="2731004"/>
          </a:xfrm>
        </p:spPr>
        <p:txBody>
          <a:bodyPr wrap="square">
            <a:spAutoFit/>
          </a:bodyPr>
          <a:lstStyle/>
          <a:p>
            <a:r>
              <a:rPr lang="fi-FI" dirty="0"/>
              <a:t> Class Protocol</a:t>
            </a:r>
          </a:p>
          <a:p>
            <a:pPr lvl="1"/>
            <a:r>
              <a:rPr lang="fi-FI" dirty="0"/>
              <a:t> Please feel free to ask questions.</a:t>
            </a:r>
          </a:p>
          <a:p>
            <a:pPr lvl="1"/>
            <a:r>
              <a:rPr lang="fi-FI" dirty="0"/>
              <a:t> Please feel free to use your laptops for taking notes or for in-class exercises (if given). </a:t>
            </a:r>
          </a:p>
          <a:p>
            <a:pPr lvl="1"/>
            <a:r>
              <a:rPr lang="fi-FI" dirty="0"/>
              <a:t> No mobile phone use in </a:t>
            </a:r>
            <a:r>
              <a:rPr lang="fi-FI" dirty="0" err="1"/>
              <a:t>class</a:t>
            </a:r>
            <a:r>
              <a:rPr lang="fi-FI" dirty="0"/>
              <a:t> for </a:t>
            </a:r>
            <a:r>
              <a:rPr lang="fi-FI" dirty="0" err="1"/>
              <a:t>voice</a:t>
            </a:r>
            <a:r>
              <a:rPr lang="fi-FI" dirty="0"/>
              <a:t> </a:t>
            </a:r>
            <a:r>
              <a:rPr lang="fi-FI" dirty="0" err="1"/>
              <a:t>or</a:t>
            </a:r>
            <a:r>
              <a:rPr lang="fi-FI" dirty="0"/>
              <a:t> </a:t>
            </a:r>
            <a:r>
              <a:rPr lang="fi-FI" dirty="0" err="1"/>
              <a:t>texting</a:t>
            </a:r>
            <a:r>
              <a:rPr lang="fi-FI" dirty="0"/>
              <a:t> (please turn off cell phones)</a:t>
            </a:r>
          </a:p>
          <a:p>
            <a:pPr lvl="1"/>
            <a:r>
              <a:rPr lang="fi-FI" dirty="0"/>
              <a:t>Please attend </a:t>
            </a:r>
            <a:r>
              <a:rPr lang="fi-FI" dirty="0" err="1"/>
              <a:t>all</a:t>
            </a:r>
            <a:r>
              <a:rPr lang="fi-FI" dirty="0"/>
              <a:t> </a:t>
            </a:r>
            <a:r>
              <a:rPr lang="fi-FI" dirty="0" err="1"/>
              <a:t>classes</a:t>
            </a:r>
            <a:endParaRPr lang="fi-FI" dirty="0"/>
          </a:p>
        </p:txBody>
      </p:sp>
      <p:pic>
        <p:nvPicPr>
          <p:cNvPr id="4" name="Picture 3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479226AF-451E-48BF-9740-5CC7C8C349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DDBCB51E-4DB9-40AE-A36D-3C028C51E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copyright © 2018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1166012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479226AF-451E-48BF-9740-5CC7C8C349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DDBCB51E-4DB9-40AE-A36D-3C028C51E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copyright © 2018 Kevin M. Smith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F2146C-9189-424A-B986-A970E8B5582D}"/>
              </a:ext>
            </a:extLst>
          </p:cNvPr>
          <p:cNvSpPr txBox="1"/>
          <p:nvPr/>
        </p:nvSpPr>
        <p:spPr>
          <a:xfrm>
            <a:off x="2604304" y="2717540"/>
            <a:ext cx="65355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“90 percent of success is showing up.</a:t>
            </a:r>
            <a:r>
              <a:rPr lang="en-US" sz="2800" dirty="0"/>
              <a:t>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68AA89-19F2-4671-9864-0C01FF4DB4DB}"/>
              </a:ext>
            </a:extLst>
          </p:cNvPr>
          <p:cNvSpPr txBox="1"/>
          <p:nvPr/>
        </p:nvSpPr>
        <p:spPr>
          <a:xfrm>
            <a:off x="7101176" y="4306112"/>
            <a:ext cx="20387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Woody Allen</a:t>
            </a:r>
          </a:p>
        </p:txBody>
      </p:sp>
    </p:spTree>
    <p:extLst>
      <p:ext uri="{BB962C8B-B14F-4D97-AF65-F5344CB8AC3E}">
        <p14:creationId xmlns:p14="http://schemas.microsoft.com/office/powerpoint/2010/main" val="3798983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2306E-4928-42B5-9E49-246C60B9A1E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38200" y="677041"/>
            <a:ext cx="10515600" cy="701731"/>
          </a:xfrm>
        </p:spPr>
        <p:txBody>
          <a:bodyPr>
            <a:spAutoFit/>
          </a:bodyPr>
          <a:lstStyle/>
          <a:p>
            <a:pPr lvl="0"/>
            <a:r>
              <a:rPr lang="fi-FI" dirty="0"/>
              <a:t>Text Book (Optional):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99A24B-4EFE-4851-831E-13E4F641082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284813" y="1798759"/>
            <a:ext cx="8229627" cy="996170"/>
          </a:xfrm>
        </p:spPr>
        <p:txBody>
          <a:bodyPr>
            <a:spAutoFit/>
          </a:bodyPr>
          <a:lstStyle/>
          <a:p>
            <a:pPr marL="0" indent="0">
              <a:buNone/>
            </a:pPr>
            <a:endParaRPr lang="fi-FI" dirty="0"/>
          </a:p>
          <a:p>
            <a:endParaRPr lang="fi-FI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2ED2B8-D99B-4E96-AFFC-FF55CEF9C5A7}"/>
              </a:ext>
            </a:extLst>
          </p:cNvPr>
          <p:cNvSpPr txBox="1"/>
          <p:nvPr/>
        </p:nvSpPr>
        <p:spPr>
          <a:xfrm>
            <a:off x="5743575" y="2476252"/>
            <a:ext cx="54959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 Jason Gregory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will be using the book as more of a “handbook” than a sequential guide.  Many of the chapters stand alone as topics.</a:t>
            </a:r>
          </a:p>
        </p:txBody>
      </p:sp>
      <p:pic>
        <p:nvPicPr>
          <p:cNvPr id="7" name="Picture 6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AF982873-59CB-4AF5-BF16-C2B700A06B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8" name="Footer Placeholder 1">
            <a:extLst>
              <a:ext uri="{FF2B5EF4-FFF2-40B4-BE49-F238E27FC236}">
                <a16:creationId xmlns:a16="http://schemas.microsoft.com/office/drawing/2014/main" id="{1FBF9B69-8BF9-439A-B939-08438762F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copyright © 2018 Kevin M. Smith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5B6DFD-E80B-4918-BB7B-C01FBC9337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9423" y="1500163"/>
            <a:ext cx="3305328" cy="4906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6481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2306E-4928-42B5-9E49-246C60B9A1E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562225" y="0"/>
            <a:ext cx="10515600" cy="701731"/>
          </a:xfrm>
        </p:spPr>
        <p:txBody>
          <a:bodyPr>
            <a:spAutoFit/>
          </a:bodyPr>
          <a:lstStyle/>
          <a:p>
            <a:pPr lvl="0"/>
            <a:r>
              <a:rPr lang="fi-FI" dirty="0"/>
              <a:t>Class Gallery  (CS 134)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99A24B-4EFE-4851-831E-13E4F641082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284813" y="1798759"/>
            <a:ext cx="8229627" cy="996170"/>
          </a:xfrm>
        </p:spPr>
        <p:txBody>
          <a:bodyPr>
            <a:spAutoFit/>
          </a:bodyPr>
          <a:lstStyle/>
          <a:p>
            <a:pPr marL="0" indent="0">
              <a:buNone/>
            </a:pPr>
            <a:endParaRPr lang="fi-FI"/>
          </a:p>
          <a:p>
            <a:endParaRPr lang="fi-FI" dirty="0"/>
          </a:p>
        </p:txBody>
      </p:sp>
      <p:pic>
        <p:nvPicPr>
          <p:cNvPr id="12" name="Picture 11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F33C8683-31BB-42C5-BDBE-5C6505D6DE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5" name="Footer Placeholder 1">
            <a:extLst>
              <a:ext uri="{FF2B5EF4-FFF2-40B4-BE49-F238E27FC236}">
                <a16:creationId xmlns:a16="http://schemas.microsoft.com/office/drawing/2014/main" id="{3289156B-FB30-4E57-82F2-0BEA11F7F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copyright © 2018 Kevin M. Smith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84D2BB-6242-4EC3-AA5F-28B28DD61D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780280"/>
            <a:ext cx="8509525" cy="5576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808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5026E8D-80D1-4EFE-BA81-21AA3ABE3CD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37532" y="1378772"/>
            <a:ext cx="10515600" cy="4351338"/>
          </a:xfrm>
        </p:spPr>
        <p:txBody>
          <a:bodyPr anchor="ctr"/>
          <a:lstStyle/>
          <a:p>
            <a:pPr lvl="0" algn="ctr">
              <a:buNone/>
            </a:pPr>
            <a:r>
              <a:rPr lang="fi-FI" dirty="0"/>
              <a:t>What do we cover in the class?</a:t>
            </a:r>
          </a:p>
        </p:txBody>
      </p:sp>
      <p:pic>
        <p:nvPicPr>
          <p:cNvPr id="5" name="Picture 4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2147BEA6-9DCA-47A1-AA13-8FFC1EBC91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E7D09592-B40B-4C41-8A9D-400A9D093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copyright © 2018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2598075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99A24B-4EFE-4851-831E-13E4F641082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306323" y="1363297"/>
            <a:ext cx="10108734" cy="3404522"/>
          </a:xfrm>
        </p:spPr>
        <p:txBody>
          <a:bodyPr wrap="square">
            <a:spAutoFit/>
          </a:bodyPr>
          <a:lstStyle/>
          <a:p>
            <a:r>
              <a:rPr lang="en-US" dirty="0"/>
              <a:t>What this class is NOT about</a:t>
            </a:r>
          </a:p>
          <a:p>
            <a:pPr lvl="1"/>
            <a:r>
              <a:rPr lang="en-US" dirty="0"/>
              <a:t>Learning a specific game engine like Unity or UE4</a:t>
            </a:r>
          </a:p>
          <a:p>
            <a:pPr lvl="2"/>
            <a:r>
              <a:rPr lang="en-US" dirty="0"/>
              <a:t>There are other classes, books or online courses where you can learn that</a:t>
            </a:r>
          </a:p>
          <a:p>
            <a:pPr lvl="1"/>
            <a:r>
              <a:rPr lang="en-US" dirty="0"/>
              <a:t>Learning to program in C++ - it is expected that you are already a proficient programmer and can learn C++ on your own. We use a simplified C++ syntax (</a:t>
            </a:r>
            <a:r>
              <a:rPr lang="en-US" dirty="0" err="1"/>
              <a:t>ie</a:t>
            </a:r>
            <a:r>
              <a:rPr lang="en-US" dirty="0"/>
              <a:t> ”C with classes”).</a:t>
            </a:r>
          </a:p>
          <a:p>
            <a:pPr lvl="1"/>
            <a:r>
              <a:rPr lang="en-US" dirty="0"/>
              <a:t>Game Art/Content development  - you’ll have to develop some of your own sprites and models but not the focus of this class.</a:t>
            </a:r>
          </a:p>
          <a:p>
            <a:pPr lvl="1"/>
            <a:endParaRPr lang="fi-FI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482E0E-FE68-4983-ADFE-3E6DD5E5E67A}"/>
              </a:ext>
            </a:extLst>
          </p:cNvPr>
          <p:cNvSpPr txBox="1"/>
          <p:nvPr/>
        </p:nvSpPr>
        <p:spPr>
          <a:xfrm>
            <a:off x="312535" y="6170064"/>
            <a:ext cx="1663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 Wikipedia</a:t>
            </a:r>
          </a:p>
        </p:txBody>
      </p:sp>
      <p:pic>
        <p:nvPicPr>
          <p:cNvPr id="5" name="Picture 4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43981F78-7130-424B-BCFC-2B13BA2EB2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F280800D-5B95-41AE-82C0-CB4249627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copyright © 2018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4093723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2306E-4928-42B5-9E49-246C60B9A1E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37532" y="265981"/>
            <a:ext cx="10515600" cy="701731"/>
          </a:xfrm>
        </p:spPr>
        <p:txBody>
          <a:bodyPr>
            <a:spAutoFit/>
          </a:bodyPr>
          <a:lstStyle/>
          <a:p>
            <a:pPr lvl="0"/>
            <a:r>
              <a:rPr lang="fi-FI" dirty="0"/>
              <a:t>Topics Covered for CS134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99A24B-4EFE-4851-831E-13E4F641082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408924" y="1072859"/>
            <a:ext cx="10108734" cy="7264553"/>
          </a:xfrm>
        </p:spPr>
        <p:txBody>
          <a:bodyPr wrap="square">
            <a:spAutoFit/>
          </a:bodyPr>
          <a:lstStyle/>
          <a:p>
            <a:r>
              <a:rPr lang="fi-FI" dirty="0"/>
              <a:t>Basic Game Mathematics (mostly Vectors)</a:t>
            </a:r>
          </a:p>
          <a:p>
            <a:r>
              <a:rPr lang="fi-FI" dirty="0"/>
              <a:t>2D Game Interactivity/Graphics</a:t>
            </a:r>
          </a:p>
          <a:p>
            <a:pPr lvl="1"/>
            <a:r>
              <a:rPr lang="fi-FI" dirty="0"/>
              <a:t>Rendering</a:t>
            </a:r>
          </a:p>
          <a:p>
            <a:pPr lvl="1"/>
            <a:r>
              <a:rPr lang="fi-FI" dirty="0"/>
              <a:t>Animation</a:t>
            </a:r>
          </a:p>
          <a:p>
            <a:pPr lvl="1"/>
            <a:r>
              <a:rPr lang="fi-FI" dirty="0"/>
              <a:t>Game Design – Vintage Arcade Shooting Game</a:t>
            </a:r>
          </a:p>
          <a:p>
            <a:r>
              <a:rPr lang="fi-FI" dirty="0"/>
              <a:t> Physics</a:t>
            </a:r>
          </a:p>
          <a:p>
            <a:pPr lvl="1"/>
            <a:r>
              <a:rPr lang="fi-FI" dirty="0"/>
              <a:t>Physics Engine Basics</a:t>
            </a:r>
          </a:p>
          <a:p>
            <a:pPr lvl="1"/>
            <a:r>
              <a:rPr lang="fi-FI" dirty="0"/>
              <a:t>Trajectory, Ballistic Motion, Integration</a:t>
            </a:r>
          </a:p>
          <a:p>
            <a:pPr lvl="1"/>
            <a:r>
              <a:rPr lang="fi-FI" dirty="0"/>
              <a:t>Particle Systems, Collision Detection</a:t>
            </a:r>
          </a:p>
          <a:p>
            <a:r>
              <a:rPr lang="fi-FI" dirty="0"/>
              <a:t>3D Computer Grames</a:t>
            </a:r>
          </a:p>
          <a:p>
            <a:pPr lvl="1"/>
            <a:r>
              <a:rPr lang="fi-FI" dirty="0"/>
              <a:t>Basic 3D game graphics  (3D viewing/transformations/animation)</a:t>
            </a:r>
          </a:p>
          <a:p>
            <a:pPr lvl="1"/>
            <a:r>
              <a:rPr lang="fi-FI" dirty="0"/>
              <a:t> Building a basic 3D Simulation/Flying Game (using Physics)</a:t>
            </a:r>
          </a:p>
          <a:p>
            <a:pPr marL="0" indent="0">
              <a:buNone/>
            </a:pPr>
            <a:endParaRPr lang="fi-FI" dirty="0"/>
          </a:p>
          <a:p>
            <a:pPr marL="0" indent="0">
              <a:buNone/>
            </a:pPr>
            <a:endParaRPr lang="fi-FI" dirty="0"/>
          </a:p>
          <a:p>
            <a:endParaRPr lang="fi-FI" dirty="0"/>
          </a:p>
          <a:p>
            <a:endParaRPr lang="fi-FI" dirty="0"/>
          </a:p>
        </p:txBody>
      </p:sp>
      <p:pic>
        <p:nvPicPr>
          <p:cNvPr id="4" name="Picture 3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AAA9C719-4DF2-40D7-BF56-C7D04CC59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5C39042C-3A41-4042-B4BD-DF88DEA22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copyright © 2018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712664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30391-E657-4879-934F-B423E640D56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38200" y="677041"/>
            <a:ext cx="10515600" cy="701731"/>
          </a:xfrm>
        </p:spPr>
        <p:txBody>
          <a:bodyPr>
            <a:spAutoFit/>
          </a:bodyPr>
          <a:lstStyle/>
          <a:p>
            <a:pPr lvl="0"/>
            <a:r>
              <a:rPr lang="fi-FI" dirty="0"/>
              <a:t>Intro to Field: Who makes video games?</a:t>
            </a:r>
          </a:p>
        </p:txBody>
      </p:sp>
      <p:pic>
        <p:nvPicPr>
          <p:cNvPr id="3" name="Picture Placeholder 2">
            <a:extLst>
              <a:ext uri="{FF2B5EF4-FFF2-40B4-BE49-F238E27FC236}">
                <a16:creationId xmlns:a16="http://schemas.microsoft.com/office/drawing/2014/main" id="{8BBE0BAE-0D7F-4473-9EB2-A43B62C7B9A9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057166" y="1604515"/>
            <a:ext cx="6076449" cy="4526148"/>
          </a:xfrm>
        </p:spPr>
      </p:pic>
    </p:spTree>
    <p:extLst>
      <p:ext uri="{BB962C8B-B14F-4D97-AF65-F5344CB8AC3E}">
        <p14:creationId xmlns:p14="http://schemas.microsoft.com/office/powerpoint/2010/main" val="29573009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62F1D-F682-422B-8DA5-79204274507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38200" y="677041"/>
            <a:ext cx="10515600" cy="701731"/>
          </a:xfrm>
        </p:spPr>
        <p:txBody>
          <a:bodyPr>
            <a:spAutoFit/>
          </a:bodyPr>
          <a:lstStyle/>
          <a:p>
            <a:pPr lvl="0"/>
            <a:r>
              <a:rPr lang="fi-FI" dirty="0"/>
              <a:t>Video Game Production Departments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984C88-9EFE-439E-9665-EC9673C90CE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980739" y="1604841"/>
            <a:ext cx="4016022" cy="4092402"/>
          </a:xfrm>
        </p:spPr>
        <p:txBody>
          <a:bodyPr>
            <a:spAutoFit/>
          </a:bodyPr>
          <a:lstStyle/>
          <a:p>
            <a:pPr lvl="0"/>
            <a:r>
              <a:rPr lang="fi-FI" dirty="0"/>
              <a:t>Programming</a:t>
            </a:r>
          </a:p>
          <a:p>
            <a:pPr lvl="0"/>
            <a:r>
              <a:rPr lang="fi-FI" dirty="0"/>
              <a:t>Art</a:t>
            </a:r>
          </a:p>
          <a:p>
            <a:pPr lvl="0"/>
            <a:r>
              <a:rPr lang="fi-FI" dirty="0"/>
              <a:t>Design</a:t>
            </a:r>
          </a:p>
          <a:p>
            <a:pPr lvl="0"/>
            <a:r>
              <a:rPr lang="fi-FI" dirty="0"/>
              <a:t>Production</a:t>
            </a:r>
          </a:p>
          <a:p>
            <a:pPr lvl="0"/>
            <a:endParaRPr lang="fi-FI" dirty="0"/>
          </a:p>
          <a:p>
            <a:pPr lvl="0"/>
            <a:r>
              <a:rPr lang="fi-FI" dirty="0"/>
              <a:t>QA</a:t>
            </a:r>
          </a:p>
          <a:p>
            <a:pPr lvl="0"/>
            <a:r>
              <a:rPr lang="fi-FI" dirty="0"/>
              <a:t>Publishing</a:t>
            </a:r>
          </a:p>
          <a:p>
            <a:pPr lvl="0"/>
            <a:r>
              <a:rPr lang="fi-FI" dirty="0"/>
              <a:t>Community</a:t>
            </a:r>
          </a:p>
        </p:txBody>
      </p:sp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4F989D23-0BA1-45C9-BB27-3C4456D664D8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6197611" y="2371991"/>
            <a:ext cx="4016022" cy="2991196"/>
          </a:xfrm>
        </p:spPr>
      </p:pic>
    </p:spTree>
    <p:extLst>
      <p:ext uri="{BB962C8B-B14F-4D97-AF65-F5344CB8AC3E}">
        <p14:creationId xmlns:p14="http://schemas.microsoft.com/office/powerpoint/2010/main" val="7051586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2306E-4928-42B5-9E49-246C60B9A1E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38200" y="677041"/>
            <a:ext cx="10515600" cy="701731"/>
          </a:xfrm>
        </p:spPr>
        <p:txBody>
          <a:bodyPr>
            <a:spAutoFit/>
          </a:bodyPr>
          <a:lstStyle/>
          <a:p>
            <a:pPr lvl="0"/>
            <a:r>
              <a:rPr lang="fi-FI" dirty="0"/>
              <a:t>Game Team Composition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99A24B-4EFE-4851-831E-13E4F641082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19075" y="1604841"/>
            <a:ext cx="11001375" cy="4803879"/>
          </a:xfrm>
        </p:spPr>
        <p:txBody>
          <a:bodyPr wrap="square">
            <a:spAutoFit/>
          </a:bodyPr>
          <a:lstStyle/>
          <a:p>
            <a:pPr lvl="0"/>
            <a:r>
              <a:rPr lang="fi-FI" dirty="0"/>
              <a:t>Programming, Design, Art, and Production make up the ”Core Team”</a:t>
            </a:r>
          </a:p>
          <a:p>
            <a:pPr lvl="0"/>
            <a:r>
              <a:rPr lang="fi-FI" dirty="0"/>
              <a:t>Common ratios are 3 Prog : 4 Design : 4 Art  (for a smaller title)</a:t>
            </a:r>
          </a:p>
          <a:p>
            <a:pPr lvl="1"/>
            <a:r>
              <a:rPr lang="fi-FI" dirty="0"/>
              <a:t>5 – 10 people  (for a smaller title)</a:t>
            </a:r>
          </a:p>
          <a:p>
            <a:pPr lvl="1"/>
            <a:r>
              <a:rPr lang="fi-FI" dirty="0"/>
              <a:t>30-50 people   (for a larger title)</a:t>
            </a:r>
          </a:p>
          <a:p>
            <a:pPr lvl="1"/>
            <a:endParaRPr lang="fi-FI" dirty="0"/>
          </a:p>
          <a:p>
            <a:pPr lvl="0"/>
            <a:endParaRPr lang="fi-FI" dirty="0"/>
          </a:p>
          <a:p>
            <a:pPr lvl="0"/>
            <a:r>
              <a:rPr lang="fi-FI" dirty="0"/>
              <a:t>Classic Doom's team (1993):</a:t>
            </a:r>
          </a:p>
          <a:p>
            <a:pPr lvl="1"/>
            <a:r>
              <a:rPr lang="fi-FI" dirty="0"/>
              <a:t>Programming:	John Carmack, John Romero, Dave Taylor</a:t>
            </a:r>
          </a:p>
          <a:p>
            <a:pPr lvl="1"/>
            <a:r>
              <a:rPr lang="fi-FI" dirty="0"/>
              <a:t>Design:		John Romero, Sandy Peterson, McGee, Green</a:t>
            </a:r>
          </a:p>
          <a:p>
            <a:pPr lvl="1"/>
            <a:r>
              <a:rPr lang="fi-FI" dirty="0"/>
              <a:t>Art:		Adrian Carmack, Kevin Cloud,</a:t>
            </a:r>
          </a:p>
          <a:p>
            <a:pPr lvl="1"/>
            <a:r>
              <a:rPr lang="fi-FI" dirty="0"/>
              <a:t> 			Don Ivan Punchatz, Gregor Punchatz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3C5E51-C208-4E14-9FF3-E806D2EC86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6249" y="2848014"/>
            <a:ext cx="2416175" cy="3624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1373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F524D-8F3F-48D2-894B-32CFCC78D81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38200" y="677041"/>
            <a:ext cx="10515600" cy="701731"/>
          </a:xfrm>
        </p:spPr>
        <p:txBody>
          <a:bodyPr>
            <a:spAutoFit/>
          </a:bodyPr>
          <a:lstStyle/>
          <a:p>
            <a:pPr lvl="0"/>
            <a:r>
              <a:rPr lang="fi-FI"/>
              <a:t>Who makes video games?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0FE6CD-E2B0-4407-AE3B-B51D9C547AF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38200" y="1825625"/>
            <a:ext cx="10515600" cy="4445319"/>
          </a:xfrm>
        </p:spPr>
        <p:txBody>
          <a:bodyPr>
            <a:spAutoFit/>
          </a:bodyPr>
          <a:lstStyle/>
          <a:p>
            <a:pPr lvl="0"/>
            <a:r>
              <a:rPr lang="fi-FI" dirty="0"/>
              <a:t>Programming</a:t>
            </a:r>
          </a:p>
          <a:p>
            <a:pPr lvl="1"/>
            <a:r>
              <a:rPr lang="fi-FI" dirty="0"/>
              <a:t>Engine programmer		</a:t>
            </a:r>
          </a:p>
          <a:p>
            <a:pPr lvl="1"/>
            <a:r>
              <a:rPr lang="fi-FI" dirty="0"/>
              <a:t>Networking programmer	</a:t>
            </a:r>
          </a:p>
          <a:p>
            <a:pPr lvl="1"/>
            <a:r>
              <a:rPr lang="fi-FI" dirty="0"/>
              <a:t>Graphics programmer	</a:t>
            </a:r>
          </a:p>
          <a:p>
            <a:pPr lvl="1"/>
            <a:r>
              <a:rPr lang="fi-FI" dirty="0"/>
              <a:t>Gameplay programmer	</a:t>
            </a:r>
          </a:p>
          <a:p>
            <a:pPr lvl="1"/>
            <a:r>
              <a:rPr lang="fi-FI" dirty="0"/>
              <a:t>Tools programmer		</a:t>
            </a:r>
          </a:p>
          <a:p>
            <a:pPr lvl="1"/>
            <a:r>
              <a:rPr lang="fi-FI" dirty="0"/>
              <a:t>Server programmer				</a:t>
            </a:r>
          </a:p>
          <a:p>
            <a:pPr lvl="1"/>
            <a:r>
              <a:rPr lang="fi-FI" dirty="0"/>
              <a:t>AI programmer			</a:t>
            </a:r>
          </a:p>
          <a:p>
            <a:pPr lvl="1"/>
            <a:r>
              <a:rPr lang="fi-FI" dirty="0"/>
              <a:t>User Interface Programmer</a:t>
            </a:r>
          </a:p>
          <a:p>
            <a:pPr lvl="1"/>
            <a:r>
              <a:rPr lang="fi-FI" dirty="0"/>
              <a:t>VR/AI Programmer</a:t>
            </a:r>
          </a:p>
          <a:p>
            <a:pPr lvl="1"/>
            <a:r>
              <a:rPr lang="fi-FI" dirty="0"/>
              <a:t>Sound/Audio Programmer    </a:t>
            </a:r>
          </a:p>
        </p:txBody>
      </p: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6A6FBAAD-695C-4644-B74E-7DA919D65F07}"/>
              </a:ext>
            </a:extLst>
          </p:cNvPr>
          <p:cNvSpPr/>
          <p:nvPr/>
        </p:nvSpPr>
        <p:spPr>
          <a:xfrm>
            <a:off x="4253218" y="2273416"/>
            <a:ext cx="352338" cy="302004"/>
          </a:xfrm>
          <a:prstGeom prst="star5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0170B671-B1DE-4FAA-9B62-1C8CB57970A1}"/>
              </a:ext>
            </a:extLst>
          </p:cNvPr>
          <p:cNvSpPr/>
          <p:nvPr/>
        </p:nvSpPr>
        <p:spPr>
          <a:xfrm>
            <a:off x="4429387" y="3075532"/>
            <a:ext cx="352338" cy="302004"/>
          </a:xfrm>
          <a:prstGeom prst="star5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tar: 5 Points 5">
            <a:extLst>
              <a:ext uri="{FF2B5EF4-FFF2-40B4-BE49-F238E27FC236}">
                <a16:creationId xmlns:a16="http://schemas.microsoft.com/office/drawing/2014/main" id="{070A16D3-B6F0-478D-8355-198F18E1FB3C}"/>
              </a:ext>
            </a:extLst>
          </p:cNvPr>
          <p:cNvSpPr/>
          <p:nvPr/>
        </p:nvSpPr>
        <p:spPr>
          <a:xfrm>
            <a:off x="4531453" y="3478368"/>
            <a:ext cx="352338" cy="302004"/>
          </a:xfrm>
          <a:prstGeom prst="star5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tar: 5 Points 7">
            <a:extLst>
              <a:ext uri="{FF2B5EF4-FFF2-40B4-BE49-F238E27FC236}">
                <a16:creationId xmlns:a16="http://schemas.microsoft.com/office/drawing/2014/main" id="{32E06696-A9E7-4CC9-B5D3-148E7624A808}"/>
              </a:ext>
            </a:extLst>
          </p:cNvPr>
          <p:cNvSpPr/>
          <p:nvPr/>
        </p:nvSpPr>
        <p:spPr>
          <a:xfrm>
            <a:off x="5036190" y="5065285"/>
            <a:ext cx="352338" cy="302004"/>
          </a:xfrm>
          <a:prstGeom prst="star5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F8CA28A7-0899-4763-B519-920CB09660BB}"/>
              </a:ext>
            </a:extLst>
          </p:cNvPr>
          <p:cNvSpPr/>
          <p:nvPr/>
        </p:nvSpPr>
        <p:spPr>
          <a:xfrm>
            <a:off x="4962087" y="5878955"/>
            <a:ext cx="352338" cy="302004"/>
          </a:xfrm>
          <a:prstGeom prst="star5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3819DBFB-66F6-4E97-969A-C32325AEFF27}"/>
              </a:ext>
            </a:extLst>
          </p:cNvPr>
          <p:cNvSpPr/>
          <p:nvPr/>
        </p:nvSpPr>
        <p:spPr>
          <a:xfrm>
            <a:off x="7702491" y="4313339"/>
            <a:ext cx="352338" cy="302004"/>
          </a:xfrm>
          <a:prstGeom prst="star5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343F41-D4CB-4E51-9B06-F3E5627E433A}"/>
              </a:ext>
            </a:extLst>
          </p:cNvPr>
          <p:cNvSpPr txBox="1"/>
          <p:nvPr/>
        </p:nvSpPr>
        <p:spPr>
          <a:xfrm>
            <a:off x="8204433" y="4313339"/>
            <a:ext cx="2130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Experience in CS 134</a:t>
            </a:r>
          </a:p>
        </p:txBody>
      </p:sp>
    </p:spTree>
    <p:extLst>
      <p:ext uri="{BB962C8B-B14F-4D97-AF65-F5344CB8AC3E}">
        <p14:creationId xmlns:p14="http://schemas.microsoft.com/office/powerpoint/2010/main" val="2979862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F524D-8F3F-48D2-894B-32CFCC78D81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38200" y="677041"/>
            <a:ext cx="10515600" cy="701731"/>
          </a:xfrm>
        </p:spPr>
        <p:txBody>
          <a:bodyPr>
            <a:spAutoFit/>
          </a:bodyPr>
          <a:lstStyle/>
          <a:p>
            <a:pPr lvl="0"/>
            <a:r>
              <a:rPr lang="fi-FI" dirty="0"/>
              <a:t>Who makes video games?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0FE6CD-E2B0-4407-AE3B-B51D9C547AF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38200" y="1616120"/>
            <a:ext cx="10515600" cy="4564839"/>
          </a:xfrm>
        </p:spPr>
        <p:txBody>
          <a:bodyPr>
            <a:spAutoFit/>
          </a:bodyPr>
          <a:lstStyle/>
          <a:p>
            <a:pPr lvl="0"/>
            <a:r>
              <a:rPr lang="fi-FI" dirty="0"/>
              <a:t>Art</a:t>
            </a:r>
          </a:p>
          <a:p>
            <a:pPr lvl="1"/>
            <a:r>
              <a:rPr lang="fi-FI" dirty="0"/>
              <a:t>Concept artist 				</a:t>
            </a:r>
          </a:p>
          <a:p>
            <a:pPr lvl="1"/>
            <a:r>
              <a:rPr lang="fi-FI" dirty="0"/>
              <a:t>Environment artist			</a:t>
            </a:r>
          </a:p>
          <a:p>
            <a:pPr lvl="1"/>
            <a:r>
              <a:rPr lang="fi-FI" dirty="0"/>
              <a:t>Character artist			</a:t>
            </a:r>
          </a:p>
          <a:p>
            <a:pPr lvl="1"/>
            <a:r>
              <a:rPr lang="fi-FI" dirty="0"/>
              <a:t>User Interface Artist 	</a:t>
            </a:r>
          </a:p>
          <a:p>
            <a:pPr lvl="1"/>
            <a:r>
              <a:rPr lang="fi-FI" dirty="0"/>
              <a:t>Animator					</a:t>
            </a:r>
          </a:p>
          <a:p>
            <a:pPr lvl="1"/>
            <a:r>
              <a:rPr lang="fi-FI" dirty="0"/>
              <a:t>Art Director</a:t>
            </a:r>
          </a:p>
          <a:p>
            <a:pPr lvl="1"/>
            <a:endParaRPr lang="fi-FI" dirty="0"/>
          </a:p>
          <a:p>
            <a:r>
              <a:rPr lang="fi-FI" dirty="0"/>
              <a:t>Other</a:t>
            </a:r>
          </a:p>
          <a:p>
            <a:pPr lvl="1"/>
            <a:r>
              <a:rPr lang="fi-FI" dirty="0"/>
              <a:t>Motion Capture Technical Director</a:t>
            </a:r>
          </a:p>
          <a:p>
            <a:pPr lvl="1"/>
            <a:r>
              <a:rPr lang="fi-FI" dirty="0"/>
              <a:t>Sound Designer</a:t>
            </a:r>
          </a:p>
        </p:txBody>
      </p: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38009618-61F3-4195-8C00-CEFFB1D5636E}"/>
              </a:ext>
            </a:extLst>
          </p:cNvPr>
          <p:cNvSpPr/>
          <p:nvPr/>
        </p:nvSpPr>
        <p:spPr>
          <a:xfrm>
            <a:off x="3397541" y="2097248"/>
            <a:ext cx="352338" cy="302004"/>
          </a:xfrm>
          <a:prstGeom prst="star5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7A2F3AFB-E3B9-4663-B3BC-A2B3A6D860B2}"/>
              </a:ext>
            </a:extLst>
          </p:cNvPr>
          <p:cNvSpPr/>
          <p:nvPr/>
        </p:nvSpPr>
        <p:spPr>
          <a:xfrm>
            <a:off x="4026715" y="2499919"/>
            <a:ext cx="352338" cy="302004"/>
          </a:xfrm>
          <a:prstGeom prst="star5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tar: 5 Points 6">
            <a:extLst>
              <a:ext uri="{FF2B5EF4-FFF2-40B4-BE49-F238E27FC236}">
                <a16:creationId xmlns:a16="http://schemas.microsoft.com/office/drawing/2014/main" id="{D3ACF53F-D7A2-4DB6-A646-E1EA0FD0D8D4}"/>
              </a:ext>
            </a:extLst>
          </p:cNvPr>
          <p:cNvSpPr/>
          <p:nvPr/>
        </p:nvSpPr>
        <p:spPr>
          <a:xfrm>
            <a:off x="4228051" y="3277998"/>
            <a:ext cx="352338" cy="302004"/>
          </a:xfrm>
          <a:prstGeom prst="star5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tar: 5 Points 7">
            <a:extLst>
              <a:ext uri="{FF2B5EF4-FFF2-40B4-BE49-F238E27FC236}">
                <a16:creationId xmlns:a16="http://schemas.microsoft.com/office/drawing/2014/main" id="{D4CEEA0D-569B-48CF-B04C-6AFD85837A2C}"/>
              </a:ext>
            </a:extLst>
          </p:cNvPr>
          <p:cNvSpPr/>
          <p:nvPr/>
        </p:nvSpPr>
        <p:spPr>
          <a:xfrm>
            <a:off x="2895600" y="3682068"/>
            <a:ext cx="352338" cy="302004"/>
          </a:xfrm>
          <a:prstGeom prst="star5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CBC68441-15DF-4076-A543-3B5CD06BC6DD}"/>
              </a:ext>
            </a:extLst>
          </p:cNvPr>
          <p:cNvSpPr/>
          <p:nvPr/>
        </p:nvSpPr>
        <p:spPr>
          <a:xfrm>
            <a:off x="3148668" y="4070418"/>
            <a:ext cx="352338" cy="302004"/>
          </a:xfrm>
          <a:prstGeom prst="star5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5548468C-C718-4C7B-BA09-A2D6C3E4D615}"/>
              </a:ext>
            </a:extLst>
          </p:cNvPr>
          <p:cNvSpPr/>
          <p:nvPr/>
        </p:nvSpPr>
        <p:spPr>
          <a:xfrm>
            <a:off x="3652007" y="5732836"/>
            <a:ext cx="352338" cy="302004"/>
          </a:xfrm>
          <a:prstGeom prst="star5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484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2306E-4928-42B5-9E49-246C60B9A1E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37532" y="265981"/>
            <a:ext cx="10515600" cy="701731"/>
          </a:xfrm>
        </p:spPr>
        <p:txBody>
          <a:bodyPr>
            <a:spAutoFit/>
          </a:bodyPr>
          <a:lstStyle/>
          <a:p>
            <a:pPr lvl="0"/>
            <a:r>
              <a:rPr lang="fi-FI" dirty="0"/>
              <a:t>Tools you will use for CS134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99A24B-4EFE-4851-831E-13E4F641082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986044" y="2078171"/>
            <a:ext cx="10108734" cy="4608441"/>
          </a:xfrm>
        </p:spPr>
        <p:txBody>
          <a:bodyPr wrap="square">
            <a:spAutoFit/>
          </a:bodyPr>
          <a:lstStyle/>
          <a:p>
            <a:r>
              <a:rPr lang="fi-FI" dirty="0"/>
              <a:t>C++  (using Visual Studio or Xcode for IDE/Debugger)</a:t>
            </a:r>
          </a:p>
          <a:p>
            <a:r>
              <a:rPr lang="fi-FI" dirty="0"/>
              <a:t>C++ class library for UI and OpenGL (OpenFrameworks)</a:t>
            </a:r>
          </a:p>
          <a:p>
            <a:r>
              <a:rPr lang="fi-FI" dirty="0"/>
              <a:t>Maya (</a:t>
            </a:r>
            <a:r>
              <a:rPr lang="fi-FI" dirty="0" err="1"/>
              <a:t>only</a:t>
            </a:r>
            <a:r>
              <a:rPr lang="fi-FI"/>
              <a:t> basic</a:t>
            </a:r>
            <a:r>
              <a:rPr lang="fi-FI" dirty="0"/>
              <a:t> </a:t>
            </a:r>
            <a:r>
              <a:rPr lang="fi-FI" dirty="0" err="1"/>
              <a:t>features</a:t>
            </a:r>
            <a:r>
              <a:rPr lang="fi-FI" dirty="0"/>
              <a:t> for </a:t>
            </a:r>
            <a:r>
              <a:rPr lang="fi-FI" dirty="0" err="1"/>
              <a:t>polygon</a:t>
            </a:r>
            <a:r>
              <a:rPr lang="fi-FI" dirty="0"/>
              <a:t>/</a:t>
            </a:r>
            <a:r>
              <a:rPr lang="fi-FI" dirty="0" err="1"/>
              <a:t>subd</a:t>
            </a:r>
            <a:r>
              <a:rPr lang="fi-FI" dirty="0"/>
              <a:t> </a:t>
            </a:r>
            <a:r>
              <a:rPr lang="fi-FI" dirty="0" err="1"/>
              <a:t>modeling</a:t>
            </a:r>
            <a:r>
              <a:rPr lang="fi-FI" dirty="0"/>
              <a:t>)</a:t>
            </a:r>
          </a:p>
          <a:p>
            <a:r>
              <a:rPr lang="fi-FI" dirty="0" err="1"/>
              <a:t>Screen</a:t>
            </a:r>
            <a:r>
              <a:rPr lang="fi-FI" dirty="0"/>
              <a:t> </a:t>
            </a:r>
            <a:r>
              <a:rPr lang="fi-FI" dirty="0" err="1"/>
              <a:t>recording</a:t>
            </a:r>
            <a:r>
              <a:rPr lang="fi-FI" dirty="0"/>
              <a:t> </a:t>
            </a:r>
            <a:r>
              <a:rPr lang="fi-FI" dirty="0" err="1"/>
              <a:t>or</a:t>
            </a:r>
            <a:r>
              <a:rPr lang="fi-FI" dirty="0"/>
              <a:t> </a:t>
            </a:r>
            <a:r>
              <a:rPr lang="fi-FI" dirty="0" err="1"/>
              <a:t>screen</a:t>
            </a:r>
            <a:r>
              <a:rPr lang="fi-FI" dirty="0"/>
              <a:t> </a:t>
            </a:r>
            <a:r>
              <a:rPr lang="fi-FI" dirty="0" err="1"/>
              <a:t>capture</a:t>
            </a:r>
            <a:r>
              <a:rPr lang="fi-FI" dirty="0"/>
              <a:t> software of </a:t>
            </a:r>
            <a:r>
              <a:rPr lang="fi-FI" dirty="0" err="1"/>
              <a:t>your</a:t>
            </a:r>
            <a:r>
              <a:rPr lang="fi-FI" dirty="0"/>
              <a:t> </a:t>
            </a:r>
            <a:r>
              <a:rPr lang="fi-FI" dirty="0" err="1"/>
              <a:t>choice</a:t>
            </a:r>
            <a:endParaRPr lang="fi-FI" dirty="0"/>
          </a:p>
          <a:p>
            <a:r>
              <a:rPr lang="fi-FI" dirty="0"/>
              <a:t>Video </a:t>
            </a:r>
            <a:r>
              <a:rPr lang="fi-FI" dirty="0" err="1"/>
              <a:t>editing</a:t>
            </a:r>
            <a:r>
              <a:rPr lang="fi-FI" dirty="0"/>
              <a:t> software of </a:t>
            </a:r>
            <a:r>
              <a:rPr lang="fi-FI" dirty="0" err="1"/>
              <a:t>your</a:t>
            </a:r>
            <a:r>
              <a:rPr lang="fi-FI" dirty="0"/>
              <a:t> </a:t>
            </a:r>
            <a:r>
              <a:rPr lang="fi-FI" dirty="0" err="1"/>
              <a:t>choice</a:t>
            </a:r>
            <a:r>
              <a:rPr lang="fi-FI" dirty="0"/>
              <a:t> (for </a:t>
            </a:r>
            <a:r>
              <a:rPr lang="fi-FI" dirty="0" err="1"/>
              <a:t>final</a:t>
            </a:r>
            <a:r>
              <a:rPr lang="fi-FI" dirty="0"/>
              <a:t> </a:t>
            </a:r>
            <a:r>
              <a:rPr lang="fi-FI" dirty="0" err="1"/>
              <a:t>project</a:t>
            </a:r>
            <a:r>
              <a:rPr lang="fi-FI" dirty="0"/>
              <a:t> </a:t>
            </a:r>
            <a:r>
              <a:rPr lang="fi-FI" dirty="0" err="1"/>
              <a:t>trailer</a:t>
            </a:r>
            <a:r>
              <a:rPr lang="fi-FI" dirty="0"/>
              <a:t>)</a:t>
            </a:r>
          </a:p>
          <a:p>
            <a:pPr marL="0" indent="0">
              <a:buNone/>
            </a:pPr>
            <a:endParaRPr lang="fi-FI" dirty="0"/>
          </a:p>
          <a:p>
            <a:pPr marL="0" indent="0">
              <a:buNone/>
            </a:pPr>
            <a:endParaRPr lang="fi-FI" dirty="0"/>
          </a:p>
          <a:p>
            <a:endParaRPr lang="fi-FI" dirty="0"/>
          </a:p>
          <a:p>
            <a:endParaRPr lang="fi-FI" dirty="0"/>
          </a:p>
        </p:txBody>
      </p:sp>
      <p:pic>
        <p:nvPicPr>
          <p:cNvPr id="4" name="Picture 3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459F4117-2D8A-44B3-9EAC-6E65CA785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F66A8CB8-8E72-49DB-9627-6E8EEF0A6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copyright © 2018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3533993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C0A7F-53CD-4999-98D4-A2A193650D6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38200" y="427742"/>
            <a:ext cx="10515600" cy="1200329"/>
          </a:xfrm>
        </p:spPr>
        <p:txBody>
          <a:bodyPr>
            <a:spAutoFit/>
          </a:bodyPr>
          <a:lstStyle/>
          <a:p>
            <a:pPr lvl="0"/>
            <a:r>
              <a:rPr lang="fi-FI" sz="3600" dirty="0"/>
              <a:t>Example: OpenFrameworks</a:t>
            </a:r>
            <a:br>
              <a:rPr lang="fi-FI" dirty="0"/>
            </a:br>
            <a:endParaRPr lang="fi-FI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680936-8F1C-4EAD-BA56-3EB69258FE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7437" y="2727269"/>
            <a:ext cx="7705725" cy="3962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33AE10-0A86-4BF9-83DA-FABF404B3D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7437" y="1378772"/>
            <a:ext cx="7677150" cy="136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3948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2306E-4928-42B5-9E49-246C60B9A1E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37532" y="265981"/>
            <a:ext cx="10515600" cy="701731"/>
          </a:xfrm>
        </p:spPr>
        <p:txBody>
          <a:bodyPr>
            <a:spAutoFit/>
          </a:bodyPr>
          <a:lstStyle/>
          <a:p>
            <a:pPr lvl="0"/>
            <a:r>
              <a:rPr lang="fi-FI" dirty="0"/>
              <a:t>For Next Time: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99A24B-4EFE-4851-831E-13E4F641082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448716" y="2087598"/>
            <a:ext cx="10108734" cy="3964162"/>
          </a:xfrm>
        </p:spPr>
        <p:txBody>
          <a:bodyPr wrap="square">
            <a:spAutoFit/>
          </a:bodyPr>
          <a:lstStyle/>
          <a:p>
            <a:r>
              <a:rPr lang="fi-FI" dirty="0"/>
              <a:t>Next Topic: Vector Math Review,  Dev tools overview</a:t>
            </a:r>
          </a:p>
          <a:p>
            <a:r>
              <a:rPr lang="fi-FI" dirty="0"/>
              <a:t>Homework: Install development tools (for PC or Mac). See assignment in Canvas</a:t>
            </a:r>
          </a:p>
          <a:p>
            <a:pPr marL="0" indent="0">
              <a:buNone/>
            </a:pPr>
            <a:endParaRPr lang="fi-FI" dirty="0"/>
          </a:p>
          <a:p>
            <a:pPr marL="0" indent="0">
              <a:buNone/>
            </a:pPr>
            <a:endParaRPr lang="fi-FI" dirty="0"/>
          </a:p>
          <a:p>
            <a:pPr marL="0" indent="0">
              <a:buNone/>
            </a:pPr>
            <a:endParaRPr lang="fi-FI" dirty="0"/>
          </a:p>
          <a:p>
            <a:endParaRPr lang="fi-FI" dirty="0"/>
          </a:p>
          <a:p>
            <a:endParaRPr lang="fi-FI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8C64E6-4427-444B-8686-7D0CA18329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0B9A5477-45D5-4E12-A15F-B429FD580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copyright © 2018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4144616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301</TotalTime>
  <Words>1043</Words>
  <Application>Microsoft Macintosh PowerPoint</Application>
  <PresentationFormat>Widescreen</PresentationFormat>
  <Paragraphs>165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CS 134 Computer Game Design</vt:lpstr>
      <vt:lpstr>PowerPoint Presentation</vt:lpstr>
      <vt:lpstr>K.M. Smith: Short Bio</vt:lpstr>
      <vt:lpstr>PowerPoint Presentation</vt:lpstr>
      <vt:lpstr>Grade Weighting:</vt:lpstr>
      <vt:lpstr>Syllabus:</vt:lpstr>
      <vt:lpstr>Syllabus:</vt:lpstr>
      <vt:lpstr>PowerPoint Presentation</vt:lpstr>
      <vt:lpstr>Text Book (Optional):</vt:lpstr>
      <vt:lpstr>Class Gallery  (CS 134)</vt:lpstr>
      <vt:lpstr>PowerPoint Presentation</vt:lpstr>
      <vt:lpstr>PowerPoint Presentation</vt:lpstr>
      <vt:lpstr>Topics Covered for CS134 </vt:lpstr>
      <vt:lpstr>Intro to Field: Who makes video games?</vt:lpstr>
      <vt:lpstr>Video Game Production Departments</vt:lpstr>
      <vt:lpstr>Game Team Composition</vt:lpstr>
      <vt:lpstr>Who makes video games?</vt:lpstr>
      <vt:lpstr>Who makes video games?</vt:lpstr>
      <vt:lpstr>Tools you will use for CS134 </vt:lpstr>
      <vt:lpstr>Example: OpenFrameworks </vt:lpstr>
      <vt:lpstr>For Next Time: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235 User Interface Design</dc:title>
  <dc:creator>Kevin Smith</dc:creator>
  <cp:lastModifiedBy>Kevin Smith</cp:lastModifiedBy>
  <cp:revision>64</cp:revision>
  <dcterms:created xsi:type="dcterms:W3CDTF">2017-08-23T16:49:40Z</dcterms:created>
  <dcterms:modified xsi:type="dcterms:W3CDTF">2025-01-27T17:51:02Z</dcterms:modified>
</cp:coreProperties>
</file>