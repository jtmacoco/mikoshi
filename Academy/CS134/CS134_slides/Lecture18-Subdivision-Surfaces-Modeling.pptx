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1"/>
  </p:notesMasterIdLst>
  <p:sldIdLst>
    <p:sldId id="395" r:id="rId2"/>
    <p:sldId id="444" r:id="rId3"/>
    <p:sldId id="452" r:id="rId4"/>
    <p:sldId id="453" r:id="rId5"/>
    <p:sldId id="454" r:id="rId6"/>
    <p:sldId id="455" r:id="rId7"/>
    <p:sldId id="456" r:id="rId8"/>
    <p:sldId id="457" r:id="rId9"/>
    <p:sldId id="458" r:id="rId10"/>
    <p:sldId id="459" r:id="rId11"/>
    <p:sldId id="460" r:id="rId12"/>
    <p:sldId id="461" r:id="rId13"/>
    <p:sldId id="462" r:id="rId14"/>
    <p:sldId id="463" r:id="rId15"/>
    <p:sldId id="464" r:id="rId16"/>
    <p:sldId id="465" r:id="rId17"/>
    <p:sldId id="466" r:id="rId18"/>
    <p:sldId id="467" r:id="rId19"/>
    <p:sldId id="4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5137" autoAdjust="0"/>
  </p:normalViewPr>
  <p:slideViewPr>
    <p:cSldViewPr snapToGrid="0">
      <p:cViewPr varScale="1">
        <p:scale>
          <a:sx n="101" d="100"/>
          <a:sy n="101" d="100"/>
        </p:scale>
        <p:origin x="15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5592-3864-4790-A086-B324973E4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9D409-48DB-409F-B6E8-5DAE97D9B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35083-7B6B-4121-8418-42431411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A14B-7D29-4273-9A4B-3D987F69C975}" type="datetime1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A0C68-511B-4AED-A6AA-30F8E6CEC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184AD-014F-4187-B16A-1AFD2210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4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F10D-E9AC-4353-AE61-EB42EAD3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54B39-418A-4A9B-8968-547B3BC7A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F60C-DDBE-49FF-871A-792BCF87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E8A21-2F2F-4144-8E60-54FBFDBB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77996-7BB7-4BE0-86E4-BB8FBA5A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1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8F2A-4F8A-4AD7-A5F7-544CB69A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4BB38-4973-4DAB-802C-ACB12812B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271F6-D647-4008-A473-8F8341F3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4E479-4532-44AE-B7AA-79414EC0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65E9-8D37-4AA5-8712-405D5E92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9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7AEF-22DB-4270-A3F5-A311EB81E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FEF30-D202-419F-AFE1-1C1B33AE4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5C1F6-3FBC-49F5-96C8-AD14AF727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3038C-188C-4567-9337-77F96689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48D1B-3FB3-4D4D-8BBB-8844C920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4F207-36BC-41C5-B9DD-55FF9038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4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A18A-62C5-416A-B4DB-4F3919A1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A44B4-2207-42E7-A3C4-C52C529DA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6603D-A04C-46A2-B6A2-1EF008137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F0E72-C97A-46C1-8762-D63755132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3B740-7690-4A8B-A891-81B7D49C7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761B0-EEA3-4C1A-9437-58306DC7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BF9965-3D87-4AD7-9CDA-9FF95373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CBB0B-1285-463A-9151-49159978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185A-9B83-4760-AC69-9E427EE43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490EA-C241-41E1-8B16-A1B1DD09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A673B-A2C1-4E00-BD5B-EA3245CA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55F51-733B-4F3A-8AEE-A08F764B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6C0E7-EAB9-4147-9EE5-90606457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02D37-BF68-4C69-9A71-13FDE0D6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A1421-3D84-4A74-B632-348BD887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3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22E4-5427-4BF0-ADB1-9FBB79C2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FC2AE-5722-42B5-9D21-33E7865A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B99F8-A76C-431A-991D-0BA997016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4F3E7-0E26-473E-A2CB-F29089257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7C493-731B-40D7-991F-363F5EF0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7D91F-2823-4460-8210-35156739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9B95-3E45-499D-B015-381625FB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693A7-0DA5-4104-96A9-5569E29CD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EC768-23FE-4EFA-80F4-907A32451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5481A-64E2-465A-A19A-41FFCA91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B5FFC-5B76-4CD5-9A29-47405F5C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D0686-F02C-4810-9FCD-50DBA268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1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CB87-7FDC-4CCD-BFBA-59A9874A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3ED26-FFED-44AF-B92D-66F66A4A4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F1D5A-0D28-47E9-AE97-92A3EB75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82E75-3F61-4955-9C40-567AD69F0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AF25-D822-471D-8408-FDDB18AD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5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B7518-657C-4CE2-ABD3-2D5583559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6F55-A48D-4B7C-B677-36D5914FD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F4EEE-7232-4E8B-BA8B-42AF6CBF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2D02F-C08B-4C22-92DE-599C07E5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F2A77-5116-4AA7-93AA-DDE7DEDE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4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A8602-28A9-45EA-BB63-1446837A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AED9A-CD5B-4847-871D-9012AD87C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952D5-BD69-4192-93FA-AA47E094E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59941-21BF-4D40-95E7-9845B4FF8095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98AE2-F831-474E-9317-0D45093F4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3893D-4C76-4DDB-B154-62E1156AC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1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10975997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116B  Advanced Computer Graphics –  </a:t>
            </a:r>
            <a:r>
              <a:rPr lang="en-US" sz="4400" dirty="0"/>
              <a:t>Subdivision Surfaces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293" y="6205492"/>
            <a:ext cx="4360179" cy="51598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copyright © 2018 Kevin M. Smith, some content/figures/images  from or adapted from the class text </a:t>
            </a:r>
            <a:r>
              <a:rPr lang="en-US" sz="1000" i="1" dirty="0">
                <a:solidFill>
                  <a:schemeClr val="tx1">
                    <a:lumMod val="85000"/>
                  </a:schemeClr>
                </a:solidFill>
              </a:rPr>
              <a:t>Physically Based Rendering</a:t>
            </a:r>
            <a:r>
              <a:rPr lang="en-US" sz="1000" dirty="0">
                <a:solidFill>
                  <a:schemeClr val="tx1">
                    <a:lumMod val="85000"/>
                  </a:schemeClr>
                </a:solidFill>
              </a:rPr>
              <a:t> by Pharr, Jakob and Humphreys.  Do not distribute this presentation without permission.</a:t>
            </a:r>
          </a:p>
        </p:txBody>
      </p:sp>
    </p:spTree>
    <p:extLst>
      <p:ext uri="{BB962C8B-B14F-4D97-AF65-F5344CB8AC3E}">
        <p14:creationId xmlns:p14="http://schemas.microsoft.com/office/powerpoint/2010/main" val="40075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80691" y="635228"/>
            <a:ext cx="4416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Subdivision Surfaces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34220" y="1223885"/>
            <a:ext cx="4652508" cy="849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 way of representing smooth surface with a course mesh.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Recursive process where a course “control” mesh is sequentially subdivided to multiple levels create a smooth mesh.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Catmull</a:t>
            </a:r>
            <a:r>
              <a:rPr lang="en-US" sz="2000" dirty="0"/>
              <a:t>-Clark credited in 1978. (paper on Canvas)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Jos Stam developed a way to evaluate the limit surface directly 1998.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Now used extensively as a modeling and rendering technique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Catmull</a:t>
            </a:r>
            <a:r>
              <a:rPr lang="en-US" sz="2000" dirty="0"/>
              <a:t> and Stam won Academy Award for their contribution in 2019.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A20E5-E487-49DD-832B-4E5C021C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598" y="2071025"/>
            <a:ext cx="6534429" cy="30009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BCC1A6-B0F9-4179-899B-8E06741CD3E7}"/>
              </a:ext>
            </a:extLst>
          </p:cNvPr>
          <p:cNvSpPr txBox="1"/>
          <p:nvPr/>
        </p:nvSpPr>
        <p:spPr>
          <a:xfrm>
            <a:off x="5620565" y="5160167"/>
            <a:ext cx="20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Model: Kevin Smith</a:t>
            </a:r>
          </a:p>
        </p:txBody>
      </p:sp>
    </p:spTree>
    <p:extLst>
      <p:ext uri="{BB962C8B-B14F-4D97-AF65-F5344CB8AC3E}">
        <p14:creationId xmlns:p14="http://schemas.microsoft.com/office/powerpoint/2010/main" val="80644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80691" y="635228"/>
            <a:ext cx="10014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Subdivision Surfaces – Progressive Refinement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34220" y="1223885"/>
            <a:ext cx="4652508" cy="849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idea behind </a:t>
            </a:r>
            <a:r>
              <a:rPr lang="en-US" sz="2000" dirty="0" err="1"/>
              <a:t>Subd</a:t>
            </a:r>
            <a:r>
              <a:rPr lang="en-US" sz="2000" dirty="0"/>
              <a:t> surfaces is that you start out with a simple cage and progressively refine it (automatically via the </a:t>
            </a:r>
            <a:r>
              <a:rPr lang="en-US" sz="2000" dirty="0" err="1"/>
              <a:t>subd</a:t>
            </a:r>
            <a:r>
              <a:rPr lang="en-US" sz="2000" dirty="0"/>
              <a:t> algorithm.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At each step in the “refinement process” , the object is further subdivided and points are “moved” based on their relationship to neighbor points.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 of 2D subdivision on the right.  We start out with a connected line segment (3 pieces) and generate a smooth curve over three levels of refinement.</a:t>
            </a:r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CC1A6-B0F9-4179-899B-8E06741CD3E7}"/>
              </a:ext>
            </a:extLst>
          </p:cNvPr>
          <p:cNvSpPr txBox="1"/>
          <p:nvPr/>
        </p:nvSpPr>
        <p:spPr>
          <a:xfrm>
            <a:off x="5389310" y="4953195"/>
            <a:ext cx="3461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Figure: </a:t>
            </a:r>
            <a:r>
              <a:rPr lang="en-US" dirty="0" err="1"/>
              <a:t>Siggraph</a:t>
            </a:r>
            <a:r>
              <a:rPr lang="en-US" dirty="0"/>
              <a:t> 2000 course notes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5CA47-DB84-4625-953B-1D1D49EDB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58" y="1737966"/>
            <a:ext cx="7213442" cy="32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00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80691" y="635228"/>
            <a:ext cx="10014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Subdivision Surfaces – Progressive Refinement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31275" y="1502444"/>
            <a:ext cx="4652508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3D Surfaces faces are “split</a:t>
            </a:r>
            <a:br>
              <a:rPr lang="en-US" sz="2000" dirty="0"/>
            </a:br>
            <a:r>
              <a:rPr lang="en-US" sz="2000" dirty="0"/>
              <a:t>in to sub-faces.  The vertices are repositioned based on averaging the positions of neighbor vertices and faces.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process continues recursively to the desired level.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If the process continued to infinite levels, the surfaces reaches a “limit surface”.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Typically, we don’t need that many levels to achieve a shape that we want.</a:t>
            </a:r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CC1A6-B0F9-4179-899B-8E06741CD3E7}"/>
              </a:ext>
            </a:extLst>
          </p:cNvPr>
          <p:cNvSpPr txBox="1"/>
          <p:nvPr/>
        </p:nvSpPr>
        <p:spPr>
          <a:xfrm>
            <a:off x="5480145" y="4668361"/>
            <a:ext cx="3678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Figure: Maya Example (</a:t>
            </a:r>
            <a:r>
              <a:rPr lang="en-US" dirty="0" err="1"/>
              <a:t>K.Smith</a:t>
            </a:r>
            <a:r>
              <a:rPr lang="en-US" dirty="0"/>
              <a:t>)</a:t>
            </a:r>
          </a:p>
          <a:p>
            <a:r>
              <a:rPr lang="en-US" dirty="0"/>
              <a:t>Subdivision Level 1 to 4  (left to right)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2E002-8AB6-43A0-A873-EC1320CF6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948" y="1826974"/>
            <a:ext cx="6833358" cy="272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10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80691" y="635228"/>
            <a:ext cx="8889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Subdivision Surfaces – Why is this useful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03943" y="2144340"/>
            <a:ext cx="4652508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Subd</a:t>
            </a:r>
            <a:r>
              <a:rPr lang="en-US" sz="2000" dirty="0"/>
              <a:t> surfaces can create very nice looking smooth meshes from simpler geometry that you model.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For example, Pixar uses </a:t>
            </a:r>
            <a:r>
              <a:rPr lang="en-US" sz="2000" dirty="0" err="1"/>
              <a:t>Subd</a:t>
            </a:r>
            <a:r>
              <a:rPr lang="en-US" sz="2000" dirty="0"/>
              <a:t> surfaces for most of their character modeling.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Show Maya Example</a:t>
            </a:r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7A47E-530A-4315-9A29-670CC2D9F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262" y="1572524"/>
            <a:ext cx="6157183" cy="3712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28B53E-F0EE-49B6-BEE1-7350B0A08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261" y="3161038"/>
            <a:ext cx="2859637" cy="2167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89383A-8A45-427A-B73F-973CB9A90DF1}"/>
              </a:ext>
            </a:extLst>
          </p:cNvPr>
          <p:cNvSpPr txBox="1"/>
          <p:nvPr/>
        </p:nvSpPr>
        <p:spPr>
          <a:xfrm>
            <a:off x="5510624" y="5380998"/>
            <a:ext cx="676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“Subdivision Surfaces in Character Animation” by DeRose, </a:t>
            </a:r>
            <a:r>
              <a:rPr lang="en-US" sz="1400" dirty="0" err="1"/>
              <a:t>Kass</a:t>
            </a:r>
            <a:r>
              <a:rPr lang="en-US" sz="1400" dirty="0"/>
              <a:t> and Truong.</a:t>
            </a:r>
          </a:p>
          <a:p>
            <a:r>
              <a:rPr lang="en-US" sz="1400" dirty="0"/>
              <a:t>Film: Geri’s Game</a:t>
            </a:r>
          </a:p>
        </p:txBody>
      </p:sp>
    </p:spTree>
    <p:extLst>
      <p:ext uri="{BB962C8B-B14F-4D97-AF65-F5344CB8AC3E}">
        <p14:creationId xmlns:p14="http://schemas.microsoft.com/office/powerpoint/2010/main" val="100734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80691" y="635228"/>
            <a:ext cx="80489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Subdivision Surfaces – Different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03942" y="2144340"/>
            <a:ext cx="10502245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There are several types of Subdivision Surfaces in use.  Two of the most popular: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Catmull</a:t>
            </a:r>
            <a:r>
              <a:rPr lang="en-US" sz="2000" dirty="0"/>
              <a:t>-Clark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/>
              <a:t>Uses quads (</a:t>
            </a:r>
            <a:r>
              <a:rPr lang="en-US" sz="2000"/>
              <a:t>and triangles)</a:t>
            </a:r>
            <a:endParaRPr lang="en-US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/>
              <a:t>Good technique for surface modeling where quads is the preferred geometry.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Loop 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/>
              <a:t>Uses triangles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/>
              <a:t>Good technique for creating smooth meshes for rendering where triangles is the required geometry.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58174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80691" y="635228"/>
            <a:ext cx="81326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Basic Math Concept Behind Technique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03942" y="2144340"/>
            <a:ext cx="1050224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Point Averaging   (board discussion)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Weighted Point Averaging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Barycentric Coordinates</a:t>
            </a:r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97032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80691" y="635228"/>
            <a:ext cx="8333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Basic Math Concepts Behind Technique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03942" y="2144340"/>
            <a:ext cx="1050224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Point Averaging   (board discussion)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Weighted Point Averaging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Barycentric Coordinates</a:t>
            </a:r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870638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03942" y="2144340"/>
            <a:ext cx="105022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4A276-1D24-EE6E-CD8B-A12A680B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809" y="825096"/>
            <a:ext cx="7419974" cy="52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53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03942" y="2144340"/>
            <a:ext cx="105022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11BFF-A345-9F43-EAD3-9644F68E9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443" y="631785"/>
            <a:ext cx="7729114" cy="53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4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8080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21697" y="954732"/>
            <a:ext cx="10502245" cy="92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Subdivision Surfaces are created with a </a:t>
            </a:r>
            <a:r>
              <a:rPr lang="en-US" b="1" dirty="0"/>
              <a:t>recursive refinement scheme</a:t>
            </a:r>
            <a:br>
              <a:rPr lang="en-US" b="1" dirty="0"/>
            </a:br>
            <a:endParaRPr lang="en-US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Start with a mesh of quads  (called “the cage”)</a:t>
            </a:r>
          </a:p>
          <a:p>
            <a:pPr marL="18288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new </a:t>
            </a:r>
            <a:r>
              <a:rPr lang="en-US" b="1" dirty="0"/>
              <a:t>face points</a:t>
            </a:r>
            <a:r>
              <a:rPr lang="en-US" dirty="0"/>
              <a:t> to each face based on average of each original point on face.</a:t>
            </a:r>
          </a:p>
          <a:p>
            <a:pPr marL="18288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For each edge add an </a:t>
            </a:r>
            <a:r>
              <a:rPr lang="en-US" b="1" dirty="0"/>
              <a:t>edge point </a:t>
            </a:r>
            <a:r>
              <a:rPr lang="en-US" dirty="0"/>
              <a:t>based on averaging </a:t>
            </a:r>
            <a:r>
              <a:rPr lang="en-US" i="1" dirty="0"/>
              <a:t>two neighboring face points </a:t>
            </a:r>
            <a:r>
              <a:rPr lang="en-US" dirty="0"/>
              <a:t>and the </a:t>
            </a:r>
            <a:r>
              <a:rPr lang="en-US" i="1" dirty="0"/>
              <a:t>midpoint of the edge.</a:t>
            </a:r>
          </a:p>
          <a:p>
            <a:pPr marL="18288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For each </a:t>
            </a:r>
            <a:r>
              <a:rPr lang="en-US" b="1" dirty="0"/>
              <a:t>original point </a:t>
            </a:r>
            <a:r>
              <a:rPr lang="en-US" dirty="0"/>
              <a:t>(P), take the average (F) of all face points for faces touching P and take the average R of all n edge midpoints for original edges touching P (not to be confused with edge points created above in 2</a:t>
            </a:r>
            <a:r>
              <a:rPr lang="en-US" baseline="30000" dirty="0"/>
              <a:t>nd</a:t>
            </a:r>
            <a:r>
              <a:rPr lang="en-US" dirty="0"/>
              <a:t> step.</a:t>
            </a:r>
          </a:p>
          <a:p>
            <a:pPr marL="18288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Move each original point to the new vertex point:</a:t>
            </a:r>
            <a:r>
              <a:rPr lang="en-US" b="1" dirty="0"/>
              <a:t> </a:t>
            </a:r>
          </a:p>
          <a:p>
            <a:pPr lvl="3"/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94699E-B165-3816-9C7D-D97955F3F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09" y="5347929"/>
            <a:ext cx="2257425" cy="847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E01C64-1464-567F-D8AB-9CC3DD004B7E}"/>
              </a:ext>
            </a:extLst>
          </p:cNvPr>
          <p:cNvSpPr txBox="1"/>
          <p:nvPr/>
        </p:nvSpPr>
        <p:spPr>
          <a:xfrm>
            <a:off x="6991598" y="5347929"/>
            <a:ext cx="3861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Barycenter of P,R and F with respect to weights (n-3), 2 and 1</a:t>
            </a:r>
          </a:p>
        </p:txBody>
      </p:sp>
    </p:spTree>
    <p:extLst>
      <p:ext uri="{BB962C8B-B14F-4D97-AF65-F5344CB8AC3E}">
        <p14:creationId xmlns:p14="http://schemas.microsoft.com/office/powerpoint/2010/main" val="1392119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8080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21697" y="954732"/>
            <a:ext cx="10502245" cy="966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lvl="3">
              <a:lnSpc>
                <a:spcPct val="150000"/>
              </a:lnSpc>
            </a:pPr>
            <a:r>
              <a:rPr lang="en-US" sz="2000" dirty="0"/>
              <a:t>5.   Final Step – Connect Edges</a:t>
            </a:r>
            <a:br>
              <a:rPr lang="en-US" sz="2000" dirty="0"/>
            </a:br>
            <a:r>
              <a:rPr lang="en-US" sz="2000" dirty="0"/>
              <a:t>	   - Connect each new vertex point to new edge points</a:t>
            </a:r>
            <a:br>
              <a:rPr lang="en-US" sz="2000" dirty="0"/>
            </a:br>
            <a:r>
              <a:rPr lang="en-US" sz="2000" dirty="0"/>
              <a:t>	    - Define new faces by enclosed edges</a:t>
            </a:r>
            <a:r>
              <a:rPr lang="en-US" sz="2000" i="1" dirty="0"/>
              <a:t>.</a:t>
            </a:r>
          </a:p>
          <a:p>
            <a:pPr marL="1828800" lvl="3" indent="-457200">
              <a:lnSpc>
                <a:spcPct val="150000"/>
              </a:lnSpc>
              <a:buAutoNum type="arabicPeriod" startAt="6"/>
            </a:pPr>
            <a:r>
              <a:rPr lang="en-US" sz="2000" dirty="0"/>
              <a:t>Repeat to smooth another level.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800" dirty="0"/>
              <a:t>Let’s do an example…..</a:t>
            </a:r>
          </a:p>
          <a:p>
            <a:pPr lvl="3">
              <a:lnSpc>
                <a:spcPct val="150000"/>
              </a:lnSpc>
            </a:pPr>
            <a:endParaRPr lang="en-US" sz="2400" dirty="0"/>
          </a:p>
          <a:p>
            <a:pPr lvl="3"/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96205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583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59281" y="4843582"/>
            <a:ext cx="1019239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150000"/>
              </a:lnSpc>
            </a:pPr>
            <a:r>
              <a:rPr lang="en-US" sz="2000" dirty="0"/>
              <a:t>Add new </a:t>
            </a:r>
            <a:r>
              <a:rPr lang="en-US" sz="2000" b="1" dirty="0"/>
              <a:t>face points</a:t>
            </a:r>
            <a:r>
              <a:rPr lang="en-US" sz="2000" dirty="0"/>
              <a:t> to each face based on average of each original point on face (average of face vertices).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57CAB-2588-3E9F-185B-E2A705D9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39" y="1369526"/>
            <a:ext cx="5267361" cy="2973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7530ED-4E0D-1E5D-D920-743A431B3360}"/>
              </a:ext>
            </a:extLst>
          </p:cNvPr>
          <p:cNvSpPr txBox="1"/>
          <p:nvPr/>
        </p:nvSpPr>
        <p:spPr>
          <a:xfrm>
            <a:off x="265471" y="6379379"/>
            <a:ext cx="243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Pictures from Wikipedia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71561-5859-A57E-00C8-FDD6C184F690}"/>
              </a:ext>
            </a:extLst>
          </p:cNvPr>
          <p:cNvSpPr txBox="1"/>
          <p:nvPr/>
        </p:nvSpPr>
        <p:spPr>
          <a:xfrm>
            <a:off x="7983794" y="2733368"/>
            <a:ext cx="2848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Face points are </a:t>
            </a:r>
            <a:r>
              <a:rPr lang="en-US" dirty="0">
                <a:solidFill>
                  <a:srgbClr val="0070C0"/>
                </a:solidFill>
              </a:rPr>
              <a:t>blue spheres</a:t>
            </a:r>
          </a:p>
        </p:txBody>
      </p:sp>
    </p:spTree>
    <p:extLst>
      <p:ext uri="{BB962C8B-B14F-4D97-AF65-F5344CB8AC3E}">
        <p14:creationId xmlns:p14="http://schemas.microsoft.com/office/powerpoint/2010/main" val="357350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583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92E53-CE08-00B9-B336-4987147E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931" y="1574309"/>
            <a:ext cx="5467350" cy="3000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D4AC6F-8819-E3E1-CDCF-E458ECC992A5}"/>
              </a:ext>
            </a:extLst>
          </p:cNvPr>
          <p:cNvSpPr txBox="1"/>
          <p:nvPr/>
        </p:nvSpPr>
        <p:spPr>
          <a:xfrm>
            <a:off x="1039601" y="4423485"/>
            <a:ext cx="8886825" cy="138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lnSpc>
                <a:spcPct val="150000"/>
              </a:lnSpc>
            </a:pPr>
            <a:r>
              <a:rPr lang="en-US" sz="2000" dirty="0"/>
              <a:t>For each edge add an </a:t>
            </a:r>
            <a:r>
              <a:rPr lang="en-US" sz="2000" b="1" dirty="0"/>
              <a:t>edge point </a:t>
            </a:r>
            <a:r>
              <a:rPr lang="en-US" sz="2000" dirty="0"/>
              <a:t>based on averaging </a:t>
            </a:r>
            <a:r>
              <a:rPr lang="en-US" sz="2000" i="1" dirty="0"/>
              <a:t>two neighboring   face points </a:t>
            </a:r>
            <a:r>
              <a:rPr lang="en-US" sz="2000" dirty="0"/>
              <a:t>and the </a:t>
            </a:r>
            <a:r>
              <a:rPr lang="en-US" sz="2000" i="1" dirty="0"/>
              <a:t>midpoint of the edge.      ( AE  + ME ) / 2.</a:t>
            </a:r>
          </a:p>
          <a:p>
            <a:pPr lvl="3">
              <a:lnSpc>
                <a:spcPct val="150000"/>
              </a:lnSpc>
            </a:pPr>
            <a:endParaRPr 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D6D34-6086-8DD1-D946-F6CE809B6A49}"/>
              </a:ext>
            </a:extLst>
          </p:cNvPr>
          <p:cNvSpPr txBox="1"/>
          <p:nvPr/>
        </p:nvSpPr>
        <p:spPr>
          <a:xfrm>
            <a:off x="7983794" y="2733368"/>
            <a:ext cx="3134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 Points are </a:t>
            </a:r>
            <a:r>
              <a:rPr lang="en-US" dirty="0">
                <a:solidFill>
                  <a:srgbClr val="0070C0"/>
                </a:solidFill>
              </a:rPr>
              <a:t>Magenta Cubes</a:t>
            </a:r>
          </a:p>
        </p:txBody>
      </p:sp>
    </p:spTree>
    <p:extLst>
      <p:ext uri="{BB962C8B-B14F-4D97-AF65-F5344CB8AC3E}">
        <p14:creationId xmlns:p14="http://schemas.microsoft.com/office/powerpoint/2010/main" val="4181070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583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4AC6F-8819-E3E1-CDCF-E458ECC992A5}"/>
              </a:ext>
            </a:extLst>
          </p:cNvPr>
          <p:cNvSpPr txBox="1"/>
          <p:nvPr/>
        </p:nvSpPr>
        <p:spPr>
          <a:xfrm>
            <a:off x="1192001" y="4223538"/>
            <a:ext cx="888682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lnSpc>
                <a:spcPct val="150000"/>
              </a:lnSpc>
            </a:pPr>
            <a:r>
              <a:rPr lang="en-US" dirty="0"/>
              <a:t>For each </a:t>
            </a:r>
            <a:r>
              <a:rPr lang="en-US" b="1" dirty="0"/>
              <a:t>original point </a:t>
            </a:r>
            <a:r>
              <a:rPr lang="en-US" dirty="0"/>
              <a:t>(P), take the average (F) of all face points for faces touching P and take the average (R) of all n edge midpoints for original edges touching P (not to be confused with edge points created above in 2</a:t>
            </a:r>
            <a:r>
              <a:rPr lang="en-US" baseline="30000" dirty="0"/>
              <a:t>nd</a:t>
            </a:r>
            <a:r>
              <a:rPr lang="en-US" dirty="0"/>
              <a:t> step.</a:t>
            </a:r>
          </a:p>
          <a:p>
            <a:pPr lvl="3">
              <a:lnSpc>
                <a:spcPct val="150000"/>
              </a:lnSpc>
            </a:pPr>
            <a:r>
              <a:rPr lang="en-US" b="1" dirty="0"/>
              <a:t>Move each original point to the new vertex point: </a:t>
            </a:r>
          </a:p>
          <a:p>
            <a:pPr lvl="3">
              <a:lnSpc>
                <a:spcPct val="150000"/>
              </a:lnSpc>
            </a:pPr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19884-569A-F708-1C0F-667F6E2F2B5F}"/>
              </a:ext>
            </a:extLst>
          </p:cNvPr>
          <p:cNvSpPr txBox="1"/>
          <p:nvPr/>
        </p:nvSpPr>
        <p:spPr>
          <a:xfrm>
            <a:off x="265471" y="6379379"/>
            <a:ext cx="243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Pictures from Wikipedia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1E97D-03AB-3426-A627-21573B8EF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975" y="1409896"/>
            <a:ext cx="5043487" cy="2813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6699CB-8130-BD29-FAFC-0494A8E97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650" y="5534679"/>
            <a:ext cx="1925426" cy="723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FC1C89-891D-F974-0422-83AD95EC3F95}"/>
              </a:ext>
            </a:extLst>
          </p:cNvPr>
          <p:cNvSpPr txBox="1"/>
          <p:nvPr/>
        </p:nvSpPr>
        <p:spPr>
          <a:xfrm>
            <a:off x="7983794" y="2733368"/>
            <a:ext cx="3505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Vertex Points are </a:t>
            </a:r>
            <a:r>
              <a:rPr lang="en-US" dirty="0">
                <a:solidFill>
                  <a:srgbClr val="00B050"/>
                </a:solidFill>
              </a:rPr>
              <a:t>Green Cones</a:t>
            </a:r>
          </a:p>
        </p:txBody>
      </p:sp>
    </p:spTree>
    <p:extLst>
      <p:ext uri="{BB962C8B-B14F-4D97-AF65-F5344CB8AC3E}">
        <p14:creationId xmlns:p14="http://schemas.microsoft.com/office/powerpoint/2010/main" val="625828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583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19884-569A-F708-1C0F-667F6E2F2B5F}"/>
              </a:ext>
            </a:extLst>
          </p:cNvPr>
          <p:cNvSpPr txBox="1"/>
          <p:nvPr/>
        </p:nvSpPr>
        <p:spPr>
          <a:xfrm>
            <a:off x="265471" y="6379379"/>
            <a:ext cx="243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Pictures from Wikipedia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1D840-9B35-2C9B-7345-92D57F560884}"/>
              </a:ext>
            </a:extLst>
          </p:cNvPr>
          <p:cNvSpPr txBox="1"/>
          <p:nvPr/>
        </p:nvSpPr>
        <p:spPr>
          <a:xfrm>
            <a:off x="1895907" y="5128599"/>
            <a:ext cx="1019239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150000"/>
              </a:lnSpc>
            </a:pPr>
            <a:r>
              <a:rPr lang="en-US" sz="2000" dirty="0"/>
              <a:t>Connect each new face point to the new edge points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BEF3D3-B662-F647-FD95-AFD8FD740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99" y="1520934"/>
            <a:ext cx="5934075" cy="339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7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583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19884-569A-F708-1C0F-667F6E2F2B5F}"/>
              </a:ext>
            </a:extLst>
          </p:cNvPr>
          <p:cNvSpPr txBox="1"/>
          <p:nvPr/>
        </p:nvSpPr>
        <p:spPr>
          <a:xfrm>
            <a:off x="265471" y="6379379"/>
            <a:ext cx="243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Pictures from Wikipedia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1D840-9B35-2C9B-7345-92D57F560884}"/>
              </a:ext>
            </a:extLst>
          </p:cNvPr>
          <p:cNvSpPr txBox="1"/>
          <p:nvPr/>
        </p:nvSpPr>
        <p:spPr>
          <a:xfrm>
            <a:off x="2149981" y="4933168"/>
            <a:ext cx="1019239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150000"/>
              </a:lnSpc>
            </a:pPr>
            <a:r>
              <a:rPr lang="en-US" sz="2000" dirty="0"/>
              <a:t>Connect each new vertex point to new edge points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A5CCD-1624-4CF4-F986-009140AB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227" y="1209949"/>
            <a:ext cx="6724650" cy="37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81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9583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19884-569A-F708-1C0F-667F6E2F2B5F}"/>
              </a:ext>
            </a:extLst>
          </p:cNvPr>
          <p:cNvSpPr txBox="1"/>
          <p:nvPr/>
        </p:nvSpPr>
        <p:spPr>
          <a:xfrm>
            <a:off x="265471" y="6379379"/>
            <a:ext cx="243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Pictures from Wikipedia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1D840-9B35-2C9B-7345-92D57F560884}"/>
              </a:ext>
            </a:extLst>
          </p:cNvPr>
          <p:cNvSpPr txBox="1"/>
          <p:nvPr/>
        </p:nvSpPr>
        <p:spPr>
          <a:xfrm>
            <a:off x="522646" y="5186314"/>
            <a:ext cx="1085770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150000"/>
              </a:lnSpc>
            </a:pPr>
            <a:r>
              <a:rPr lang="en-US" sz="2000" dirty="0"/>
              <a:t>Define new faces by enclosed edges to complete one iteration in process of subdivision.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ADF60A-A5B4-7B9A-E361-20CC1A1B2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981" y="1378777"/>
            <a:ext cx="7062787" cy="380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02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663945" y="502063"/>
            <a:ext cx="107962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Catmull</a:t>
            </a:r>
            <a:r>
              <a:rPr lang="en-US" sz="4000" dirty="0"/>
              <a:t>-Clark Subdivision Surfaces – “Smoothness”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19884-569A-F708-1C0F-667F6E2F2B5F}"/>
              </a:ext>
            </a:extLst>
          </p:cNvPr>
          <p:cNvSpPr txBox="1"/>
          <p:nvPr/>
        </p:nvSpPr>
        <p:spPr>
          <a:xfrm>
            <a:off x="265471" y="6379379"/>
            <a:ext cx="243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Pictures from Wikipedia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31759-F135-ABBE-7DE7-8EAF7E83C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108984" y="2804376"/>
            <a:ext cx="5216977" cy="225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C8EAF4-657F-85FE-FC62-AE7F10ACACBE}"/>
              </a:ext>
            </a:extLst>
          </p:cNvPr>
          <p:cNvSpPr txBox="1"/>
          <p:nvPr/>
        </p:nvSpPr>
        <p:spPr>
          <a:xfrm>
            <a:off x="578925" y="1321935"/>
            <a:ext cx="642195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Limit surface obtained by the subdivision process has been shows to be continuous everywhere.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At least C(1) continuity at </a:t>
            </a:r>
            <a:r>
              <a:rPr lang="en-US" sz="2000" i="1" dirty="0"/>
              <a:t>extraordinary vertices</a:t>
            </a:r>
            <a:r>
              <a:rPr lang="en-US" sz="2000" dirty="0"/>
              <a:t>. C(2) continuity a </a:t>
            </a:r>
            <a:r>
              <a:rPr lang="en-US" sz="2000" i="1" dirty="0"/>
              <a:t>regular</a:t>
            </a:r>
            <a:r>
              <a:rPr lang="en-US" sz="2000" dirty="0"/>
              <a:t> vertices.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/>
              <a:t>Extraordinary vertices </a:t>
            </a:r>
            <a:r>
              <a:rPr lang="en-US" sz="2000" dirty="0"/>
              <a:t>have a valence &gt; 4.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For C(n), “n” indicates how many derivatives are continuous.  (</a:t>
            </a:r>
            <a:r>
              <a:rPr lang="en-US" sz="2000" i="1" dirty="0"/>
              <a:t>differential class</a:t>
            </a:r>
            <a:r>
              <a:rPr lang="en-US" sz="20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010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8080</TotalTime>
  <Words>1086</Words>
  <Application>Microsoft Office PowerPoint</Application>
  <PresentationFormat>Widescreen</PresentationFormat>
  <Paragraphs>216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CS 116B  Advanced Computer Graphics –  Subdivision Surfaces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422</cp:revision>
  <dcterms:created xsi:type="dcterms:W3CDTF">2017-08-23T16:49:40Z</dcterms:created>
  <dcterms:modified xsi:type="dcterms:W3CDTF">2023-02-06T05:25:45Z</dcterms:modified>
</cp:coreProperties>
</file>